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660" r:id="rId2"/>
    <p:sldId id="256" r:id="rId3"/>
    <p:sldId id="257" r:id="rId4"/>
    <p:sldId id="258" r:id="rId5"/>
    <p:sldId id="259" r:id="rId6"/>
    <p:sldId id="260" r:id="rId7"/>
    <p:sldId id="261" r:id="rId8"/>
    <p:sldId id="262" r:id="rId9"/>
    <p:sldId id="263" r:id="rId10"/>
    <p:sldId id="264" r:id="rId11"/>
    <p:sldId id="2665" r:id="rId12"/>
    <p:sldId id="2664" r:id="rId13"/>
    <p:sldId id="265" r:id="rId14"/>
    <p:sldId id="266" r:id="rId15"/>
    <p:sldId id="267" r:id="rId16"/>
    <p:sldId id="2661" r:id="rId17"/>
    <p:sldId id="268" r:id="rId18"/>
    <p:sldId id="269" r:id="rId19"/>
    <p:sldId id="2659"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CC9C"/>
    <a:srgbClr val="0D1B2E"/>
    <a:srgbClr val="22F6AF"/>
    <a:srgbClr val="BD84FC"/>
    <a:srgbClr val="FFE1C1"/>
    <a:srgbClr val="F0B429"/>
    <a:srgbClr val="22D3EE"/>
    <a:srgbClr val="E24B4A"/>
    <a:srgbClr val="03070D"/>
    <a:srgbClr val="0204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78" autoAdjust="0"/>
    <p:restoredTop sz="94610"/>
  </p:normalViewPr>
  <p:slideViewPr>
    <p:cSldViewPr snapToGrid="0" snapToObjects="1">
      <p:cViewPr varScale="1">
        <p:scale>
          <a:sx n="95" d="100"/>
          <a:sy n="95" d="100"/>
        </p:scale>
        <p:origin x="864" y="2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2620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ABC8D-63A5-4B6B-4AD8-AE30EED07C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8976B9-B6AF-10C2-7954-0ACAFD2514A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CEF8030-0A1C-3D8D-C236-034EEA596721}"/>
              </a:ext>
            </a:extLst>
          </p:cNvPr>
          <p:cNvSpPr>
            <a:spLocks noGrp="1"/>
          </p:cNvSpPr>
          <p:nvPr>
            <p:ph type="body" idx="1"/>
          </p:nvPr>
        </p:nvSpPr>
        <p:spPr/>
        <p:txBody>
          <a:bodyPr/>
          <a:lstStyle/>
          <a:p>
            <a:r>
              <a:rPr lang="en-GB"/>
              <a:t>Understanding the vision and mission behind URSA MAJOR is vital to appreciating its innovative approach. We will also meet Alan Ledwith, the inventor, and consider the current challenges faced at traditional crossings and ramps.</a:t>
            </a:r>
          </a:p>
        </p:txBody>
      </p:sp>
      <p:sp>
        <p:nvSpPr>
          <p:cNvPr id="4" name="Slide Number Placeholder 3">
            <a:extLst>
              <a:ext uri="{FF2B5EF4-FFF2-40B4-BE49-F238E27FC236}">
                <a16:creationId xmlns:a16="http://schemas.microsoft.com/office/drawing/2014/main" id="{90BEC184-A91B-01A1-3FB8-516DED89A806}"/>
              </a:ext>
            </a:extLst>
          </p:cNvPr>
          <p:cNvSpPr>
            <a:spLocks noGrp="1"/>
          </p:cNvSpPr>
          <p:nvPr>
            <p:ph type="sldNum" sz="quarter" idx="5"/>
          </p:nvPr>
        </p:nvSpPr>
        <p:spPr/>
        <p:txBody>
          <a:bodyPr/>
          <a:lstStyle/>
          <a:p>
            <a:fld id="{64FF6AEB-D035-40AC-881F-2DF2B27652C2}" type="slidenum">
              <a:rPr lang="en-GB" smtClean="0"/>
              <a:t>1</a:t>
            </a:fld>
            <a:endParaRPr lang="en-GB"/>
          </a:p>
        </p:txBody>
      </p:sp>
    </p:spTree>
    <p:extLst>
      <p:ext uri="{BB962C8B-B14F-4D97-AF65-F5344CB8AC3E}">
        <p14:creationId xmlns:p14="http://schemas.microsoft.com/office/powerpoint/2010/main" val="2676226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09566-C6E2-4898-F035-56C0127EDC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33F5E1-DF77-89A6-3829-9EADBF25DE9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3B077E8-C79B-AF2D-5CB9-12F080CBF453}"/>
              </a:ext>
            </a:extLst>
          </p:cNvPr>
          <p:cNvSpPr>
            <a:spLocks noGrp="1"/>
          </p:cNvSpPr>
          <p:nvPr>
            <p:ph type="body" idx="1"/>
          </p:nvPr>
        </p:nvSpPr>
        <p:spPr/>
        <p:txBody>
          <a:bodyPr/>
          <a:lstStyle/>
          <a:p>
            <a:r>
              <a:rPr lang="en-GB"/>
              <a:t>Understanding the vision and mission behind URSA MAJOR is vital to appreciating its innovative approach. We will also meet Alan Ledwith, the inventor, and consider the current challenges faced at traditional crossings and ramps.</a:t>
            </a:r>
          </a:p>
        </p:txBody>
      </p:sp>
      <p:sp>
        <p:nvSpPr>
          <p:cNvPr id="4" name="Slide Number Placeholder 3">
            <a:extLst>
              <a:ext uri="{FF2B5EF4-FFF2-40B4-BE49-F238E27FC236}">
                <a16:creationId xmlns:a16="http://schemas.microsoft.com/office/drawing/2014/main" id="{1EBFFCC4-DD17-81F9-1DD1-C21758D8E846}"/>
              </a:ext>
            </a:extLst>
          </p:cNvPr>
          <p:cNvSpPr>
            <a:spLocks noGrp="1"/>
          </p:cNvSpPr>
          <p:nvPr>
            <p:ph type="sldNum" sz="quarter" idx="5"/>
          </p:nvPr>
        </p:nvSpPr>
        <p:spPr/>
        <p:txBody>
          <a:bodyPr/>
          <a:lstStyle/>
          <a:p>
            <a:fld id="{64FF6AEB-D035-40AC-881F-2DF2B27652C2}" type="slidenum">
              <a:rPr lang="en-GB" smtClean="0"/>
              <a:t>19</a:t>
            </a:fld>
            <a:endParaRPr lang="en-GB"/>
          </a:p>
        </p:txBody>
      </p:sp>
    </p:spTree>
    <p:extLst>
      <p:ext uri="{BB962C8B-B14F-4D97-AF65-F5344CB8AC3E}">
        <p14:creationId xmlns:p14="http://schemas.microsoft.com/office/powerpoint/2010/main" val="1635856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96452" y="841772"/>
            <a:ext cx="6751097" cy="1790700"/>
          </a:xfrm>
        </p:spPr>
        <p:txBody>
          <a:bodyPr anchor="b">
            <a:normAutofit/>
          </a:bodyPr>
          <a:lstStyle>
            <a:lvl1pPr algn="ctr">
              <a:defRPr sz="3600"/>
            </a:lvl1pPr>
          </a:lstStyle>
          <a:p>
            <a:r>
              <a:rPr lang="en-GB" dirty="0"/>
              <a:t>Click to edit Master title style</a:t>
            </a:r>
            <a:endParaRPr lang="en-US" dirty="0"/>
          </a:p>
        </p:txBody>
      </p:sp>
      <p:sp>
        <p:nvSpPr>
          <p:cNvPr id="3" name="Subtitle 2"/>
          <p:cNvSpPr>
            <a:spLocks noGrp="1"/>
          </p:cNvSpPr>
          <p:nvPr>
            <p:ph type="subTitle" idx="1"/>
          </p:nvPr>
        </p:nvSpPr>
        <p:spPr>
          <a:xfrm>
            <a:off x="1196452" y="2701528"/>
            <a:ext cx="6751097"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56F3E1CA-275B-469C-9AF3-2711A06BFCEC}" type="datetime1">
              <a:rPr lang="en-US" smtClean="0"/>
              <a:t>4/7/2026</a:t>
            </a:fld>
            <a:endParaRPr lang="en-US"/>
          </a:p>
        </p:txBody>
      </p:sp>
      <p:sp>
        <p:nvSpPr>
          <p:cNvPr id="5" name="Footer Placeholder 4"/>
          <p:cNvSpPr>
            <a:spLocks noGrp="1"/>
          </p:cNvSpPr>
          <p:nvPr>
            <p:ph type="ftr" sz="quarter" idx="11"/>
          </p:nvPr>
        </p:nvSpPr>
        <p:spPr/>
        <p:txBody>
          <a:bodyPr/>
          <a:lstStyle/>
          <a:p>
            <a:r>
              <a:rPr lang="en-GB"/>
              <a:t>This document is confidential and remains the intellectual property of the author, Alan Ledwith &amp; Umpireal. No part may be reproduced, disclosed or used for any purpose other than evaluation without prior written permission.</a:t>
            </a:r>
            <a:endParaRPr lang="en-US"/>
          </a:p>
        </p:txBody>
      </p:sp>
      <p:sp>
        <p:nvSpPr>
          <p:cNvPr id="6" name="Slide Number Placeholder 5"/>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14995558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3070D"/>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84000">
              <a:srgbClr val="8F5229"/>
            </a:gs>
            <a:gs pos="0">
              <a:srgbClr val="B36733">
                <a:lumMod val="16000"/>
              </a:srgbClr>
            </a:gs>
            <a:gs pos="34000">
              <a:srgbClr val="FDCC9C">
                <a:shade val="67500"/>
                <a:satMod val="115000"/>
              </a:srgbClr>
            </a:gs>
            <a:gs pos="55000">
              <a:srgbClr val="FFE1C1">
                <a:lumMod val="96000"/>
              </a:srgbClr>
            </a:gs>
          </a:gsLst>
          <a:lin ang="9600000" scaled="0"/>
        </a:gradFill>
        <a:effectLst/>
      </p:bgPr>
    </p:bg>
    <p:spTree>
      <p:nvGrpSpPr>
        <p:cNvPr id="1" name="">
          <a:extLst>
            <a:ext uri="{FF2B5EF4-FFF2-40B4-BE49-F238E27FC236}">
              <a16:creationId xmlns:a16="http://schemas.microsoft.com/office/drawing/2014/main" id="{EB382D56-7152-FF37-7142-AC231D77C6F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733767E-C262-06FE-A1E1-6F6AEE7A8BA7}"/>
              </a:ext>
            </a:extLst>
          </p:cNvPr>
          <p:cNvPicPr>
            <a:picLocks noChangeAspect="1"/>
          </p:cNvPicPr>
          <p:nvPr/>
        </p:nvPicPr>
        <p:blipFill>
          <a:blip r:embed="rId3"/>
          <a:stretch>
            <a:fillRect/>
          </a:stretch>
        </p:blipFill>
        <p:spPr>
          <a:xfrm>
            <a:off x="-28316" y="0"/>
            <a:ext cx="9172316" cy="5143500"/>
          </a:xfrm>
          <a:prstGeom prst="rect">
            <a:avLst/>
          </a:prstGeom>
        </p:spPr>
      </p:pic>
      <p:sp>
        <p:nvSpPr>
          <p:cNvPr id="6" name="TextBox 5">
            <a:extLst>
              <a:ext uri="{FF2B5EF4-FFF2-40B4-BE49-F238E27FC236}">
                <a16:creationId xmlns:a16="http://schemas.microsoft.com/office/drawing/2014/main" id="{8A3762A1-4663-79A4-C71E-84EF44B9814D}"/>
              </a:ext>
            </a:extLst>
          </p:cNvPr>
          <p:cNvSpPr txBox="1"/>
          <p:nvPr/>
        </p:nvSpPr>
        <p:spPr>
          <a:xfrm>
            <a:off x="1792383" y="1415071"/>
            <a:ext cx="6238035" cy="1615827"/>
          </a:xfrm>
          <a:prstGeom prst="rect">
            <a:avLst/>
          </a:prstGeom>
          <a:solidFill>
            <a:srgbClr val="0D1926">
              <a:alpha val="60000"/>
            </a:srgbClr>
          </a:solidFill>
          <a:effectLst>
            <a:softEdge rad="63500"/>
          </a:effectLst>
        </p:spPr>
        <p:txBody>
          <a:bodyPr wrap="square">
            <a:spAutoFit/>
          </a:bodyPr>
          <a:lstStyle/>
          <a:p>
            <a:pPr algn="ctr"/>
            <a:r>
              <a:rPr lang="en-GB" sz="3300" spc="825" dirty="0">
                <a:solidFill>
                  <a:schemeClr val="bg1"/>
                </a:solidFill>
              </a:rPr>
              <a:t>Traffic Congestion </a:t>
            </a:r>
          </a:p>
          <a:p>
            <a:pPr algn="ctr"/>
            <a:r>
              <a:rPr lang="en-GB" sz="3300" spc="825" dirty="0">
                <a:solidFill>
                  <a:schemeClr val="bg1"/>
                </a:solidFill>
              </a:rPr>
              <a:t>The Energy Blackhole </a:t>
            </a:r>
          </a:p>
          <a:p>
            <a:pPr algn="ctr"/>
            <a:r>
              <a:rPr lang="en-GB" sz="3300" spc="825" dirty="0">
                <a:solidFill>
                  <a:schemeClr val="bg1"/>
                </a:solidFill>
              </a:rPr>
              <a:t>Of The Modern World</a:t>
            </a:r>
          </a:p>
        </p:txBody>
      </p:sp>
      <p:sp>
        <p:nvSpPr>
          <p:cNvPr id="2" name="AutoShape 2" descr="Generated image">
            <a:extLst>
              <a:ext uri="{FF2B5EF4-FFF2-40B4-BE49-F238E27FC236}">
                <a16:creationId xmlns:a16="http://schemas.microsoft.com/office/drawing/2014/main" id="{D5A4B62E-0FC3-4F52-AF32-7AA08769968B}"/>
              </a:ext>
            </a:extLst>
          </p:cNvPr>
          <p:cNvSpPr>
            <a:spLocks noChangeAspect="1" noChangeArrowheads="1"/>
          </p:cNvSpPr>
          <p:nvPr/>
        </p:nvSpPr>
        <p:spPr bwMode="auto">
          <a:xfrm>
            <a:off x="1828803" y="2457450"/>
            <a:ext cx="2857497" cy="285749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GB" sz="1350"/>
          </a:p>
        </p:txBody>
      </p:sp>
      <p:sp>
        <p:nvSpPr>
          <p:cNvPr id="3" name="Footer Placeholder 11">
            <a:extLst>
              <a:ext uri="{FF2B5EF4-FFF2-40B4-BE49-F238E27FC236}">
                <a16:creationId xmlns:a16="http://schemas.microsoft.com/office/drawing/2014/main" id="{C9EF99D8-E6AA-4637-6971-463EAAA76DB0}"/>
              </a:ext>
            </a:extLst>
          </p:cNvPr>
          <p:cNvSpPr>
            <a:spLocks noGrp="1"/>
          </p:cNvSpPr>
          <p:nvPr>
            <p:ph type="ftr" sz="quarter" idx="11"/>
          </p:nvPr>
        </p:nvSpPr>
        <p:spPr>
          <a:xfrm>
            <a:off x="100283" y="4770886"/>
            <a:ext cx="9144000" cy="273844"/>
          </a:xfrm>
        </p:spPr>
        <p:txBody>
          <a:bodyPr/>
          <a:lstStyle/>
          <a:p>
            <a:pPr algn="ctr"/>
            <a:r>
              <a:rPr lang="en-GB" sz="700" dirty="0">
                <a:solidFill>
                  <a:schemeClr val="bg1"/>
                </a:solidFill>
              </a:rPr>
              <a:t>This document is confidential and remains the intellectual property of the author, Alan Ledwith &amp; Umpireal. No part may be reproduced, disclosed or used for any purpose other than evaluation without prior written permission.</a:t>
            </a:r>
            <a:endParaRPr lang="en-US" sz="700" dirty="0">
              <a:solidFill>
                <a:schemeClr val="bg1"/>
              </a:solidFill>
            </a:endParaRPr>
          </a:p>
        </p:txBody>
      </p:sp>
      <p:sp>
        <p:nvSpPr>
          <p:cNvPr id="5" name="TextBox 4">
            <a:extLst>
              <a:ext uri="{FF2B5EF4-FFF2-40B4-BE49-F238E27FC236}">
                <a16:creationId xmlns:a16="http://schemas.microsoft.com/office/drawing/2014/main" id="{FE79B5BD-562D-D14E-9691-22A9E2DE1536}"/>
              </a:ext>
            </a:extLst>
          </p:cNvPr>
          <p:cNvSpPr txBox="1"/>
          <p:nvPr/>
        </p:nvSpPr>
        <p:spPr>
          <a:xfrm>
            <a:off x="100283" y="3855679"/>
            <a:ext cx="8971751" cy="830997"/>
          </a:xfrm>
          <a:prstGeom prst="rect">
            <a:avLst/>
          </a:prstGeom>
          <a:solidFill>
            <a:srgbClr val="02040D">
              <a:alpha val="50196"/>
            </a:srgbClr>
          </a:solidFill>
        </p:spPr>
        <p:txBody>
          <a:bodyPr wrap="square">
            <a:spAutoFit/>
          </a:bodyPr>
          <a:lstStyle/>
          <a:p>
            <a:pPr algn="ctr"/>
            <a:r>
              <a:rPr lang="en-GB" sz="1600" spc="225" dirty="0">
                <a:solidFill>
                  <a:srgbClr val="22F6AF"/>
                </a:solidFill>
              </a:rPr>
              <a:t>Stop Start Traffic Wastes Up To 5,000 TWH Of Energy Per Year Globally In Comparison The Entire World's Nuclear Power Station Fleet Produces Roughly 2,600 TWH Per Year.</a:t>
            </a:r>
          </a:p>
        </p:txBody>
      </p:sp>
      <p:pic>
        <p:nvPicPr>
          <p:cNvPr id="4" name="Image 0" descr="preencoded.png">
            <a:extLst>
              <a:ext uri="{FF2B5EF4-FFF2-40B4-BE49-F238E27FC236}">
                <a16:creationId xmlns:a16="http://schemas.microsoft.com/office/drawing/2014/main" id="{A3D8089D-AD33-F25E-7683-B3FACB3DF652}"/>
              </a:ext>
            </a:extLst>
          </p:cNvPr>
          <p:cNvPicPr>
            <a:picLocks noChangeAspect="1"/>
          </p:cNvPicPr>
          <p:nvPr/>
        </p:nvPicPr>
        <p:blipFill>
          <a:blip r:embed="rId4"/>
          <a:stretch>
            <a:fillRect/>
          </a:stretch>
        </p:blipFill>
        <p:spPr>
          <a:xfrm>
            <a:off x="8138160" y="21577"/>
            <a:ext cx="1005840" cy="877824"/>
          </a:xfrm>
          <a:prstGeom prst="rect">
            <a:avLst/>
          </a:prstGeom>
        </p:spPr>
      </p:pic>
      <p:sp>
        <p:nvSpPr>
          <p:cNvPr id="8" name="Rectangle 7">
            <a:extLst>
              <a:ext uri="{FF2B5EF4-FFF2-40B4-BE49-F238E27FC236}">
                <a16:creationId xmlns:a16="http://schemas.microsoft.com/office/drawing/2014/main" id="{D5E8061E-C6FE-B392-78CF-3A9B10A6DC90}"/>
              </a:ext>
            </a:extLst>
          </p:cNvPr>
          <p:cNvSpPr/>
          <p:nvPr/>
        </p:nvSpPr>
        <p:spPr>
          <a:xfrm>
            <a:off x="2021305" y="1220723"/>
            <a:ext cx="5454316" cy="95577"/>
          </a:xfrm>
          <a:prstGeom prst="rect">
            <a:avLst/>
          </a:prstGeom>
          <a:gradFill flip="none" rotWithShape="1">
            <a:gsLst>
              <a:gs pos="0">
                <a:srgbClr val="B36733">
                  <a:lumMod val="36000"/>
                </a:srgbClr>
              </a:gs>
              <a:gs pos="50000">
                <a:srgbClr val="FDCC9C">
                  <a:shade val="67500"/>
                  <a:satMod val="115000"/>
                </a:srgbClr>
              </a:gs>
              <a:gs pos="95804">
                <a:srgbClr val="543018"/>
              </a:gs>
              <a:gs pos="70000">
                <a:srgbClr val="FFE1C1">
                  <a:lumMod val="96000"/>
                </a:srgbClr>
              </a:gs>
            </a:gsLst>
            <a:lin ang="21594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 1">
            <a:extLst>
              <a:ext uri="{FF2B5EF4-FFF2-40B4-BE49-F238E27FC236}">
                <a16:creationId xmlns:a16="http://schemas.microsoft.com/office/drawing/2014/main" id="{1926B93A-7FC2-EE63-E6B1-711BD7F05E85}"/>
              </a:ext>
            </a:extLst>
          </p:cNvPr>
          <p:cNvSpPr/>
          <p:nvPr/>
        </p:nvSpPr>
        <p:spPr>
          <a:xfrm>
            <a:off x="1844845" y="317741"/>
            <a:ext cx="5909375" cy="967204"/>
          </a:xfrm>
          <a:prstGeom prst="rect">
            <a:avLst/>
          </a:prstGeom>
          <a:noFill/>
          <a:ln/>
        </p:spPr>
        <p:txBody>
          <a:bodyPr wrap="square" rtlCol="0" anchor="ctr"/>
          <a:lstStyle/>
          <a:p>
            <a:pPr marL="0" indent="0" algn="ctr">
              <a:buNone/>
            </a:pPr>
            <a:r>
              <a:rPr lang="en-US" sz="5400" b="1" kern="0" spc="600" dirty="0">
                <a:ln w="3175">
                  <a:solidFill>
                    <a:schemeClr val="accent2">
                      <a:lumMod val="60000"/>
                      <a:lumOff val="40000"/>
                    </a:schemeClr>
                  </a:solidFill>
                </a:ln>
                <a:gradFill>
                  <a:gsLst>
                    <a:gs pos="5000">
                      <a:srgbClr val="FDCC9C">
                        <a:lumMod val="36000"/>
                      </a:srgbClr>
                    </a:gs>
                    <a:gs pos="36373">
                      <a:srgbClr val="8F5229"/>
                    </a:gs>
                    <a:gs pos="26000">
                      <a:srgbClr val="B36733">
                        <a:lumMod val="40000"/>
                      </a:srgbClr>
                    </a:gs>
                    <a:gs pos="49000">
                      <a:srgbClr val="FDCC9C">
                        <a:shade val="67500"/>
                        <a:satMod val="115000"/>
                      </a:srgbClr>
                    </a:gs>
                    <a:gs pos="95804">
                      <a:srgbClr val="FDCC9C"/>
                    </a:gs>
                    <a:gs pos="77000">
                      <a:srgbClr val="543018"/>
                    </a:gs>
                    <a:gs pos="74000">
                      <a:srgbClr val="8F5229"/>
                    </a:gs>
                    <a:gs pos="56000">
                      <a:srgbClr val="FFE1C1">
                        <a:lumMod val="96000"/>
                      </a:srgbClr>
                    </a:gs>
                  </a:gsLst>
                  <a:lin ang="16800000" scaled="0"/>
                </a:gradFill>
                <a:latin typeface="911 Porscha Bold" pitchFamily="2" charset="0"/>
                <a:ea typeface="Arial" pitchFamily="34" charset="-122"/>
                <a:cs typeface="Arial" pitchFamily="34" charset="-120"/>
              </a:rPr>
              <a:t>umpireal</a:t>
            </a:r>
            <a:endParaRPr lang="en-US" sz="5400" dirty="0">
              <a:ln w="3175">
                <a:solidFill>
                  <a:schemeClr val="accent2">
                    <a:lumMod val="60000"/>
                    <a:lumOff val="40000"/>
                  </a:schemeClr>
                </a:solidFill>
              </a:ln>
              <a:gradFill>
                <a:gsLst>
                  <a:gs pos="5000">
                    <a:srgbClr val="FDCC9C">
                      <a:lumMod val="36000"/>
                    </a:srgbClr>
                  </a:gs>
                  <a:gs pos="36373">
                    <a:srgbClr val="8F5229"/>
                  </a:gs>
                  <a:gs pos="26000">
                    <a:srgbClr val="B36733">
                      <a:lumMod val="40000"/>
                    </a:srgbClr>
                  </a:gs>
                  <a:gs pos="49000">
                    <a:srgbClr val="FDCC9C">
                      <a:shade val="67500"/>
                      <a:satMod val="115000"/>
                    </a:srgbClr>
                  </a:gs>
                  <a:gs pos="95804">
                    <a:srgbClr val="FDCC9C"/>
                  </a:gs>
                  <a:gs pos="77000">
                    <a:srgbClr val="543018"/>
                  </a:gs>
                  <a:gs pos="74000">
                    <a:srgbClr val="8F5229"/>
                  </a:gs>
                  <a:gs pos="56000">
                    <a:srgbClr val="FFE1C1">
                      <a:lumMod val="96000"/>
                    </a:srgbClr>
                  </a:gs>
                </a:gsLst>
                <a:lin ang="16800000" scaled="0"/>
              </a:gradFill>
              <a:latin typeface="911 Porscha Bold" pitchFamily="2" charset="0"/>
            </a:endParaRPr>
          </a:p>
        </p:txBody>
      </p:sp>
    </p:spTree>
    <p:extLst>
      <p:ext uri="{BB962C8B-B14F-4D97-AF65-F5344CB8AC3E}">
        <p14:creationId xmlns:p14="http://schemas.microsoft.com/office/powerpoint/2010/main" val="25929207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5" name="Shape 2"/>
          <p:cNvSpPr/>
          <p:nvPr/>
        </p:nvSpPr>
        <p:spPr>
          <a:xfrm>
            <a:off x="1691640" y="1520911"/>
            <a:ext cx="6949440" cy="27432"/>
          </a:xfrm>
          <a:prstGeom prst="rect">
            <a:avLst/>
          </a:prstGeom>
          <a:solidFill>
            <a:srgbClr val="FDCC9C"/>
          </a:solidFill>
          <a:ln w="12700">
            <a:noFill/>
            <a:prstDash val="solid"/>
          </a:ln>
        </p:spPr>
        <p:txBody>
          <a:bodyPr/>
          <a:lstStyle/>
          <a:p>
            <a:endParaRPr lang="en-GB"/>
          </a:p>
        </p:txBody>
      </p:sp>
      <p:sp>
        <p:nvSpPr>
          <p:cNvPr id="6" name="Text 3"/>
          <p:cNvSpPr/>
          <p:nvPr/>
        </p:nvSpPr>
        <p:spPr>
          <a:xfrm>
            <a:off x="1602340" y="1668164"/>
            <a:ext cx="7221620" cy="387817"/>
          </a:xfrm>
          <a:prstGeom prst="rect">
            <a:avLst/>
          </a:prstGeom>
          <a:noFill/>
          <a:ln/>
        </p:spPr>
        <p:txBody>
          <a:bodyPr wrap="square" rtlCol="0" anchor="ctr"/>
          <a:lstStyle/>
          <a:p>
            <a:pPr marL="0" indent="0">
              <a:buNone/>
            </a:pPr>
            <a:r>
              <a:rPr lang="en-US" sz="1350" i="1" dirty="0">
                <a:solidFill>
                  <a:schemeClr val="bg1">
                    <a:lumMod val="85000"/>
                  </a:schemeClr>
                </a:solidFill>
                <a:latin typeface="Arial" pitchFamily="34" charset="0"/>
                <a:ea typeface="Arial" pitchFamily="34" charset="-122"/>
                <a:cs typeface="Arial" pitchFamily="34" charset="-120"/>
              </a:rPr>
              <a:t>Traffic Flow Preservation with Integrated Real Estate: Sovereign AI Edge Infrastructure  ·  IBM + NVIDIA + BYD  ·  </a:t>
            </a:r>
            <a:r>
              <a:rPr lang="en-US" sz="1350" i="1" dirty="0">
                <a:solidFill>
                  <a:srgbClr val="22F6AF"/>
                </a:solidFill>
                <a:latin typeface="Arial" pitchFamily="34" charset="0"/>
                <a:ea typeface="Arial" pitchFamily="34" charset="-122"/>
                <a:cs typeface="Arial" pitchFamily="34" charset="-120"/>
              </a:rPr>
              <a:t>8 GWh Energy Offset Per Node</a:t>
            </a:r>
            <a:endParaRPr lang="en-US" sz="1350" dirty="0">
              <a:solidFill>
                <a:srgbClr val="22F6AF"/>
              </a:solidFill>
            </a:endParaRPr>
          </a:p>
        </p:txBody>
      </p:sp>
      <p:sp>
        <p:nvSpPr>
          <p:cNvPr id="7" name="Text 4"/>
          <p:cNvSpPr/>
          <p:nvPr/>
        </p:nvSpPr>
        <p:spPr>
          <a:xfrm>
            <a:off x="1612846" y="2069698"/>
            <a:ext cx="6949440" cy="274320"/>
          </a:xfrm>
          <a:prstGeom prst="rect">
            <a:avLst/>
          </a:prstGeom>
          <a:noFill/>
          <a:ln/>
        </p:spPr>
        <p:txBody>
          <a:bodyPr wrap="square" rtlCol="0" anchor="ctr"/>
          <a:lstStyle/>
          <a:p>
            <a:pPr marL="0" indent="0">
              <a:buNone/>
            </a:pPr>
            <a:r>
              <a:rPr lang="en-US" sz="1000" kern="0" spc="300" dirty="0">
                <a:solidFill>
                  <a:srgbClr val="FFE1C1"/>
                </a:solidFill>
                <a:latin typeface="Arial" pitchFamily="34" charset="0"/>
                <a:ea typeface="Arial" pitchFamily="34" charset="-122"/>
                <a:cs typeface="Arial" pitchFamily="34" charset="-120"/>
              </a:rPr>
              <a:t>INVESTOR PRESENTATION  ·  APRIL 2026</a:t>
            </a:r>
            <a:endParaRPr lang="en-US" sz="1000" dirty="0">
              <a:solidFill>
                <a:srgbClr val="FFE1C1"/>
              </a:solidFill>
            </a:endParaRPr>
          </a:p>
        </p:txBody>
      </p:sp>
      <p:sp>
        <p:nvSpPr>
          <p:cNvPr id="8" name="Shape 5"/>
          <p:cNvSpPr/>
          <p:nvPr/>
        </p:nvSpPr>
        <p:spPr>
          <a:xfrm>
            <a:off x="502920" y="2404978"/>
            <a:ext cx="8494776" cy="1244950"/>
          </a:xfrm>
          <a:prstGeom prst="rect">
            <a:avLst/>
          </a:prstGeom>
          <a:solidFill>
            <a:srgbClr val="03070D"/>
          </a:solidFill>
          <a:ln w="12700">
            <a:solidFill>
              <a:srgbClr val="FDCC9C"/>
            </a:solidFill>
            <a:prstDash val="solid"/>
          </a:ln>
        </p:spPr>
        <p:txBody>
          <a:bodyPr/>
          <a:lstStyle/>
          <a:p>
            <a:endParaRPr lang="en-GB"/>
          </a:p>
        </p:txBody>
      </p:sp>
      <p:sp>
        <p:nvSpPr>
          <p:cNvPr id="9" name="Text 6"/>
          <p:cNvSpPr/>
          <p:nvPr/>
        </p:nvSpPr>
        <p:spPr>
          <a:xfrm>
            <a:off x="704088" y="2465323"/>
            <a:ext cx="7772400" cy="1124260"/>
          </a:xfrm>
          <a:prstGeom prst="rect">
            <a:avLst/>
          </a:prstGeom>
          <a:noFill/>
          <a:ln>
            <a:noFill/>
          </a:ln>
        </p:spPr>
        <p:txBody>
          <a:bodyPr wrap="square" rtlCol="0" anchor="t"/>
          <a:lstStyle/>
          <a:p>
            <a:r>
              <a:rPr lang="en-GB" dirty="0">
                <a:solidFill>
                  <a:schemeClr val="bg1"/>
                </a:solidFill>
              </a:rPr>
              <a:t>Stop-start driving forces cars to burn </a:t>
            </a:r>
            <a:r>
              <a:rPr lang="en-GB" dirty="0">
                <a:solidFill>
                  <a:srgbClr val="BD84FC"/>
                </a:solidFill>
              </a:rPr>
              <a:t>67%</a:t>
            </a:r>
            <a:r>
              <a:rPr lang="en-GB" dirty="0">
                <a:solidFill>
                  <a:schemeClr val="bg1"/>
                </a:solidFill>
              </a:rPr>
              <a:t> more fuel at every junction—while for HGVs, that waste spikes to </a:t>
            </a:r>
            <a:r>
              <a:rPr lang="en-GB" dirty="0">
                <a:solidFill>
                  <a:srgbClr val="BD84FC"/>
                </a:solidFill>
              </a:rPr>
              <a:t>87%. </a:t>
            </a:r>
            <a:r>
              <a:rPr lang="en-GB" sz="1600" dirty="0">
                <a:solidFill>
                  <a:schemeClr val="bg1"/>
                </a:solidFill>
              </a:rPr>
              <a:t>This massive energy leak heats our cities, drains logistics fleets, and overloads the grid. For decades, this has been an overlooked “stopping tax" on urban motion.</a:t>
            </a:r>
            <a:endParaRPr lang="en-US" sz="1400" dirty="0">
              <a:solidFill>
                <a:schemeClr val="bg1"/>
              </a:solidFill>
            </a:endParaRPr>
          </a:p>
        </p:txBody>
      </p:sp>
      <p:sp>
        <p:nvSpPr>
          <p:cNvPr id="10" name="Shape 7"/>
          <p:cNvSpPr/>
          <p:nvPr/>
        </p:nvSpPr>
        <p:spPr>
          <a:xfrm>
            <a:off x="502920" y="3862138"/>
            <a:ext cx="1911096" cy="777240"/>
          </a:xfrm>
          <a:prstGeom prst="rect">
            <a:avLst/>
          </a:prstGeom>
          <a:solidFill>
            <a:srgbClr val="08111E"/>
          </a:solidFill>
          <a:ln w="12700">
            <a:solidFill>
              <a:srgbClr val="22F6AF"/>
            </a:solidFill>
            <a:prstDash val="solid"/>
          </a:ln>
        </p:spPr>
        <p:txBody>
          <a:bodyPr/>
          <a:lstStyle/>
          <a:p>
            <a:endParaRPr lang="en-GB"/>
          </a:p>
        </p:txBody>
      </p:sp>
      <p:sp>
        <p:nvSpPr>
          <p:cNvPr id="11" name="Text 8"/>
          <p:cNvSpPr/>
          <p:nvPr/>
        </p:nvSpPr>
        <p:spPr>
          <a:xfrm>
            <a:off x="621792" y="3889570"/>
            <a:ext cx="1707788" cy="182880"/>
          </a:xfrm>
          <a:prstGeom prst="rect">
            <a:avLst/>
          </a:prstGeom>
          <a:solidFill>
            <a:srgbClr val="08111E"/>
          </a:solidFill>
          <a:ln/>
        </p:spPr>
        <p:txBody>
          <a:bodyPr wrap="square" rtlCol="0" anchor="ctr"/>
          <a:lstStyle/>
          <a:p>
            <a:pPr marL="0" indent="0">
              <a:buNone/>
            </a:pPr>
            <a:r>
              <a:rPr lang="en-US" sz="800" kern="0" spc="100" dirty="0">
                <a:solidFill>
                  <a:srgbClr val="FFE1C1"/>
                </a:solidFill>
                <a:latin typeface="Arial" pitchFamily="34" charset="0"/>
                <a:ea typeface="Arial" pitchFamily="34" charset="-122"/>
                <a:cs typeface="Arial" pitchFamily="34" charset="-120"/>
              </a:rPr>
              <a:t>NODE CAPEX</a:t>
            </a:r>
            <a:endParaRPr lang="en-US" sz="800" dirty="0">
              <a:solidFill>
                <a:srgbClr val="FFE1C1"/>
              </a:solidFill>
            </a:endParaRPr>
          </a:p>
        </p:txBody>
      </p:sp>
      <p:sp>
        <p:nvSpPr>
          <p:cNvPr id="12" name="Text 9"/>
          <p:cNvSpPr/>
          <p:nvPr/>
        </p:nvSpPr>
        <p:spPr>
          <a:xfrm>
            <a:off x="621792" y="4063306"/>
            <a:ext cx="1707788" cy="274320"/>
          </a:xfrm>
          <a:prstGeom prst="rect">
            <a:avLst/>
          </a:prstGeom>
          <a:solidFill>
            <a:srgbClr val="08111E"/>
          </a:solidFill>
          <a:ln/>
        </p:spPr>
        <p:txBody>
          <a:bodyPr wrap="square" rtlCol="0" anchor="ctr"/>
          <a:lstStyle/>
          <a:p>
            <a:pPr marL="0" indent="0">
              <a:buNone/>
            </a:pPr>
            <a:r>
              <a:rPr lang="en-US" sz="1600" b="1" dirty="0">
                <a:solidFill>
                  <a:srgbClr val="FFE1C1"/>
                </a:solidFill>
                <a:latin typeface="Arial" pitchFamily="34" charset="0"/>
                <a:ea typeface="Arial" pitchFamily="34" charset="-122"/>
                <a:cs typeface="Arial" pitchFamily="34" charset="-120"/>
              </a:rPr>
              <a:t>€5.79M</a:t>
            </a:r>
            <a:endParaRPr lang="en-US" sz="1600" dirty="0">
              <a:solidFill>
                <a:srgbClr val="FFE1C1"/>
              </a:solidFill>
            </a:endParaRPr>
          </a:p>
        </p:txBody>
      </p:sp>
      <p:sp>
        <p:nvSpPr>
          <p:cNvPr id="13" name="Text 10"/>
          <p:cNvSpPr/>
          <p:nvPr/>
        </p:nvSpPr>
        <p:spPr>
          <a:xfrm>
            <a:off x="621792" y="4346770"/>
            <a:ext cx="1707788" cy="182880"/>
          </a:xfrm>
          <a:prstGeom prst="rect">
            <a:avLst/>
          </a:prstGeom>
          <a:solidFill>
            <a:srgbClr val="08111E"/>
          </a:solidFill>
          <a:ln/>
        </p:spPr>
        <p:txBody>
          <a:bodyPr wrap="square" rtlCol="0" anchor="ctr"/>
          <a:lstStyle/>
          <a:p>
            <a:pPr marL="0" indent="0">
              <a:buNone/>
            </a:pPr>
            <a:r>
              <a:rPr lang="en-US" sz="800" dirty="0">
                <a:solidFill>
                  <a:srgbClr val="22F6AF"/>
                </a:solidFill>
                <a:latin typeface="Arial" pitchFamily="34" charset="0"/>
                <a:ea typeface="Arial" pitchFamily="34" charset="-122"/>
                <a:cs typeface="Arial" pitchFamily="34" charset="-120"/>
              </a:rPr>
              <a:t>ex racks + grid</a:t>
            </a:r>
            <a:endParaRPr lang="en-US" sz="800" dirty="0">
              <a:solidFill>
                <a:srgbClr val="22F6AF"/>
              </a:solidFill>
            </a:endParaRPr>
          </a:p>
        </p:txBody>
      </p:sp>
      <p:sp>
        <p:nvSpPr>
          <p:cNvPr id="14" name="Shape 11"/>
          <p:cNvSpPr/>
          <p:nvPr/>
        </p:nvSpPr>
        <p:spPr>
          <a:xfrm>
            <a:off x="2697480" y="3862138"/>
            <a:ext cx="1911096" cy="777240"/>
          </a:xfrm>
          <a:prstGeom prst="rect">
            <a:avLst/>
          </a:prstGeom>
          <a:solidFill>
            <a:srgbClr val="08111E"/>
          </a:solidFill>
          <a:ln w="12700">
            <a:solidFill>
              <a:srgbClr val="22F6AF"/>
            </a:solidFill>
            <a:prstDash val="solid"/>
          </a:ln>
        </p:spPr>
        <p:txBody>
          <a:bodyPr/>
          <a:lstStyle/>
          <a:p>
            <a:endParaRPr lang="en-GB"/>
          </a:p>
        </p:txBody>
      </p:sp>
      <p:sp>
        <p:nvSpPr>
          <p:cNvPr id="15" name="Text 12"/>
          <p:cNvSpPr/>
          <p:nvPr/>
        </p:nvSpPr>
        <p:spPr>
          <a:xfrm>
            <a:off x="2816352" y="3889570"/>
            <a:ext cx="1707788" cy="182880"/>
          </a:xfrm>
          <a:prstGeom prst="rect">
            <a:avLst/>
          </a:prstGeom>
          <a:solidFill>
            <a:srgbClr val="08111E"/>
          </a:solidFill>
          <a:ln/>
        </p:spPr>
        <p:txBody>
          <a:bodyPr wrap="square" rtlCol="0" anchor="ctr"/>
          <a:lstStyle/>
          <a:p>
            <a:pPr marL="0" indent="0">
              <a:buNone/>
            </a:pPr>
            <a:r>
              <a:rPr lang="en-US" sz="800" kern="0" spc="100" dirty="0">
                <a:solidFill>
                  <a:srgbClr val="FFE1C1"/>
                </a:solidFill>
                <a:latin typeface="Arial" pitchFamily="34" charset="0"/>
                <a:ea typeface="Arial" pitchFamily="34" charset="-122"/>
                <a:cs typeface="Arial" pitchFamily="34" charset="-120"/>
              </a:rPr>
              <a:t>YR 1 EBITDA</a:t>
            </a:r>
            <a:endParaRPr lang="en-US" sz="800" dirty="0">
              <a:solidFill>
                <a:srgbClr val="FFE1C1"/>
              </a:solidFill>
            </a:endParaRPr>
          </a:p>
        </p:txBody>
      </p:sp>
      <p:sp>
        <p:nvSpPr>
          <p:cNvPr id="16" name="Text 13"/>
          <p:cNvSpPr/>
          <p:nvPr/>
        </p:nvSpPr>
        <p:spPr>
          <a:xfrm>
            <a:off x="2816352" y="4063306"/>
            <a:ext cx="1707788" cy="274320"/>
          </a:xfrm>
          <a:prstGeom prst="rect">
            <a:avLst/>
          </a:prstGeom>
          <a:solidFill>
            <a:srgbClr val="08111E"/>
          </a:solidFill>
          <a:ln/>
        </p:spPr>
        <p:txBody>
          <a:bodyPr wrap="square" rtlCol="0" anchor="ctr"/>
          <a:lstStyle/>
          <a:p>
            <a:pPr marL="0" indent="0">
              <a:buNone/>
            </a:pPr>
            <a:r>
              <a:rPr lang="en-US" sz="1600" b="1" dirty="0">
                <a:solidFill>
                  <a:srgbClr val="FFE1C1"/>
                </a:solidFill>
                <a:latin typeface="Arial" pitchFamily="34" charset="0"/>
                <a:ea typeface="Arial" pitchFamily="34" charset="-122"/>
                <a:cs typeface="Arial" pitchFamily="34" charset="-120"/>
              </a:rPr>
              <a:t>€2.58M</a:t>
            </a:r>
            <a:endParaRPr lang="en-US" sz="1600" dirty="0">
              <a:solidFill>
                <a:srgbClr val="FFE1C1"/>
              </a:solidFill>
            </a:endParaRPr>
          </a:p>
        </p:txBody>
      </p:sp>
      <p:sp>
        <p:nvSpPr>
          <p:cNvPr id="17" name="Text 14"/>
          <p:cNvSpPr/>
          <p:nvPr/>
        </p:nvSpPr>
        <p:spPr>
          <a:xfrm>
            <a:off x="2816352" y="4346770"/>
            <a:ext cx="1707788" cy="182880"/>
          </a:xfrm>
          <a:prstGeom prst="rect">
            <a:avLst/>
          </a:prstGeom>
          <a:solidFill>
            <a:srgbClr val="08111E"/>
          </a:solidFill>
          <a:ln/>
        </p:spPr>
        <p:txBody>
          <a:bodyPr wrap="square" rtlCol="0" anchor="ctr"/>
          <a:lstStyle/>
          <a:p>
            <a:pPr marL="0" indent="0">
              <a:buNone/>
            </a:pPr>
            <a:r>
              <a:rPr lang="en-US" sz="800" dirty="0">
                <a:solidFill>
                  <a:srgbClr val="22F6AF"/>
                </a:solidFill>
                <a:latin typeface="Arial" pitchFamily="34" charset="0"/>
                <a:ea typeface="Arial" pitchFamily="34" charset="-122"/>
                <a:cs typeface="Arial" pitchFamily="34" charset="-120"/>
              </a:rPr>
              <a:t>87.2% EBITDA · €2.24M net to SPV · standard 4-rack node</a:t>
            </a:r>
            <a:endParaRPr lang="en-US" sz="800" dirty="0">
              <a:solidFill>
                <a:srgbClr val="22F6AF"/>
              </a:solidFill>
            </a:endParaRPr>
          </a:p>
        </p:txBody>
      </p:sp>
      <p:sp>
        <p:nvSpPr>
          <p:cNvPr id="18" name="Shape 15"/>
          <p:cNvSpPr/>
          <p:nvPr/>
        </p:nvSpPr>
        <p:spPr>
          <a:xfrm>
            <a:off x="4892040" y="3862138"/>
            <a:ext cx="1911096" cy="777240"/>
          </a:xfrm>
          <a:prstGeom prst="rect">
            <a:avLst/>
          </a:prstGeom>
          <a:solidFill>
            <a:srgbClr val="08111E"/>
          </a:solidFill>
          <a:ln w="12700">
            <a:solidFill>
              <a:srgbClr val="22F6AF"/>
            </a:solidFill>
            <a:prstDash val="solid"/>
          </a:ln>
        </p:spPr>
        <p:txBody>
          <a:bodyPr/>
          <a:lstStyle/>
          <a:p>
            <a:endParaRPr lang="en-GB"/>
          </a:p>
        </p:txBody>
      </p:sp>
      <p:sp>
        <p:nvSpPr>
          <p:cNvPr id="19" name="Text 16"/>
          <p:cNvSpPr/>
          <p:nvPr/>
        </p:nvSpPr>
        <p:spPr>
          <a:xfrm>
            <a:off x="5010912" y="3889570"/>
            <a:ext cx="1707788" cy="182880"/>
          </a:xfrm>
          <a:prstGeom prst="rect">
            <a:avLst/>
          </a:prstGeom>
          <a:solidFill>
            <a:srgbClr val="08111E"/>
          </a:solidFill>
          <a:ln/>
        </p:spPr>
        <p:txBody>
          <a:bodyPr wrap="square" rtlCol="0" anchor="ctr"/>
          <a:lstStyle/>
          <a:p>
            <a:pPr marL="0" indent="0">
              <a:buNone/>
            </a:pPr>
            <a:r>
              <a:rPr lang="en-US" sz="800" kern="0" spc="100" dirty="0">
                <a:solidFill>
                  <a:srgbClr val="FFE1C1"/>
                </a:solidFill>
                <a:latin typeface="Arial" pitchFamily="34" charset="0"/>
                <a:ea typeface="Arial" pitchFamily="34" charset="-122"/>
                <a:cs typeface="Arial" pitchFamily="34" charset="-120"/>
              </a:rPr>
              <a:t>PAYBACK</a:t>
            </a:r>
            <a:endParaRPr lang="en-US" sz="800" dirty="0">
              <a:solidFill>
                <a:srgbClr val="FFE1C1"/>
              </a:solidFill>
            </a:endParaRPr>
          </a:p>
        </p:txBody>
      </p:sp>
      <p:sp>
        <p:nvSpPr>
          <p:cNvPr id="20" name="Text 17"/>
          <p:cNvSpPr/>
          <p:nvPr/>
        </p:nvSpPr>
        <p:spPr>
          <a:xfrm>
            <a:off x="5010912" y="4063306"/>
            <a:ext cx="1707788" cy="274320"/>
          </a:xfrm>
          <a:prstGeom prst="rect">
            <a:avLst/>
          </a:prstGeom>
          <a:solidFill>
            <a:srgbClr val="08111E"/>
          </a:solidFill>
          <a:ln/>
        </p:spPr>
        <p:txBody>
          <a:bodyPr wrap="square" rtlCol="0" anchor="ctr"/>
          <a:lstStyle/>
          <a:p>
            <a:pPr marL="0" indent="0">
              <a:buNone/>
            </a:pPr>
            <a:r>
              <a:rPr lang="en-US" sz="1600" b="1" dirty="0">
                <a:solidFill>
                  <a:srgbClr val="FFE1C1"/>
                </a:solidFill>
                <a:latin typeface="Arial" pitchFamily="34" charset="0"/>
                <a:ea typeface="Arial" pitchFamily="34" charset="-122"/>
                <a:cs typeface="Arial" pitchFamily="34" charset="-120"/>
              </a:rPr>
              <a:t>~ 32 months</a:t>
            </a:r>
            <a:endParaRPr lang="en-US" sz="1600" dirty="0">
              <a:solidFill>
                <a:srgbClr val="FFE1C1"/>
              </a:solidFill>
            </a:endParaRPr>
          </a:p>
        </p:txBody>
      </p:sp>
      <p:sp>
        <p:nvSpPr>
          <p:cNvPr id="21" name="Text 18"/>
          <p:cNvSpPr/>
          <p:nvPr/>
        </p:nvSpPr>
        <p:spPr>
          <a:xfrm>
            <a:off x="5010912" y="4346770"/>
            <a:ext cx="1707788" cy="182880"/>
          </a:xfrm>
          <a:prstGeom prst="rect">
            <a:avLst/>
          </a:prstGeom>
          <a:solidFill>
            <a:srgbClr val="08111E"/>
          </a:solidFill>
          <a:ln/>
        </p:spPr>
        <p:txBody>
          <a:bodyPr wrap="square" rtlCol="0" anchor="ctr"/>
          <a:lstStyle/>
          <a:p>
            <a:pPr marL="0" indent="0">
              <a:buNone/>
            </a:pPr>
            <a:r>
              <a:rPr lang="en-US" sz="800" dirty="0">
                <a:solidFill>
                  <a:srgbClr val="22F6AF"/>
                </a:solidFill>
                <a:latin typeface="Arial" pitchFamily="34" charset="0"/>
                <a:ea typeface="Arial" pitchFamily="34" charset="-122"/>
                <a:cs typeface="Arial" pitchFamily="34" charset="-120"/>
              </a:rPr>
              <a:t>4 racks standard · scales to flagship</a:t>
            </a:r>
            <a:endParaRPr lang="en-US" sz="800" dirty="0">
              <a:solidFill>
                <a:srgbClr val="22F6AF"/>
              </a:solidFill>
            </a:endParaRPr>
          </a:p>
        </p:txBody>
      </p:sp>
      <p:sp>
        <p:nvSpPr>
          <p:cNvPr id="22" name="Shape 19"/>
          <p:cNvSpPr/>
          <p:nvPr/>
        </p:nvSpPr>
        <p:spPr>
          <a:xfrm>
            <a:off x="7086600" y="3862138"/>
            <a:ext cx="1911096" cy="777240"/>
          </a:xfrm>
          <a:prstGeom prst="rect">
            <a:avLst/>
          </a:prstGeom>
          <a:solidFill>
            <a:srgbClr val="08111E"/>
          </a:solidFill>
          <a:ln w="12700">
            <a:solidFill>
              <a:srgbClr val="22F6AF"/>
            </a:solidFill>
            <a:prstDash val="solid"/>
          </a:ln>
        </p:spPr>
        <p:txBody>
          <a:bodyPr/>
          <a:lstStyle/>
          <a:p>
            <a:endParaRPr lang="en-GB"/>
          </a:p>
        </p:txBody>
      </p:sp>
      <p:sp>
        <p:nvSpPr>
          <p:cNvPr id="23" name="Text 20"/>
          <p:cNvSpPr/>
          <p:nvPr/>
        </p:nvSpPr>
        <p:spPr>
          <a:xfrm>
            <a:off x="7205472" y="3889570"/>
            <a:ext cx="1707788" cy="182880"/>
          </a:xfrm>
          <a:prstGeom prst="rect">
            <a:avLst/>
          </a:prstGeom>
          <a:solidFill>
            <a:srgbClr val="08111E"/>
          </a:solidFill>
          <a:ln/>
        </p:spPr>
        <p:txBody>
          <a:bodyPr wrap="square" rtlCol="0" anchor="ctr"/>
          <a:lstStyle/>
          <a:p>
            <a:pPr marL="0" indent="0">
              <a:buNone/>
            </a:pPr>
            <a:r>
              <a:rPr lang="en-US" sz="800" kern="0" spc="100" dirty="0">
                <a:solidFill>
                  <a:srgbClr val="FFE1C1"/>
                </a:solidFill>
                <a:latin typeface="Arial" pitchFamily="34" charset="0"/>
                <a:ea typeface="Arial" pitchFamily="34" charset="-122"/>
                <a:cs typeface="Arial" pitchFamily="34" charset="-120"/>
              </a:rPr>
              <a:t>20-YR EBITDA</a:t>
            </a:r>
            <a:endParaRPr lang="en-US" sz="800" dirty="0">
              <a:solidFill>
                <a:srgbClr val="FFE1C1"/>
              </a:solidFill>
            </a:endParaRPr>
          </a:p>
        </p:txBody>
      </p:sp>
      <p:sp>
        <p:nvSpPr>
          <p:cNvPr id="24" name="Text 21"/>
          <p:cNvSpPr/>
          <p:nvPr/>
        </p:nvSpPr>
        <p:spPr>
          <a:xfrm>
            <a:off x="7205472" y="4063306"/>
            <a:ext cx="1707788" cy="274320"/>
          </a:xfrm>
          <a:prstGeom prst="rect">
            <a:avLst/>
          </a:prstGeom>
          <a:solidFill>
            <a:srgbClr val="08111E"/>
          </a:solidFill>
          <a:ln/>
        </p:spPr>
        <p:txBody>
          <a:bodyPr wrap="square" rtlCol="0" anchor="ctr"/>
          <a:lstStyle/>
          <a:p>
            <a:pPr marL="0" indent="0">
              <a:buNone/>
            </a:pPr>
            <a:r>
              <a:rPr lang="en-US" sz="1600" b="1" dirty="0">
                <a:solidFill>
                  <a:srgbClr val="FFE1C1"/>
                </a:solidFill>
                <a:latin typeface="Arial" pitchFamily="34" charset="0"/>
                <a:ea typeface="Arial" pitchFamily="34" charset="-122"/>
                <a:cs typeface="Arial" pitchFamily="34" charset="-120"/>
              </a:rPr>
              <a:t>~ €240M</a:t>
            </a:r>
            <a:endParaRPr lang="en-US" sz="1600" dirty="0">
              <a:solidFill>
                <a:srgbClr val="FFE1C1"/>
              </a:solidFill>
            </a:endParaRPr>
          </a:p>
        </p:txBody>
      </p:sp>
      <p:sp>
        <p:nvSpPr>
          <p:cNvPr id="25" name="Text 22"/>
          <p:cNvSpPr/>
          <p:nvPr/>
        </p:nvSpPr>
        <p:spPr>
          <a:xfrm>
            <a:off x="7205472" y="4346770"/>
            <a:ext cx="1707788" cy="182880"/>
          </a:xfrm>
          <a:prstGeom prst="rect">
            <a:avLst/>
          </a:prstGeom>
          <a:solidFill>
            <a:srgbClr val="08111E"/>
          </a:solidFill>
          <a:ln/>
        </p:spPr>
        <p:txBody>
          <a:bodyPr wrap="square" rtlCol="0" anchor="ctr"/>
          <a:lstStyle/>
          <a:p>
            <a:pPr marL="0" indent="0">
              <a:buNone/>
            </a:pPr>
            <a:r>
              <a:rPr lang="en-US" sz="800" dirty="0">
                <a:solidFill>
                  <a:srgbClr val="22F6AF"/>
                </a:solidFill>
                <a:latin typeface="Arial" pitchFamily="34" charset="0"/>
                <a:ea typeface="Arial" pitchFamily="34" charset="-122"/>
                <a:cs typeface="Arial" pitchFamily="34" charset="-120"/>
              </a:rPr>
              <a:t>~24×</a:t>
            </a:r>
            <a:r>
              <a:rPr lang="en-US" sz="800" dirty="0">
                <a:solidFill>
                  <a:srgbClr val="BD84FC"/>
                </a:solidFill>
                <a:latin typeface="Arial" pitchFamily="34" charset="0"/>
                <a:ea typeface="Arial" pitchFamily="34" charset="-122"/>
                <a:cs typeface="Arial" pitchFamily="34" charset="-120"/>
              </a:rPr>
              <a:t>Per Node</a:t>
            </a:r>
            <a:endParaRPr lang="en-US" sz="800" dirty="0">
              <a:solidFill>
                <a:srgbClr val="BD84FC"/>
              </a:solidFill>
            </a:endParaRPr>
          </a:p>
        </p:txBody>
      </p:sp>
      <p:sp>
        <p:nvSpPr>
          <p:cNvPr id="26" name="Shape 23"/>
          <p:cNvSpPr/>
          <p:nvPr/>
        </p:nvSpPr>
        <p:spPr>
          <a:xfrm>
            <a:off x="0" y="4892040"/>
            <a:ext cx="9144000" cy="251460"/>
          </a:xfrm>
          <a:prstGeom prst="rect">
            <a:avLst/>
          </a:prstGeom>
          <a:solidFill>
            <a:srgbClr val="08111E"/>
          </a:solidFill>
          <a:ln w="12700">
            <a:solidFill>
              <a:srgbClr val="0D1B2E"/>
            </a:solidFill>
            <a:prstDash val="solid"/>
          </a:ln>
        </p:spPr>
        <p:txBody>
          <a:bodyPr/>
          <a:lstStyle/>
          <a:p>
            <a:endParaRPr lang="en-GB"/>
          </a:p>
        </p:txBody>
      </p:sp>
      <p:sp>
        <p:nvSpPr>
          <p:cNvPr id="27" name="Shape 24"/>
          <p:cNvSpPr/>
          <p:nvPr/>
        </p:nvSpPr>
        <p:spPr>
          <a:xfrm flipV="1">
            <a:off x="36576" y="4837498"/>
            <a:ext cx="9107424" cy="45719"/>
          </a:xfrm>
          <a:prstGeom prst="rect">
            <a:avLst/>
          </a:prstGeom>
          <a:solidFill>
            <a:srgbClr val="FDCC9C"/>
          </a:solidFill>
          <a:ln w="12700">
            <a:solidFill>
              <a:srgbClr val="FDCC9C"/>
            </a:solidFill>
            <a:prstDash val="solid"/>
          </a:ln>
        </p:spPr>
        <p:txBody>
          <a:bodyPr/>
          <a:lstStyle/>
          <a:p>
            <a:endParaRPr lang="en-GB"/>
          </a:p>
        </p:txBody>
      </p:sp>
      <p:sp>
        <p:nvSpPr>
          <p:cNvPr id="28" name="Text 25"/>
          <p:cNvSpPr/>
          <p:nvPr/>
        </p:nvSpPr>
        <p:spPr>
          <a:xfrm>
            <a:off x="320040" y="4901184"/>
            <a:ext cx="4572000" cy="228600"/>
          </a:xfrm>
          <a:prstGeom prst="rect">
            <a:avLst/>
          </a:prstGeom>
          <a:noFill/>
          <a:ln/>
        </p:spPr>
        <p:txBody>
          <a:bodyPr wrap="square" rtlCol="0" anchor="ctr"/>
          <a:lstStyle/>
          <a:p>
            <a:pPr marL="0" indent="0">
              <a:buNone/>
            </a:pPr>
            <a:r>
              <a:rPr lang="en-US" sz="800" dirty="0">
                <a:solidFill>
                  <a:srgbClr val="B87333"/>
                </a:solidFill>
                <a:latin typeface="Arial" pitchFamily="34" charset="0"/>
                <a:ea typeface="Arial" pitchFamily="34" charset="-122"/>
                <a:cs typeface="Arial" pitchFamily="34" charset="-120"/>
              </a:rPr>
              <a:t>UMPIREAL  ·  CONFIDENTIAL</a:t>
            </a:r>
            <a:endParaRPr lang="en-US" sz="800" dirty="0"/>
          </a:p>
        </p:txBody>
      </p:sp>
      <p:sp>
        <p:nvSpPr>
          <p:cNvPr id="29" name="Text 26"/>
          <p:cNvSpPr/>
          <p:nvPr/>
        </p:nvSpPr>
        <p:spPr>
          <a:xfrm>
            <a:off x="4572000" y="4901184"/>
            <a:ext cx="4251960" cy="228600"/>
          </a:xfrm>
          <a:prstGeom prst="rect">
            <a:avLst/>
          </a:prstGeom>
          <a:noFill/>
          <a:ln/>
        </p:spPr>
        <p:txBody>
          <a:bodyPr wrap="square" rtlCol="0" anchor="ctr"/>
          <a:lstStyle/>
          <a:p>
            <a:pPr marL="0" indent="0" algn="r">
              <a:buNone/>
            </a:pPr>
            <a:r>
              <a:rPr lang="en-US" sz="800" dirty="0">
                <a:solidFill>
                  <a:srgbClr val="9CA3AF"/>
                </a:solidFill>
                <a:latin typeface="Arial" pitchFamily="34" charset="0"/>
                <a:ea typeface="Arial" pitchFamily="34" charset="-122"/>
                <a:cs typeface="Arial" pitchFamily="34" charset="-120"/>
              </a:rPr>
              <a:t>www.umpireal.com  ·  IP Filing: 2025/0540  ·  Alan Ledwith, Founder</a:t>
            </a:r>
            <a:endParaRPr lang="en-US" sz="800" dirty="0"/>
          </a:p>
        </p:txBody>
      </p:sp>
      <p:sp>
        <p:nvSpPr>
          <p:cNvPr id="2" name="Shape 0"/>
          <p:cNvSpPr/>
          <p:nvPr/>
        </p:nvSpPr>
        <p:spPr>
          <a:xfrm>
            <a:off x="0" y="0"/>
            <a:ext cx="73152" cy="5143500"/>
          </a:xfrm>
          <a:prstGeom prst="rect">
            <a:avLst/>
          </a:prstGeom>
          <a:solidFill>
            <a:srgbClr val="22F6AF"/>
          </a:solidFill>
          <a:ln w="12700">
            <a:solidFill>
              <a:srgbClr val="22F6AF"/>
            </a:solidFill>
            <a:prstDash val="solid"/>
          </a:ln>
        </p:spPr>
        <p:txBody>
          <a:bodyPr/>
          <a:lstStyle/>
          <a:p>
            <a:endParaRPr lang="en-GB"/>
          </a:p>
        </p:txBody>
      </p:sp>
      <p:sp>
        <p:nvSpPr>
          <p:cNvPr id="34" name="Text Box 2">
            <a:extLst>
              <a:ext uri="{FF2B5EF4-FFF2-40B4-BE49-F238E27FC236}">
                <a16:creationId xmlns:a16="http://schemas.microsoft.com/office/drawing/2014/main" id="{8AA9E37C-2B1F-0EA7-FC28-ECE29A52B04C}"/>
              </a:ext>
            </a:extLst>
          </p:cNvPr>
          <p:cNvSpPr txBox="1">
            <a:spLocks noChangeArrowheads="1"/>
          </p:cNvSpPr>
          <p:nvPr/>
        </p:nvSpPr>
        <p:spPr bwMode="auto">
          <a:xfrm>
            <a:off x="495643" y="328786"/>
            <a:ext cx="5501702" cy="576868"/>
          </a:xfrm>
          <a:prstGeom prst="rect">
            <a:avLst/>
          </a:prstGeom>
          <a:solidFill>
            <a:srgbClr val="03070D"/>
          </a:solidFill>
          <a:ln w="9525">
            <a:noFill/>
            <a:miter lim="800000"/>
            <a:headEnd/>
            <a:tailEnd/>
          </a:ln>
        </p:spPr>
        <p:txBody>
          <a:bodyPr rot="0" vert="horz" wrap="square" lIns="91440" tIns="45720" rIns="91440" bIns="45720" anchor="ctr" anchorCtr="0">
            <a:noAutofit/>
          </a:bodyPr>
          <a:lstStyle/>
          <a:p>
            <a:pPr>
              <a:buNone/>
            </a:pPr>
            <a:r>
              <a:rPr lang="en-GB" sz="4400" spc="300" dirty="0">
                <a:solidFill>
                  <a:srgbClr val="F1A983"/>
                </a:solidFill>
                <a:effectLst/>
                <a:latin typeface="911 Porscha Bold" pitchFamily="2" charset="0"/>
                <a:ea typeface="Georgia" panose="02040502050405020303" pitchFamily="18" charset="0"/>
                <a:cs typeface="Georgia" panose="02040502050405020303" pitchFamily="18" charset="0"/>
              </a:rPr>
              <a:t> </a:t>
            </a:r>
            <a:r>
              <a:rPr lang="en-GB" sz="4400" spc="630" dirty="0">
                <a:solidFill>
                  <a:srgbClr val="F2AA84"/>
                </a:solidFill>
                <a:effectLst/>
                <a:latin typeface="911 Porscha Bold" pitchFamily="2" charset="0"/>
                <a:ea typeface="Georgia" panose="02040502050405020303" pitchFamily="18" charset="0"/>
                <a:cs typeface="Georgia" panose="02040502050405020303" pitchFamily="18" charset="0"/>
              </a:rPr>
              <a:t>ump</a:t>
            </a:r>
            <a:r>
              <a:rPr lang="en-GB" sz="4400" spc="630" dirty="0">
                <a:solidFill>
                  <a:srgbClr val="F1A983"/>
                </a:solidFill>
                <a:effectLst/>
                <a:latin typeface="911 Porscha Bold" pitchFamily="2" charset="0"/>
                <a:ea typeface="Georgia" panose="02040502050405020303" pitchFamily="18" charset="0"/>
                <a:cs typeface="Georgia" panose="02040502050405020303" pitchFamily="18" charset="0"/>
              </a:rPr>
              <a:t>ireal</a:t>
            </a:r>
            <a:endParaRPr lang="en-GB" sz="1100" dirty="0">
              <a:solidFill>
                <a:srgbClr val="FFFFFF"/>
              </a:solidFill>
              <a:effectLst/>
              <a:latin typeface="Aptos" panose="020B0004020202020204" pitchFamily="34" charset="0"/>
              <a:ea typeface="Georgia" panose="02040502050405020303" pitchFamily="18" charset="0"/>
              <a:cs typeface="Georgia" panose="02040502050405020303" pitchFamily="18" charset="0"/>
            </a:endParaRPr>
          </a:p>
        </p:txBody>
      </p:sp>
      <p:pic>
        <p:nvPicPr>
          <p:cNvPr id="32" name="Picture 31">
            <a:extLst>
              <a:ext uri="{FF2B5EF4-FFF2-40B4-BE49-F238E27FC236}">
                <a16:creationId xmlns:a16="http://schemas.microsoft.com/office/drawing/2014/main" id="{4CF0B676-06F2-DD37-2364-9F5F938D3A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1205" y="398119"/>
            <a:ext cx="490280" cy="427870"/>
          </a:xfrm>
          <a:prstGeom prst="rect">
            <a:avLst/>
          </a:prstGeom>
        </p:spPr>
      </p:pic>
      <p:sp>
        <p:nvSpPr>
          <p:cNvPr id="3" name="TextBox 2">
            <a:extLst>
              <a:ext uri="{FF2B5EF4-FFF2-40B4-BE49-F238E27FC236}">
                <a16:creationId xmlns:a16="http://schemas.microsoft.com/office/drawing/2014/main" id="{577AEB15-D17E-E08E-7F35-B1E3ACE73322}"/>
              </a:ext>
            </a:extLst>
          </p:cNvPr>
          <p:cNvSpPr txBox="1"/>
          <p:nvPr/>
        </p:nvSpPr>
        <p:spPr>
          <a:xfrm>
            <a:off x="1624438" y="1141349"/>
            <a:ext cx="6949440" cy="369332"/>
          </a:xfrm>
          <a:prstGeom prst="rect">
            <a:avLst/>
          </a:prstGeom>
          <a:noFill/>
        </p:spPr>
        <p:txBody>
          <a:bodyPr wrap="square" rtlCol="0">
            <a:spAutoFit/>
          </a:bodyPr>
          <a:lstStyle/>
          <a:p>
            <a:r>
              <a:rPr lang="en-US" spc="300" dirty="0">
                <a:solidFill>
                  <a:srgbClr val="22F6AF"/>
                </a:solidFill>
                <a:latin typeface="Arial" pitchFamily="34" charset="0"/>
                <a:ea typeface="Arial" pitchFamily="34" charset="-122"/>
                <a:cs typeface="Arial" pitchFamily="34" charset="-120"/>
              </a:rPr>
              <a:t>Business Model 1: </a:t>
            </a:r>
            <a:r>
              <a:rPr lang="en-US" spc="300" dirty="0">
                <a:solidFill>
                  <a:srgbClr val="FDCC9C"/>
                </a:solidFill>
                <a:latin typeface="Arial" pitchFamily="34" charset="0"/>
                <a:ea typeface="Arial" pitchFamily="34" charset="-122"/>
                <a:cs typeface="Arial" pitchFamily="34" charset="-120"/>
              </a:rPr>
              <a:t>Umpireal House of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11480" y="164592"/>
            <a:ext cx="54864" cy="384048"/>
          </a:xfrm>
          <a:prstGeom prst="rect">
            <a:avLst/>
          </a:prstGeom>
          <a:solidFill>
            <a:srgbClr val="E24B4A"/>
          </a:solidFill>
          <a:ln w="12700">
            <a:solidFill>
              <a:srgbClr val="E24B4A"/>
            </a:solidFill>
            <a:prstDash val="solid"/>
          </a:ln>
        </p:spPr>
        <p:txBody>
          <a:bodyPr/>
          <a:lstStyle/>
          <a:p>
            <a:endParaRPr lang="en-GB"/>
          </a:p>
        </p:txBody>
      </p:sp>
      <p:sp>
        <p:nvSpPr>
          <p:cNvPr id="3" name="Text 1"/>
          <p:cNvSpPr/>
          <p:nvPr/>
        </p:nvSpPr>
        <p:spPr>
          <a:xfrm>
            <a:off x="548640" y="155448"/>
            <a:ext cx="8229600" cy="411480"/>
          </a:xfrm>
          <a:prstGeom prst="rect">
            <a:avLst/>
          </a:prstGeom>
          <a:noFill/>
          <a:ln/>
        </p:spPr>
        <p:txBody>
          <a:bodyPr wrap="square" rtlCol="0" anchor="ctr"/>
          <a:lstStyle/>
          <a:p>
            <a:pPr marL="0" indent="0">
              <a:buNone/>
            </a:pPr>
            <a:r>
              <a:rPr lang="en-US" sz="1100" b="1" kern="0" spc="300" dirty="0">
                <a:solidFill>
                  <a:srgbClr val="E24B4A"/>
                </a:solidFill>
                <a:latin typeface="Arial" pitchFamily="34" charset="0"/>
                <a:ea typeface="Arial" pitchFamily="34" charset="-122"/>
                <a:cs typeface="Arial" pitchFamily="34" charset="-120"/>
              </a:rPr>
              <a:t>THE PROBLEM</a:t>
            </a:r>
            <a:endParaRPr lang="en-US" sz="1100" dirty="0">
              <a:solidFill>
                <a:srgbClr val="E24B4A"/>
              </a:solidFill>
            </a:endParaRPr>
          </a:p>
        </p:txBody>
      </p:sp>
      <p:sp>
        <p:nvSpPr>
          <p:cNvPr id="4" name="Text 2"/>
          <p:cNvSpPr/>
          <p:nvPr/>
        </p:nvSpPr>
        <p:spPr>
          <a:xfrm>
            <a:off x="411480" y="594360"/>
            <a:ext cx="8321040" cy="502920"/>
          </a:xfrm>
          <a:prstGeom prst="rect">
            <a:avLst/>
          </a:prstGeom>
          <a:noFill/>
          <a:ln/>
        </p:spPr>
        <p:txBody>
          <a:bodyPr wrap="square" rtlCol="0" anchor="ctr"/>
          <a:lstStyle/>
          <a:p>
            <a:pPr marL="0" indent="0">
              <a:buNone/>
            </a:pPr>
            <a:r>
              <a:rPr lang="en-US" sz="2000" spc="300" dirty="0">
                <a:solidFill>
                  <a:schemeClr val="bg1">
                    <a:lumMod val="85000"/>
                  </a:schemeClr>
                </a:solidFill>
                <a:latin typeface="Aptos" panose="020B0004020202020204" pitchFamily="34" charset="0"/>
                <a:ea typeface="Arial" pitchFamily="34" charset="-122"/>
                <a:cs typeface="Arial" pitchFamily="34" charset="-120"/>
              </a:rPr>
              <a:t>Every Junction Is a Net Energy Burden</a:t>
            </a:r>
            <a:endParaRPr lang="en-US" sz="2000" spc="300" dirty="0">
              <a:solidFill>
                <a:schemeClr val="bg1">
                  <a:lumMod val="85000"/>
                </a:schemeClr>
              </a:solidFill>
              <a:latin typeface="Aptos" panose="020B0004020202020204" pitchFamily="34" charset="0"/>
            </a:endParaRPr>
          </a:p>
        </p:txBody>
      </p:sp>
      <p:sp>
        <p:nvSpPr>
          <p:cNvPr id="5" name="Shape 3"/>
          <p:cNvSpPr/>
          <p:nvPr/>
        </p:nvSpPr>
        <p:spPr>
          <a:xfrm>
            <a:off x="411480" y="1173480"/>
            <a:ext cx="4263992" cy="1920240"/>
          </a:xfrm>
          <a:prstGeom prst="rect">
            <a:avLst/>
          </a:prstGeom>
          <a:solidFill>
            <a:srgbClr val="03070D"/>
          </a:solidFill>
          <a:ln w="12700">
            <a:solidFill>
              <a:srgbClr val="E24B4A"/>
            </a:solidFill>
            <a:prstDash val="solid"/>
          </a:ln>
        </p:spPr>
        <p:txBody>
          <a:bodyPr/>
          <a:lstStyle/>
          <a:p>
            <a:endParaRPr lang="en-GB"/>
          </a:p>
        </p:txBody>
      </p:sp>
      <p:sp>
        <p:nvSpPr>
          <p:cNvPr id="6" name="Shape 4"/>
          <p:cNvSpPr/>
          <p:nvPr/>
        </p:nvSpPr>
        <p:spPr>
          <a:xfrm>
            <a:off x="411480" y="1173480"/>
            <a:ext cx="4263992" cy="54864"/>
          </a:xfrm>
          <a:prstGeom prst="rect">
            <a:avLst/>
          </a:prstGeom>
          <a:solidFill>
            <a:srgbClr val="03070D"/>
          </a:solidFill>
          <a:ln w="12700">
            <a:solidFill>
              <a:srgbClr val="E24B4A"/>
            </a:solidFill>
            <a:prstDash val="solid"/>
          </a:ln>
        </p:spPr>
        <p:txBody>
          <a:bodyPr/>
          <a:lstStyle/>
          <a:p>
            <a:endParaRPr lang="en-GB"/>
          </a:p>
        </p:txBody>
      </p:sp>
      <p:sp>
        <p:nvSpPr>
          <p:cNvPr id="7" name="Text 5"/>
          <p:cNvSpPr/>
          <p:nvPr/>
        </p:nvSpPr>
        <p:spPr>
          <a:xfrm>
            <a:off x="576072" y="1246632"/>
            <a:ext cx="3928622" cy="274320"/>
          </a:xfrm>
          <a:prstGeom prst="rect">
            <a:avLst/>
          </a:prstGeom>
          <a:solidFill>
            <a:srgbClr val="03070D"/>
          </a:solidFill>
          <a:ln/>
        </p:spPr>
        <p:txBody>
          <a:bodyPr wrap="square" rtlCol="0" anchor="ctr"/>
          <a:lstStyle/>
          <a:p>
            <a:pPr marL="0" indent="0">
              <a:buNone/>
            </a:pPr>
            <a:r>
              <a:rPr lang="en-US" sz="1000" b="1" kern="0" spc="100" dirty="0">
                <a:solidFill>
                  <a:srgbClr val="E24B4A"/>
                </a:solidFill>
                <a:latin typeface="Arial" pitchFamily="34" charset="0"/>
                <a:ea typeface="Arial" pitchFamily="34" charset="-122"/>
                <a:cs typeface="Arial" pitchFamily="34" charset="-120"/>
              </a:rPr>
              <a:t>PENALTY 1 — BRAKE HEAT</a:t>
            </a:r>
            <a:endParaRPr lang="en-US" sz="1000" dirty="0">
              <a:solidFill>
                <a:srgbClr val="E24B4A"/>
              </a:solidFill>
            </a:endParaRPr>
          </a:p>
        </p:txBody>
      </p:sp>
      <p:sp>
        <p:nvSpPr>
          <p:cNvPr id="8" name="Text 6"/>
          <p:cNvSpPr/>
          <p:nvPr/>
        </p:nvSpPr>
        <p:spPr>
          <a:xfrm>
            <a:off x="576072" y="1548384"/>
            <a:ext cx="3928622" cy="1417320"/>
          </a:xfrm>
          <a:prstGeom prst="rect">
            <a:avLst/>
          </a:prstGeom>
          <a:solidFill>
            <a:srgbClr val="03070D"/>
          </a:solidFill>
          <a:ln/>
        </p:spPr>
        <p:txBody>
          <a:bodyPr wrap="square" rtlCol="0" anchor="ctr"/>
          <a:lstStyle/>
          <a:p>
            <a:pPr marL="0" indent="0">
              <a:buNone/>
            </a:pPr>
            <a:r>
              <a:rPr lang="en-US" sz="1200" dirty="0">
                <a:solidFill>
                  <a:srgbClr val="E5E0D8"/>
                </a:solidFill>
                <a:latin typeface="Arial" pitchFamily="34" charset="0"/>
                <a:ea typeface="Arial" pitchFamily="34" charset="-122"/>
                <a:cs typeface="Arial" pitchFamily="34" charset="-120"/>
              </a:rPr>
              <a:t>When a vehicle stops at a junction, kinetic energy built up by the engine is converted entirely to brake heat and friction. It enters the urban atmosphere as waste heat. It cannot be recovered. It is simply gone.</a:t>
            </a:r>
            <a:endParaRPr lang="en-US" sz="1200" dirty="0"/>
          </a:p>
        </p:txBody>
      </p:sp>
      <p:sp>
        <p:nvSpPr>
          <p:cNvPr id="9" name="Shape 7"/>
          <p:cNvSpPr/>
          <p:nvPr/>
        </p:nvSpPr>
        <p:spPr>
          <a:xfrm>
            <a:off x="4663440" y="1173480"/>
            <a:ext cx="4263992" cy="1920240"/>
          </a:xfrm>
          <a:prstGeom prst="rect">
            <a:avLst/>
          </a:prstGeom>
          <a:solidFill>
            <a:srgbClr val="03070D"/>
          </a:solidFill>
          <a:ln w="12700">
            <a:solidFill>
              <a:srgbClr val="E24B4A"/>
            </a:solidFill>
            <a:prstDash val="solid"/>
          </a:ln>
        </p:spPr>
        <p:txBody>
          <a:bodyPr/>
          <a:lstStyle/>
          <a:p>
            <a:endParaRPr lang="en-GB"/>
          </a:p>
        </p:txBody>
      </p:sp>
      <p:sp>
        <p:nvSpPr>
          <p:cNvPr id="10" name="Shape 8"/>
          <p:cNvSpPr/>
          <p:nvPr/>
        </p:nvSpPr>
        <p:spPr>
          <a:xfrm>
            <a:off x="4663440" y="1173480"/>
            <a:ext cx="4263992" cy="54864"/>
          </a:xfrm>
          <a:prstGeom prst="rect">
            <a:avLst/>
          </a:prstGeom>
          <a:solidFill>
            <a:srgbClr val="03070D"/>
          </a:solidFill>
          <a:ln w="12700">
            <a:solidFill>
              <a:srgbClr val="E24B4A"/>
            </a:solidFill>
            <a:prstDash val="solid"/>
          </a:ln>
        </p:spPr>
        <p:txBody>
          <a:bodyPr/>
          <a:lstStyle/>
          <a:p>
            <a:endParaRPr lang="en-GB"/>
          </a:p>
        </p:txBody>
      </p:sp>
      <p:sp>
        <p:nvSpPr>
          <p:cNvPr id="11" name="Text 9"/>
          <p:cNvSpPr/>
          <p:nvPr/>
        </p:nvSpPr>
        <p:spPr>
          <a:xfrm>
            <a:off x="4828032" y="1246632"/>
            <a:ext cx="3928622" cy="274320"/>
          </a:xfrm>
          <a:prstGeom prst="rect">
            <a:avLst/>
          </a:prstGeom>
          <a:solidFill>
            <a:srgbClr val="03070D"/>
          </a:solidFill>
          <a:ln/>
        </p:spPr>
        <p:txBody>
          <a:bodyPr wrap="square" rtlCol="0" anchor="ctr"/>
          <a:lstStyle/>
          <a:p>
            <a:pPr marL="0" indent="0">
              <a:buNone/>
            </a:pPr>
            <a:r>
              <a:rPr lang="en-US" sz="1000" b="1" kern="0" spc="100" dirty="0">
                <a:solidFill>
                  <a:srgbClr val="E24B4A"/>
                </a:solidFill>
                <a:latin typeface="Arial" pitchFamily="34" charset="0"/>
                <a:ea typeface="Arial" pitchFamily="34" charset="-122"/>
                <a:cs typeface="Arial" pitchFamily="34" charset="-120"/>
              </a:rPr>
              <a:t>PENALTY 2 — RE-ACCELERATION</a:t>
            </a:r>
            <a:endParaRPr lang="en-US" sz="1000" dirty="0"/>
          </a:p>
        </p:txBody>
      </p:sp>
      <p:sp>
        <p:nvSpPr>
          <p:cNvPr id="12" name="Text 10"/>
          <p:cNvSpPr/>
          <p:nvPr/>
        </p:nvSpPr>
        <p:spPr>
          <a:xfrm>
            <a:off x="4828032" y="1548384"/>
            <a:ext cx="3928622" cy="1417320"/>
          </a:xfrm>
          <a:prstGeom prst="rect">
            <a:avLst/>
          </a:prstGeom>
          <a:solidFill>
            <a:srgbClr val="03070D"/>
          </a:solidFill>
          <a:ln/>
        </p:spPr>
        <p:txBody>
          <a:bodyPr wrap="square" rtlCol="0" anchor="ctr"/>
          <a:lstStyle/>
          <a:p>
            <a:pPr marL="0" indent="0">
              <a:buNone/>
            </a:pPr>
            <a:r>
              <a:rPr lang="en-US" sz="1200" dirty="0">
                <a:solidFill>
                  <a:srgbClr val="E5E0D8"/>
                </a:solidFill>
                <a:latin typeface="Arial" pitchFamily="34" charset="0"/>
                <a:ea typeface="Arial" pitchFamily="34" charset="-122"/>
                <a:cs typeface="Arial" pitchFamily="34" charset="-120"/>
              </a:rPr>
              <a:t>The engine then re-accelerates from standstill at its lowest efficiency point — burning maximum fuel to restore the momentum that was just discarded. This is the most expensive moment in any journey.</a:t>
            </a:r>
            <a:endParaRPr lang="en-US" sz="1200" dirty="0"/>
          </a:p>
        </p:txBody>
      </p:sp>
      <p:sp>
        <p:nvSpPr>
          <p:cNvPr id="13" name="Shape 11"/>
          <p:cNvSpPr/>
          <p:nvPr/>
        </p:nvSpPr>
        <p:spPr>
          <a:xfrm>
            <a:off x="411479" y="3230880"/>
            <a:ext cx="1932273" cy="1005840"/>
          </a:xfrm>
          <a:prstGeom prst="rect">
            <a:avLst/>
          </a:prstGeom>
          <a:solidFill>
            <a:srgbClr val="08111E"/>
          </a:solidFill>
          <a:ln w="12700">
            <a:solidFill>
              <a:srgbClr val="F0B429"/>
            </a:solidFill>
            <a:prstDash val="solid"/>
          </a:ln>
        </p:spPr>
        <p:txBody>
          <a:bodyPr/>
          <a:lstStyle/>
          <a:p>
            <a:endParaRPr lang="en-GB"/>
          </a:p>
        </p:txBody>
      </p:sp>
      <p:sp>
        <p:nvSpPr>
          <p:cNvPr id="14" name="Text 12"/>
          <p:cNvSpPr/>
          <p:nvPr/>
        </p:nvSpPr>
        <p:spPr>
          <a:xfrm>
            <a:off x="530352" y="3276600"/>
            <a:ext cx="1764249" cy="201168"/>
          </a:xfrm>
          <a:prstGeom prst="rect">
            <a:avLst/>
          </a:prstGeom>
          <a:solidFill>
            <a:srgbClr val="08111E"/>
          </a:solid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Cars burn</a:t>
            </a:r>
            <a:endParaRPr lang="en-US" sz="900" dirty="0"/>
          </a:p>
        </p:txBody>
      </p:sp>
      <p:sp>
        <p:nvSpPr>
          <p:cNvPr id="15" name="Text 13"/>
          <p:cNvSpPr/>
          <p:nvPr/>
        </p:nvSpPr>
        <p:spPr>
          <a:xfrm>
            <a:off x="530352" y="3468624"/>
            <a:ext cx="1764249" cy="292608"/>
          </a:xfrm>
          <a:prstGeom prst="rect">
            <a:avLst/>
          </a:prstGeom>
          <a:solidFill>
            <a:srgbClr val="08111E"/>
          </a:solidFill>
          <a:ln/>
        </p:spPr>
        <p:txBody>
          <a:bodyPr wrap="square" rtlCol="0" anchor="ctr"/>
          <a:lstStyle/>
          <a:p>
            <a:pPr marL="0" indent="0">
              <a:buNone/>
            </a:pPr>
            <a:r>
              <a:rPr lang="en-US" sz="1400" b="1" dirty="0">
                <a:solidFill>
                  <a:srgbClr val="F0B429"/>
                </a:solidFill>
                <a:latin typeface="Arial" pitchFamily="34" charset="0"/>
                <a:ea typeface="Arial" pitchFamily="34" charset="-122"/>
                <a:cs typeface="Arial" pitchFamily="34" charset="-120"/>
              </a:rPr>
              <a:t>67% MORE FUEL</a:t>
            </a:r>
            <a:endParaRPr lang="en-US" sz="1400" dirty="0"/>
          </a:p>
        </p:txBody>
      </p:sp>
      <p:sp>
        <p:nvSpPr>
          <p:cNvPr id="16" name="Text 14"/>
          <p:cNvSpPr/>
          <p:nvPr/>
        </p:nvSpPr>
        <p:spPr>
          <a:xfrm>
            <a:off x="530352" y="3761232"/>
            <a:ext cx="1764249" cy="228600"/>
          </a:xfrm>
          <a:prstGeom prst="rect">
            <a:avLst/>
          </a:prstGeom>
          <a:solidFill>
            <a:srgbClr val="08111E"/>
          </a:solid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at every stop vs cruising</a:t>
            </a:r>
            <a:endParaRPr lang="en-US" sz="900" dirty="0"/>
          </a:p>
        </p:txBody>
      </p:sp>
      <p:sp>
        <p:nvSpPr>
          <p:cNvPr id="17" name="Shape 15"/>
          <p:cNvSpPr/>
          <p:nvPr/>
        </p:nvSpPr>
        <p:spPr>
          <a:xfrm>
            <a:off x="2606039" y="3230880"/>
            <a:ext cx="1932273" cy="1005840"/>
          </a:xfrm>
          <a:prstGeom prst="rect">
            <a:avLst/>
          </a:prstGeom>
          <a:solidFill>
            <a:srgbClr val="08111E"/>
          </a:solidFill>
          <a:ln w="12700">
            <a:solidFill>
              <a:srgbClr val="F0B429"/>
            </a:solidFill>
            <a:prstDash val="solid"/>
          </a:ln>
        </p:spPr>
        <p:txBody>
          <a:bodyPr/>
          <a:lstStyle/>
          <a:p>
            <a:endParaRPr lang="en-GB"/>
          </a:p>
        </p:txBody>
      </p:sp>
      <p:sp>
        <p:nvSpPr>
          <p:cNvPr id="18" name="Text 16"/>
          <p:cNvSpPr/>
          <p:nvPr/>
        </p:nvSpPr>
        <p:spPr>
          <a:xfrm>
            <a:off x="2724912" y="3276600"/>
            <a:ext cx="1764249" cy="201168"/>
          </a:xfrm>
          <a:prstGeom prst="rect">
            <a:avLst/>
          </a:prstGeom>
          <a:solidFill>
            <a:srgbClr val="08111E"/>
          </a:solid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HGVs burn</a:t>
            </a:r>
            <a:endParaRPr lang="en-US" sz="900" dirty="0"/>
          </a:p>
        </p:txBody>
      </p:sp>
      <p:sp>
        <p:nvSpPr>
          <p:cNvPr id="19" name="Text 17"/>
          <p:cNvSpPr/>
          <p:nvPr/>
        </p:nvSpPr>
        <p:spPr>
          <a:xfrm>
            <a:off x="2724912" y="3468624"/>
            <a:ext cx="1764249" cy="292608"/>
          </a:xfrm>
          <a:prstGeom prst="rect">
            <a:avLst/>
          </a:prstGeom>
          <a:solidFill>
            <a:srgbClr val="08111E"/>
          </a:solidFill>
          <a:ln/>
        </p:spPr>
        <p:txBody>
          <a:bodyPr wrap="square" rtlCol="0" anchor="ctr"/>
          <a:lstStyle/>
          <a:p>
            <a:pPr marL="0" indent="0">
              <a:buNone/>
            </a:pPr>
            <a:r>
              <a:rPr lang="en-US" sz="1400" b="1" dirty="0">
                <a:solidFill>
                  <a:srgbClr val="F0B429"/>
                </a:solidFill>
                <a:latin typeface="Arial" pitchFamily="34" charset="0"/>
                <a:ea typeface="Arial" pitchFamily="34" charset="-122"/>
                <a:cs typeface="Arial" pitchFamily="34" charset="-120"/>
              </a:rPr>
              <a:t>87% MORE FUEL</a:t>
            </a:r>
            <a:endParaRPr lang="en-US" sz="1400" dirty="0"/>
          </a:p>
        </p:txBody>
      </p:sp>
      <p:sp>
        <p:nvSpPr>
          <p:cNvPr id="20" name="Text 18"/>
          <p:cNvSpPr/>
          <p:nvPr/>
        </p:nvSpPr>
        <p:spPr>
          <a:xfrm>
            <a:off x="2724912" y="3761232"/>
            <a:ext cx="1764249" cy="228600"/>
          </a:xfrm>
          <a:prstGeom prst="rect">
            <a:avLst/>
          </a:prstGeom>
          <a:solidFill>
            <a:srgbClr val="08111E"/>
          </a:solid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at every stop vs cruising</a:t>
            </a:r>
            <a:endParaRPr lang="en-US" sz="900" dirty="0"/>
          </a:p>
        </p:txBody>
      </p:sp>
      <p:sp>
        <p:nvSpPr>
          <p:cNvPr id="21" name="Shape 19"/>
          <p:cNvSpPr/>
          <p:nvPr/>
        </p:nvSpPr>
        <p:spPr>
          <a:xfrm>
            <a:off x="4800599" y="3230880"/>
            <a:ext cx="1932273" cy="1005840"/>
          </a:xfrm>
          <a:prstGeom prst="rect">
            <a:avLst/>
          </a:prstGeom>
          <a:solidFill>
            <a:srgbClr val="08111E"/>
          </a:solidFill>
          <a:ln w="12700">
            <a:solidFill>
              <a:srgbClr val="22D3EE"/>
            </a:solidFill>
            <a:prstDash val="solid"/>
          </a:ln>
        </p:spPr>
        <p:txBody>
          <a:bodyPr/>
          <a:lstStyle/>
          <a:p>
            <a:endParaRPr lang="en-GB"/>
          </a:p>
        </p:txBody>
      </p:sp>
      <p:sp>
        <p:nvSpPr>
          <p:cNvPr id="22" name="Text 20"/>
          <p:cNvSpPr/>
          <p:nvPr/>
        </p:nvSpPr>
        <p:spPr>
          <a:xfrm>
            <a:off x="4919472" y="3276600"/>
            <a:ext cx="1764249" cy="201168"/>
          </a:xfrm>
          <a:prstGeom prst="rect">
            <a:avLst/>
          </a:prstGeom>
          <a:solidFill>
            <a:srgbClr val="08111E"/>
          </a:solid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Wasted energy</a:t>
            </a:r>
            <a:endParaRPr lang="en-US" sz="900" dirty="0"/>
          </a:p>
        </p:txBody>
      </p:sp>
      <p:sp>
        <p:nvSpPr>
          <p:cNvPr id="23" name="Text 21"/>
          <p:cNvSpPr/>
          <p:nvPr/>
        </p:nvSpPr>
        <p:spPr>
          <a:xfrm>
            <a:off x="4919472" y="3468624"/>
            <a:ext cx="1764249" cy="292608"/>
          </a:xfrm>
          <a:prstGeom prst="rect">
            <a:avLst/>
          </a:prstGeom>
          <a:solidFill>
            <a:srgbClr val="08111E"/>
          </a:solidFill>
          <a:ln/>
        </p:spPr>
        <p:txBody>
          <a:bodyPr wrap="square" rtlCol="0" anchor="ctr"/>
          <a:lstStyle/>
          <a:p>
            <a:pPr marL="0" indent="0">
              <a:buNone/>
            </a:pPr>
            <a:r>
              <a:rPr lang="en-US" sz="1400" b="1" dirty="0">
                <a:solidFill>
                  <a:srgbClr val="22D3EE"/>
                </a:solidFill>
                <a:latin typeface="Arial" pitchFamily="34" charset="0"/>
                <a:ea typeface="Arial" pitchFamily="34" charset="-122"/>
                <a:cs typeface="Arial" pitchFamily="34" charset="-120"/>
              </a:rPr>
              <a:t>8 GWh / yr</a:t>
            </a:r>
            <a:endParaRPr lang="en-US" sz="1400" dirty="0"/>
          </a:p>
        </p:txBody>
      </p:sp>
      <p:sp>
        <p:nvSpPr>
          <p:cNvPr id="24" name="Text 22"/>
          <p:cNvSpPr/>
          <p:nvPr/>
        </p:nvSpPr>
        <p:spPr>
          <a:xfrm>
            <a:off x="4919472" y="3761232"/>
            <a:ext cx="1764249" cy="228600"/>
          </a:xfrm>
          <a:prstGeom prst="rect">
            <a:avLst/>
          </a:prstGeom>
          <a:solidFill>
            <a:srgbClr val="08111E"/>
          </a:solid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per busy junction</a:t>
            </a:r>
            <a:endParaRPr lang="en-US" sz="900" dirty="0"/>
          </a:p>
        </p:txBody>
      </p:sp>
      <p:sp>
        <p:nvSpPr>
          <p:cNvPr id="25" name="Shape 23"/>
          <p:cNvSpPr/>
          <p:nvPr/>
        </p:nvSpPr>
        <p:spPr>
          <a:xfrm>
            <a:off x="6995159" y="3230880"/>
            <a:ext cx="1932273" cy="1005840"/>
          </a:xfrm>
          <a:prstGeom prst="rect">
            <a:avLst/>
          </a:prstGeom>
          <a:solidFill>
            <a:srgbClr val="08111E"/>
          </a:solidFill>
          <a:ln w="12700">
            <a:solidFill>
              <a:srgbClr val="E24B4A"/>
            </a:solidFill>
            <a:prstDash val="solid"/>
          </a:ln>
        </p:spPr>
        <p:txBody>
          <a:bodyPr/>
          <a:lstStyle/>
          <a:p>
            <a:endParaRPr lang="en-GB"/>
          </a:p>
        </p:txBody>
      </p:sp>
      <p:sp>
        <p:nvSpPr>
          <p:cNvPr id="26" name="Text 24"/>
          <p:cNvSpPr/>
          <p:nvPr/>
        </p:nvSpPr>
        <p:spPr>
          <a:xfrm>
            <a:off x="7114032" y="3276600"/>
            <a:ext cx="1764249" cy="201168"/>
          </a:xfrm>
          <a:prstGeom prst="rect">
            <a:avLst/>
          </a:prstGeom>
          <a:solidFill>
            <a:srgbClr val="08111E"/>
          </a:solid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CO₂ emitted</a:t>
            </a:r>
            <a:endParaRPr lang="en-US" sz="900" dirty="0"/>
          </a:p>
        </p:txBody>
      </p:sp>
      <p:sp>
        <p:nvSpPr>
          <p:cNvPr id="27" name="Text 25"/>
          <p:cNvSpPr/>
          <p:nvPr/>
        </p:nvSpPr>
        <p:spPr>
          <a:xfrm>
            <a:off x="7114032" y="3468624"/>
            <a:ext cx="1764249" cy="292608"/>
          </a:xfrm>
          <a:prstGeom prst="rect">
            <a:avLst/>
          </a:prstGeom>
          <a:solidFill>
            <a:srgbClr val="08111E"/>
          </a:solidFill>
          <a:ln/>
        </p:spPr>
        <p:txBody>
          <a:bodyPr wrap="square" rtlCol="0" anchor="ctr"/>
          <a:lstStyle/>
          <a:p>
            <a:pPr marL="0" indent="0">
              <a:buNone/>
            </a:pPr>
            <a:r>
              <a:rPr lang="en-US" sz="1400" b="1" dirty="0">
                <a:solidFill>
                  <a:srgbClr val="E24B4A"/>
                </a:solidFill>
                <a:latin typeface="Arial" pitchFamily="34" charset="0"/>
                <a:ea typeface="Arial" pitchFamily="34" charset="-122"/>
                <a:cs typeface="Arial" pitchFamily="34" charset="-120"/>
              </a:rPr>
              <a:t>2,000 t / yr</a:t>
            </a:r>
            <a:endParaRPr lang="en-US" sz="1400" dirty="0"/>
          </a:p>
        </p:txBody>
      </p:sp>
      <p:sp>
        <p:nvSpPr>
          <p:cNvPr id="28" name="Text 26"/>
          <p:cNvSpPr/>
          <p:nvPr/>
        </p:nvSpPr>
        <p:spPr>
          <a:xfrm>
            <a:off x="7114032" y="3761232"/>
            <a:ext cx="1764249" cy="228600"/>
          </a:xfrm>
          <a:prstGeom prst="rect">
            <a:avLst/>
          </a:prstGeom>
          <a:solidFill>
            <a:srgbClr val="08111E"/>
          </a:solid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per junction — needlessly</a:t>
            </a:r>
          </a:p>
          <a:p>
            <a:r>
              <a:rPr lang="en-US" sz="900" dirty="0">
                <a:solidFill>
                  <a:srgbClr val="9CA3AF"/>
                </a:solidFill>
                <a:latin typeface="Arial" pitchFamily="34" charset="0"/>
                <a:cs typeface="Arial" pitchFamily="34" charset="-120"/>
              </a:rPr>
              <a:t>Or </a:t>
            </a:r>
            <a:r>
              <a:rPr lang="en-US" sz="900" dirty="0">
                <a:solidFill>
                  <a:srgbClr val="E24B4A"/>
                </a:solidFill>
                <a:latin typeface="Arial" pitchFamily="34" charset="0"/>
                <a:cs typeface="Arial" pitchFamily="34" charset="-120"/>
              </a:rPr>
              <a:t>1.1 Million m3 of </a:t>
            </a:r>
            <a:r>
              <a:rPr lang="en-US" sz="900" dirty="0">
                <a:solidFill>
                  <a:srgbClr val="E24B4A"/>
                </a:solidFill>
                <a:latin typeface="Arial" pitchFamily="34" charset="0"/>
                <a:ea typeface="Arial" pitchFamily="34" charset="-122"/>
                <a:cs typeface="Arial" pitchFamily="34" charset="-120"/>
              </a:rPr>
              <a:t>CO₂</a:t>
            </a:r>
            <a:r>
              <a:rPr lang="en-US" sz="900" dirty="0">
                <a:solidFill>
                  <a:srgbClr val="E24B4A"/>
                </a:solidFill>
                <a:latin typeface="Arial" pitchFamily="34" charset="0"/>
                <a:cs typeface="Arial" pitchFamily="34" charset="-120"/>
              </a:rPr>
              <a:t> </a:t>
            </a:r>
            <a:endParaRPr lang="en-US" sz="900" dirty="0">
              <a:solidFill>
                <a:srgbClr val="E24B4A"/>
              </a:solidFill>
            </a:endParaRPr>
          </a:p>
        </p:txBody>
      </p:sp>
      <p:sp>
        <p:nvSpPr>
          <p:cNvPr id="31" name="Shape 29"/>
          <p:cNvSpPr/>
          <p:nvPr/>
        </p:nvSpPr>
        <p:spPr>
          <a:xfrm>
            <a:off x="0" y="4892040"/>
            <a:ext cx="9144000" cy="251460"/>
          </a:xfrm>
          <a:prstGeom prst="rect">
            <a:avLst/>
          </a:prstGeom>
          <a:solidFill>
            <a:srgbClr val="03070D"/>
          </a:solidFill>
          <a:ln w="12700">
            <a:solidFill>
              <a:srgbClr val="0D1B2E"/>
            </a:solidFill>
            <a:prstDash val="solid"/>
          </a:ln>
        </p:spPr>
        <p:txBody>
          <a:bodyPr/>
          <a:lstStyle/>
          <a:p>
            <a:endParaRPr lang="en-GB"/>
          </a:p>
        </p:txBody>
      </p:sp>
      <p:sp>
        <p:nvSpPr>
          <p:cNvPr id="32" name="Shape 30"/>
          <p:cNvSpPr/>
          <p:nvPr/>
        </p:nvSpPr>
        <p:spPr>
          <a:xfrm>
            <a:off x="0" y="4892040"/>
            <a:ext cx="9144000" cy="27432"/>
          </a:xfrm>
          <a:prstGeom prst="rect">
            <a:avLst/>
          </a:prstGeom>
          <a:solidFill>
            <a:srgbClr val="B87333"/>
          </a:solidFill>
          <a:ln w="12700">
            <a:solidFill>
              <a:srgbClr val="B87333"/>
            </a:solidFill>
            <a:prstDash val="solid"/>
          </a:ln>
        </p:spPr>
        <p:txBody>
          <a:bodyPr/>
          <a:lstStyle/>
          <a:p>
            <a:endParaRPr lang="en-GB"/>
          </a:p>
        </p:txBody>
      </p:sp>
      <p:sp>
        <p:nvSpPr>
          <p:cNvPr id="33" name="Text 31"/>
          <p:cNvSpPr/>
          <p:nvPr/>
        </p:nvSpPr>
        <p:spPr>
          <a:xfrm>
            <a:off x="320040" y="4901184"/>
            <a:ext cx="4572000" cy="228600"/>
          </a:xfrm>
          <a:prstGeom prst="rect">
            <a:avLst/>
          </a:prstGeom>
          <a:noFill/>
          <a:ln/>
        </p:spPr>
        <p:txBody>
          <a:bodyPr wrap="square" rtlCol="0" anchor="ctr"/>
          <a:lstStyle/>
          <a:p>
            <a:pPr marL="0" indent="0">
              <a:buNone/>
            </a:pPr>
            <a:r>
              <a:rPr lang="en-US" sz="800" dirty="0">
                <a:solidFill>
                  <a:srgbClr val="B87333"/>
                </a:solidFill>
                <a:latin typeface="Arial" pitchFamily="34" charset="0"/>
                <a:ea typeface="Arial" pitchFamily="34" charset="-122"/>
                <a:cs typeface="Arial" pitchFamily="34" charset="-120"/>
              </a:rPr>
              <a:t>UMPIREAL  ·  CONFIDENTIAL</a:t>
            </a:r>
            <a:endParaRPr lang="en-US" sz="800" dirty="0"/>
          </a:p>
        </p:txBody>
      </p:sp>
      <p:sp>
        <p:nvSpPr>
          <p:cNvPr id="34" name="Text 32"/>
          <p:cNvSpPr/>
          <p:nvPr/>
        </p:nvSpPr>
        <p:spPr>
          <a:xfrm>
            <a:off x="4572000" y="4901184"/>
            <a:ext cx="4251960" cy="228600"/>
          </a:xfrm>
          <a:prstGeom prst="rect">
            <a:avLst/>
          </a:prstGeom>
          <a:noFill/>
          <a:ln/>
        </p:spPr>
        <p:txBody>
          <a:bodyPr wrap="square" rtlCol="0" anchor="ctr"/>
          <a:lstStyle/>
          <a:p>
            <a:pPr marL="0" indent="0" algn="r">
              <a:buNone/>
            </a:pPr>
            <a:r>
              <a:rPr lang="en-US" sz="800" dirty="0">
                <a:solidFill>
                  <a:srgbClr val="9CA3AF"/>
                </a:solidFill>
                <a:latin typeface="Arial" pitchFamily="34" charset="0"/>
                <a:ea typeface="Arial" pitchFamily="34" charset="-122"/>
                <a:cs typeface="Arial" pitchFamily="34" charset="-120"/>
              </a:rPr>
              <a:t>01 — The Problem</a:t>
            </a:r>
            <a:endParaRPr lang="en-US" sz="800" dirty="0"/>
          </a:p>
        </p:txBody>
      </p:sp>
      <p:sp>
        <p:nvSpPr>
          <p:cNvPr id="30" name="Text 28"/>
          <p:cNvSpPr/>
          <p:nvPr/>
        </p:nvSpPr>
        <p:spPr>
          <a:xfrm>
            <a:off x="411480" y="4355592"/>
            <a:ext cx="8515952" cy="347472"/>
          </a:xfrm>
          <a:prstGeom prst="rect">
            <a:avLst/>
          </a:prstGeom>
          <a:noFill/>
          <a:ln>
            <a:solidFill>
              <a:srgbClr val="FDCC9C"/>
            </a:solidFill>
          </a:ln>
        </p:spPr>
        <p:txBody>
          <a:bodyPr wrap="square" rtlCol="0" anchor="ctr"/>
          <a:lstStyle/>
          <a:p>
            <a:pPr marL="0" indent="0">
              <a:buNone/>
            </a:pPr>
            <a:r>
              <a:rPr lang="en-US" sz="1050" i="1" dirty="0">
                <a:solidFill>
                  <a:srgbClr val="FDCC9C"/>
                </a:solidFill>
                <a:latin typeface="Arial" pitchFamily="34" charset="0"/>
                <a:ea typeface="Arial" pitchFamily="34" charset="-122"/>
                <a:cs typeface="Arial" pitchFamily="34" charset="-120"/>
              </a:rPr>
              <a:t>For 30 years, Euro 1 to Euro 6 policy improved engines. Nobody applied a single standard to the road itself. The junction stayed broken.  UMPIREAL is a leap to euro 10 in one bound.</a:t>
            </a:r>
            <a:endParaRPr lang="en-US" sz="1050" dirty="0">
              <a:solidFill>
                <a:srgbClr val="FDCC9C"/>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11480" y="164592"/>
            <a:ext cx="54864" cy="384048"/>
          </a:xfrm>
          <a:prstGeom prst="rect">
            <a:avLst/>
          </a:prstGeom>
          <a:solidFill>
            <a:srgbClr val="22F6AF"/>
          </a:solidFill>
          <a:ln w="12700">
            <a:solidFill>
              <a:srgbClr val="22F6AF"/>
            </a:solidFill>
            <a:prstDash val="solid"/>
          </a:ln>
        </p:spPr>
        <p:txBody>
          <a:bodyPr/>
          <a:lstStyle/>
          <a:p>
            <a:endParaRPr lang="en-GB"/>
          </a:p>
        </p:txBody>
      </p:sp>
      <p:sp>
        <p:nvSpPr>
          <p:cNvPr id="3" name="Text 1"/>
          <p:cNvSpPr/>
          <p:nvPr/>
        </p:nvSpPr>
        <p:spPr>
          <a:xfrm>
            <a:off x="548640" y="155448"/>
            <a:ext cx="8229600" cy="411480"/>
          </a:xfrm>
          <a:prstGeom prst="rect">
            <a:avLst/>
          </a:prstGeom>
          <a:noFill/>
          <a:ln/>
        </p:spPr>
        <p:txBody>
          <a:bodyPr wrap="square" rtlCol="0" anchor="ctr"/>
          <a:lstStyle/>
          <a:p>
            <a:pPr marL="0" indent="0">
              <a:buNone/>
            </a:pPr>
            <a:r>
              <a:rPr lang="en-US" sz="1100" b="1" kern="0" spc="300" dirty="0">
                <a:solidFill>
                  <a:srgbClr val="22F6AF"/>
                </a:solidFill>
                <a:latin typeface="Arial" pitchFamily="34" charset="0"/>
                <a:ea typeface="Arial" pitchFamily="34" charset="-122"/>
                <a:cs typeface="Arial" pitchFamily="34" charset="-120"/>
              </a:rPr>
              <a:t>THE SOLUTION</a:t>
            </a:r>
            <a:endParaRPr lang="en-US" sz="1100" dirty="0">
              <a:solidFill>
                <a:srgbClr val="22F6AF"/>
              </a:solidFill>
            </a:endParaRPr>
          </a:p>
        </p:txBody>
      </p:sp>
      <p:sp>
        <p:nvSpPr>
          <p:cNvPr id="4" name="Text 2"/>
          <p:cNvSpPr/>
          <p:nvPr/>
        </p:nvSpPr>
        <p:spPr>
          <a:xfrm>
            <a:off x="411480" y="594360"/>
            <a:ext cx="8321040" cy="502920"/>
          </a:xfrm>
          <a:prstGeom prst="rect">
            <a:avLst/>
          </a:prstGeom>
          <a:noFill/>
          <a:ln/>
        </p:spPr>
        <p:txBody>
          <a:bodyPr wrap="square" rtlCol="0" anchor="ctr"/>
          <a:lstStyle/>
          <a:p>
            <a:pPr marL="0" indent="0">
              <a:buNone/>
            </a:pPr>
            <a:r>
              <a:rPr lang="en-US" sz="2400" b="1" spc="300" dirty="0">
                <a:solidFill>
                  <a:srgbClr val="22D3EE"/>
                </a:solidFill>
                <a:latin typeface="911 Porscha Bold" pitchFamily="2" charset="0"/>
                <a:ea typeface="Arial" pitchFamily="34" charset="-122"/>
                <a:cs typeface="Arial" pitchFamily="34" charset="-120"/>
              </a:rPr>
              <a:t>THE BÉAR CROSSING</a:t>
            </a:r>
            <a:endParaRPr lang="en-US" sz="2400" spc="300" dirty="0">
              <a:solidFill>
                <a:srgbClr val="22D3EE"/>
              </a:solidFill>
              <a:latin typeface="911 Porscha Bold" pitchFamily="2" charset="0"/>
            </a:endParaRPr>
          </a:p>
        </p:txBody>
      </p:sp>
      <p:sp>
        <p:nvSpPr>
          <p:cNvPr id="5" name="Shape 3"/>
          <p:cNvSpPr/>
          <p:nvPr/>
        </p:nvSpPr>
        <p:spPr>
          <a:xfrm>
            <a:off x="411480" y="1188720"/>
            <a:ext cx="8321040" cy="640080"/>
          </a:xfrm>
          <a:prstGeom prst="rect">
            <a:avLst/>
          </a:prstGeom>
          <a:solidFill>
            <a:srgbClr val="03070D"/>
          </a:solidFill>
          <a:ln w="12700">
            <a:solidFill>
              <a:srgbClr val="22D3EE"/>
            </a:solidFill>
            <a:prstDash val="solid"/>
          </a:ln>
        </p:spPr>
        <p:txBody>
          <a:bodyPr/>
          <a:lstStyle/>
          <a:p>
            <a:endParaRPr lang="en-GB">
              <a:solidFill>
                <a:schemeClr val="bg1">
                  <a:lumMod val="95000"/>
                </a:schemeClr>
              </a:solidFill>
            </a:endParaRPr>
          </a:p>
        </p:txBody>
      </p:sp>
      <p:sp>
        <p:nvSpPr>
          <p:cNvPr id="6" name="Shape 4"/>
          <p:cNvSpPr/>
          <p:nvPr/>
        </p:nvSpPr>
        <p:spPr>
          <a:xfrm>
            <a:off x="411480" y="1188720"/>
            <a:ext cx="64008" cy="640080"/>
          </a:xfrm>
          <a:prstGeom prst="rect">
            <a:avLst/>
          </a:prstGeom>
          <a:solidFill>
            <a:srgbClr val="03070D"/>
          </a:solidFill>
          <a:ln w="12700">
            <a:solidFill>
              <a:srgbClr val="22D3EE"/>
            </a:solidFill>
            <a:prstDash val="solid"/>
          </a:ln>
        </p:spPr>
        <p:txBody>
          <a:bodyPr/>
          <a:lstStyle/>
          <a:p>
            <a:endParaRPr lang="en-GB">
              <a:solidFill>
                <a:schemeClr val="bg1">
                  <a:lumMod val="95000"/>
                </a:schemeClr>
              </a:solidFill>
            </a:endParaRPr>
          </a:p>
        </p:txBody>
      </p:sp>
      <p:sp>
        <p:nvSpPr>
          <p:cNvPr id="7" name="Text 5"/>
          <p:cNvSpPr/>
          <p:nvPr/>
        </p:nvSpPr>
        <p:spPr>
          <a:xfrm>
            <a:off x="594360" y="1216152"/>
            <a:ext cx="7955280" cy="566928"/>
          </a:xfrm>
          <a:prstGeom prst="rect">
            <a:avLst/>
          </a:prstGeom>
          <a:solidFill>
            <a:srgbClr val="03070D"/>
          </a:solidFill>
          <a:ln/>
        </p:spPr>
        <p:txBody>
          <a:bodyPr wrap="square" rtlCol="0" anchor="ctr"/>
          <a:lstStyle/>
          <a:p>
            <a:pPr marL="0" indent="0">
              <a:buNone/>
            </a:pPr>
            <a:r>
              <a:rPr lang="en-US" sz="1300" dirty="0">
                <a:solidFill>
                  <a:schemeClr val="bg1">
                    <a:lumMod val="95000"/>
                  </a:schemeClr>
                </a:solidFill>
                <a:latin typeface="Arial" pitchFamily="34" charset="0"/>
                <a:ea typeface="Arial" pitchFamily="34" charset="-122"/>
                <a:cs typeface="Arial" pitchFamily="34" charset="-120"/>
              </a:rPr>
              <a:t>The BÉAR Crossing is a road junction geometry that routes pedestrians safely underneath the road so vehicles never stop. No stopping = no kinetic energy lost to brake heat. No re-acceleration from standstill. No urban heat pulse.</a:t>
            </a:r>
            <a:endParaRPr lang="en-US" sz="1300" dirty="0">
              <a:solidFill>
                <a:schemeClr val="bg1">
                  <a:lumMod val="95000"/>
                </a:schemeClr>
              </a:solidFill>
            </a:endParaRPr>
          </a:p>
        </p:txBody>
      </p:sp>
      <p:sp>
        <p:nvSpPr>
          <p:cNvPr id="8" name="Shape 6"/>
          <p:cNvSpPr/>
          <p:nvPr/>
        </p:nvSpPr>
        <p:spPr>
          <a:xfrm>
            <a:off x="411480" y="1965960"/>
            <a:ext cx="2560320" cy="2240280"/>
          </a:xfrm>
          <a:prstGeom prst="rect">
            <a:avLst/>
          </a:prstGeom>
          <a:solidFill>
            <a:srgbClr val="08111E"/>
          </a:solidFill>
          <a:ln w="12700">
            <a:solidFill>
              <a:srgbClr val="F0B429"/>
            </a:solidFill>
            <a:prstDash val="solid"/>
          </a:ln>
        </p:spPr>
        <p:txBody>
          <a:bodyPr/>
          <a:lstStyle/>
          <a:p>
            <a:endParaRPr lang="en-GB"/>
          </a:p>
        </p:txBody>
      </p:sp>
      <p:sp>
        <p:nvSpPr>
          <p:cNvPr id="9" name="Shape 7"/>
          <p:cNvSpPr/>
          <p:nvPr/>
        </p:nvSpPr>
        <p:spPr>
          <a:xfrm>
            <a:off x="411480" y="1965960"/>
            <a:ext cx="2560320" cy="45720"/>
          </a:xfrm>
          <a:prstGeom prst="rect">
            <a:avLst/>
          </a:prstGeom>
          <a:solidFill>
            <a:srgbClr val="08111E"/>
          </a:solidFill>
          <a:ln w="12700">
            <a:solidFill>
              <a:srgbClr val="F0B429"/>
            </a:solidFill>
            <a:prstDash val="solid"/>
          </a:ln>
        </p:spPr>
        <p:txBody>
          <a:bodyPr/>
          <a:lstStyle/>
          <a:p>
            <a:endParaRPr lang="en-GB"/>
          </a:p>
        </p:txBody>
      </p:sp>
      <p:sp>
        <p:nvSpPr>
          <p:cNvPr id="10" name="Text 8"/>
          <p:cNvSpPr/>
          <p:nvPr/>
        </p:nvSpPr>
        <p:spPr>
          <a:xfrm>
            <a:off x="548640" y="2029968"/>
            <a:ext cx="2308485" cy="256032"/>
          </a:xfrm>
          <a:prstGeom prst="rect">
            <a:avLst/>
          </a:prstGeom>
          <a:solidFill>
            <a:srgbClr val="08111E"/>
          </a:solidFill>
          <a:ln/>
        </p:spPr>
        <p:txBody>
          <a:bodyPr wrap="square" rtlCol="0" anchor="ctr"/>
          <a:lstStyle/>
          <a:p>
            <a:pPr marL="0" indent="0">
              <a:buNone/>
            </a:pPr>
            <a:r>
              <a:rPr lang="en-US" sz="1300" b="1" kern="0" spc="100" dirty="0">
                <a:solidFill>
                  <a:srgbClr val="F0B429"/>
                </a:solidFill>
                <a:latin typeface="Arial" pitchFamily="34" charset="0"/>
                <a:ea typeface="Arial" pitchFamily="34" charset="-122"/>
                <a:cs typeface="Arial" pitchFamily="34" charset="-120"/>
              </a:rPr>
              <a:t>TRAFFIC</a:t>
            </a:r>
            <a:endParaRPr lang="en-US" sz="1300" dirty="0"/>
          </a:p>
        </p:txBody>
      </p:sp>
      <p:sp>
        <p:nvSpPr>
          <p:cNvPr id="11" name="Text 9"/>
          <p:cNvSpPr/>
          <p:nvPr/>
        </p:nvSpPr>
        <p:spPr>
          <a:xfrm>
            <a:off x="548640" y="2286000"/>
            <a:ext cx="2308485" cy="228600"/>
          </a:xfrm>
          <a:prstGeom prst="rect">
            <a:avLst/>
          </a:prstGeom>
          <a:solidFill>
            <a:srgbClr val="08111E"/>
          </a:solidFill>
          <a:ln/>
        </p:spPr>
        <p:txBody>
          <a:bodyPr wrap="square" rtlCol="0" anchor="ctr"/>
          <a:lstStyle/>
          <a:p>
            <a:pPr marL="0" indent="0">
              <a:buNone/>
            </a:pPr>
            <a:r>
              <a:rPr lang="en-US" sz="1000" i="1" dirty="0">
                <a:solidFill>
                  <a:schemeClr val="tx2">
                    <a:lumMod val="20000"/>
                    <a:lumOff val="80000"/>
                  </a:schemeClr>
                </a:solidFill>
                <a:latin typeface="Arial" pitchFamily="34" charset="0"/>
                <a:ea typeface="Arial" pitchFamily="34" charset="-122"/>
                <a:cs typeface="Arial" pitchFamily="34" charset="-120"/>
              </a:rPr>
              <a:t>Vehicles never stop</a:t>
            </a:r>
            <a:endParaRPr lang="en-US" sz="1000" dirty="0">
              <a:solidFill>
                <a:schemeClr val="tx2">
                  <a:lumMod val="20000"/>
                  <a:lumOff val="80000"/>
                </a:schemeClr>
              </a:solidFill>
            </a:endParaRPr>
          </a:p>
        </p:txBody>
      </p:sp>
      <p:sp>
        <p:nvSpPr>
          <p:cNvPr id="12" name="Text 10"/>
          <p:cNvSpPr/>
          <p:nvPr/>
        </p:nvSpPr>
        <p:spPr>
          <a:xfrm>
            <a:off x="548640" y="2560320"/>
            <a:ext cx="2308485" cy="1554480"/>
          </a:xfrm>
          <a:prstGeom prst="rect">
            <a:avLst/>
          </a:prstGeom>
          <a:solidFill>
            <a:srgbClr val="08111E"/>
          </a:solidFill>
          <a:ln/>
        </p:spPr>
        <p:txBody>
          <a:bodyPr wrap="square" rtlCol="0" anchor="ctr"/>
          <a:lstStyle/>
          <a:p>
            <a:pPr marL="0" indent="0" algn="ctr">
              <a:buNone/>
            </a:pPr>
            <a:r>
              <a:rPr lang="en-US" sz="1150" dirty="0">
                <a:solidFill>
                  <a:schemeClr val="accent5">
                    <a:lumMod val="20000"/>
                    <a:lumOff val="80000"/>
                  </a:schemeClr>
                </a:solidFill>
                <a:latin typeface="Arial" pitchFamily="34" charset="0"/>
                <a:ea typeface="Arial" pitchFamily="34" charset="-122"/>
                <a:cs typeface="Arial" pitchFamily="34" charset="-120"/>
              </a:rPr>
              <a:t>Traffic preserves momentum through the junction. Stop-start friction is permanently eliminated. Every vehicle, every crossing, every day.</a:t>
            </a:r>
            <a:endParaRPr lang="en-US" sz="1150" dirty="0">
              <a:solidFill>
                <a:schemeClr val="accent5">
                  <a:lumMod val="20000"/>
                  <a:lumOff val="80000"/>
                </a:schemeClr>
              </a:solidFill>
            </a:endParaRPr>
          </a:p>
        </p:txBody>
      </p:sp>
      <p:sp>
        <p:nvSpPr>
          <p:cNvPr id="13" name="Shape 11"/>
          <p:cNvSpPr/>
          <p:nvPr/>
        </p:nvSpPr>
        <p:spPr>
          <a:xfrm>
            <a:off x="3291840" y="1965960"/>
            <a:ext cx="2560320" cy="2240280"/>
          </a:xfrm>
          <a:prstGeom prst="rect">
            <a:avLst/>
          </a:prstGeom>
          <a:solidFill>
            <a:srgbClr val="08111E"/>
          </a:solidFill>
          <a:ln w="12700">
            <a:solidFill>
              <a:srgbClr val="22D3EE"/>
            </a:solidFill>
            <a:prstDash val="solid"/>
          </a:ln>
        </p:spPr>
        <p:txBody>
          <a:bodyPr/>
          <a:lstStyle/>
          <a:p>
            <a:endParaRPr lang="en-GB"/>
          </a:p>
        </p:txBody>
      </p:sp>
      <p:sp>
        <p:nvSpPr>
          <p:cNvPr id="14" name="Shape 12"/>
          <p:cNvSpPr/>
          <p:nvPr/>
        </p:nvSpPr>
        <p:spPr>
          <a:xfrm>
            <a:off x="3291840" y="1965960"/>
            <a:ext cx="2560320" cy="45720"/>
          </a:xfrm>
          <a:prstGeom prst="rect">
            <a:avLst/>
          </a:prstGeom>
          <a:solidFill>
            <a:srgbClr val="08111E"/>
          </a:solidFill>
          <a:ln w="12700">
            <a:solidFill>
              <a:srgbClr val="22D3EE"/>
            </a:solidFill>
            <a:prstDash val="solid"/>
          </a:ln>
        </p:spPr>
        <p:txBody>
          <a:bodyPr/>
          <a:lstStyle/>
          <a:p>
            <a:endParaRPr lang="en-GB"/>
          </a:p>
        </p:txBody>
      </p:sp>
      <p:sp>
        <p:nvSpPr>
          <p:cNvPr id="15" name="Text 13"/>
          <p:cNvSpPr/>
          <p:nvPr/>
        </p:nvSpPr>
        <p:spPr>
          <a:xfrm>
            <a:off x="3429000" y="2029968"/>
            <a:ext cx="2308485" cy="256032"/>
          </a:xfrm>
          <a:prstGeom prst="rect">
            <a:avLst/>
          </a:prstGeom>
          <a:solidFill>
            <a:srgbClr val="08111E"/>
          </a:solidFill>
          <a:ln/>
        </p:spPr>
        <p:txBody>
          <a:bodyPr wrap="square" rtlCol="0" anchor="ctr"/>
          <a:lstStyle/>
          <a:p>
            <a:pPr marL="0" indent="0">
              <a:buNone/>
            </a:pPr>
            <a:r>
              <a:rPr lang="en-US" sz="1300" b="1" kern="0" spc="100" dirty="0">
                <a:solidFill>
                  <a:srgbClr val="22D3EE"/>
                </a:solidFill>
                <a:latin typeface="Arial" pitchFamily="34" charset="0"/>
                <a:ea typeface="Arial" pitchFamily="34" charset="-122"/>
                <a:cs typeface="Arial" pitchFamily="34" charset="-120"/>
              </a:rPr>
              <a:t>PEDESTRIANS</a:t>
            </a:r>
            <a:endParaRPr lang="en-US" sz="1300" dirty="0"/>
          </a:p>
        </p:txBody>
      </p:sp>
      <p:sp>
        <p:nvSpPr>
          <p:cNvPr id="16" name="Text 14"/>
          <p:cNvSpPr/>
          <p:nvPr/>
        </p:nvSpPr>
        <p:spPr>
          <a:xfrm>
            <a:off x="3429000" y="2286000"/>
            <a:ext cx="2308485" cy="228600"/>
          </a:xfrm>
          <a:prstGeom prst="rect">
            <a:avLst/>
          </a:prstGeom>
          <a:solidFill>
            <a:srgbClr val="08111E"/>
          </a:solidFill>
          <a:ln/>
        </p:spPr>
        <p:txBody>
          <a:bodyPr wrap="square" rtlCol="0" anchor="ctr"/>
          <a:lstStyle/>
          <a:p>
            <a:pPr marL="0" indent="0">
              <a:buNone/>
            </a:pPr>
            <a:r>
              <a:rPr lang="en-US" sz="1000" i="1" dirty="0">
                <a:solidFill>
                  <a:schemeClr val="tx2">
                    <a:lumMod val="20000"/>
                    <a:lumOff val="80000"/>
                  </a:schemeClr>
                </a:solidFill>
                <a:latin typeface="Arial" pitchFamily="34" charset="0"/>
                <a:ea typeface="Arial" pitchFamily="34" charset="-122"/>
                <a:cs typeface="Arial" pitchFamily="34" charset="-120"/>
              </a:rPr>
              <a:t>Cross safely underneath</a:t>
            </a:r>
            <a:endParaRPr lang="en-US" sz="1000" dirty="0">
              <a:solidFill>
                <a:schemeClr val="tx2">
                  <a:lumMod val="20000"/>
                  <a:lumOff val="80000"/>
                </a:schemeClr>
              </a:solidFill>
            </a:endParaRPr>
          </a:p>
        </p:txBody>
      </p:sp>
      <p:sp>
        <p:nvSpPr>
          <p:cNvPr id="17" name="Text 15"/>
          <p:cNvSpPr/>
          <p:nvPr/>
        </p:nvSpPr>
        <p:spPr>
          <a:xfrm>
            <a:off x="3429000" y="2560320"/>
            <a:ext cx="2308485" cy="1554480"/>
          </a:xfrm>
          <a:prstGeom prst="rect">
            <a:avLst/>
          </a:prstGeom>
          <a:solidFill>
            <a:srgbClr val="08111E"/>
          </a:solidFill>
          <a:ln/>
        </p:spPr>
        <p:txBody>
          <a:bodyPr wrap="square" rtlCol="0" anchor="ctr"/>
          <a:lstStyle/>
          <a:p>
            <a:pPr marL="0" indent="0" algn="ctr">
              <a:buNone/>
            </a:pPr>
            <a:r>
              <a:rPr lang="en-US" sz="1150" dirty="0">
                <a:solidFill>
                  <a:schemeClr val="accent5">
                    <a:lumMod val="20000"/>
                    <a:lumOff val="80000"/>
                  </a:schemeClr>
                </a:solidFill>
                <a:latin typeface="Arial" pitchFamily="34" charset="0"/>
                <a:ea typeface="Arial" pitchFamily="34" charset="-122"/>
                <a:cs typeface="Arial" pitchFamily="34" charset="-120"/>
              </a:rPr>
              <a:t>A dedicated pedestrian underpass runs beneath the raised road. Full DDA compliance, lighting, wayfinding. Safer than a surface crossing at any traffic speed.</a:t>
            </a:r>
            <a:endParaRPr lang="en-US" sz="1150" dirty="0">
              <a:solidFill>
                <a:schemeClr val="accent5">
                  <a:lumMod val="20000"/>
                  <a:lumOff val="80000"/>
                </a:schemeClr>
              </a:solidFill>
            </a:endParaRPr>
          </a:p>
        </p:txBody>
      </p:sp>
      <p:sp>
        <p:nvSpPr>
          <p:cNvPr id="18" name="Shape 16"/>
          <p:cNvSpPr/>
          <p:nvPr/>
        </p:nvSpPr>
        <p:spPr>
          <a:xfrm>
            <a:off x="6172200" y="1965960"/>
            <a:ext cx="2560320" cy="2240280"/>
          </a:xfrm>
          <a:prstGeom prst="rect">
            <a:avLst/>
          </a:prstGeom>
          <a:solidFill>
            <a:srgbClr val="08111E"/>
          </a:solidFill>
          <a:ln w="12700">
            <a:solidFill>
              <a:srgbClr val="FFE1C1"/>
            </a:solidFill>
            <a:prstDash val="solid"/>
          </a:ln>
        </p:spPr>
        <p:txBody>
          <a:bodyPr/>
          <a:lstStyle/>
          <a:p>
            <a:endParaRPr lang="en-GB"/>
          </a:p>
        </p:txBody>
      </p:sp>
      <p:sp>
        <p:nvSpPr>
          <p:cNvPr id="19" name="Shape 17"/>
          <p:cNvSpPr/>
          <p:nvPr/>
        </p:nvSpPr>
        <p:spPr>
          <a:xfrm>
            <a:off x="6172200" y="1965960"/>
            <a:ext cx="2560320" cy="45720"/>
          </a:xfrm>
          <a:prstGeom prst="rect">
            <a:avLst/>
          </a:prstGeom>
          <a:solidFill>
            <a:srgbClr val="08111E"/>
          </a:solidFill>
          <a:ln w="12700">
            <a:solidFill>
              <a:srgbClr val="FFE1C1"/>
            </a:solidFill>
            <a:prstDash val="solid"/>
          </a:ln>
        </p:spPr>
        <p:txBody>
          <a:bodyPr/>
          <a:lstStyle/>
          <a:p>
            <a:endParaRPr lang="en-GB"/>
          </a:p>
        </p:txBody>
      </p:sp>
      <p:sp>
        <p:nvSpPr>
          <p:cNvPr id="20" name="Text 18"/>
          <p:cNvSpPr/>
          <p:nvPr/>
        </p:nvSpPr>
        <p:spPr>
          <a:xfrm>
            <a:off x="6309360" y="2029968"/>
            <a:ext cx="2308485" cy="256032"/>
          </a:xfrm>
          <a:prstGeom prst="rect">
            <a:avLst/>
          </a:prstGeom>
          <a:solidFill>
            <a:srgbClr val="08111E"/>
          </a:solidFill>
          <a:ln/>
        </p:spPr>
        <p:txBody>
          <a:bodyPr wrap="square" rtlCol="0" anchor="ctr"/>
          <a:lstStyle/>
          <a:p>
            <a:pPr marL="0" indent="0">
              <a:buNone/>
            </a:pPr>
            <a:r>
              <a:rPr lang="en-US" sz="1300" b="1" kern="0" spc="100" dirty="0">
                <a:solidFill>
                  <a:srgbClr val="FDCC9C"/>
                </a:solidFill>
                <a:latin typeface="Arial" pitchFamily="34" charset="0"/>
                <a:ea typeface="Arial" pitchFamily="34" charset="-122"/>
                <a:cs typeface="Arial" pitchFamily="34" charset="-120"/>
              </a:rPr>
              <a:t>REAL ESTATE</a:t>
            </a:r>
            <a:endParaRPr lang="en-US" sz="1300" dirty="0">
              <a:solidFill>
                <a:srgbClr val="FDCC9C"/>
              </a:solidFill>
            </a:endParaRPr>
          </a:p>
        </p:txBody>
      </p:sp>
      <p:sp>
        <p:nvSpPr>
          <p:cNvPr id="21" name="Text 19"/>
          <p:cNvSpPr/>
          <p:nvPr/>
        </p:nvSpPr>
        <p:spPr>
          <a:xfrm>
            <a:off x="6309360" y="2286000"/>
            <a:ext cx="2308485" cy="228600"/>
          </a:xfrm>
          <a:prstGeom prst="rect">
            <a:avLst/>
          </a:prstGeom>
          <a:solidFill>
            <a:srgbClr val="08111E"/>
          </a:solidFill>
          <a:ln/>
        </p:spPr>
        <p:txBody>
          <a:bodyPr wrap="square" rtlCol="0" anchor="ctr"/>
          <a:lstStyle/>
          <a:p>
            <a:pPr marL="0" indent="0">
              <a:buNone/>
            </a:pPr>
            <a:r>
              <a:rPr lang="en-US" sz="1000" i="1" dirty="0">
                <a:solidFill>
                  <a:schemeClr val="tx2">
                    <a:lumMod val="20000"/>
                    <a:lumOff val="80000"/>
                  </a:schemeClr>
                </a:solidFill>
                <a:latin typeface="Arial" pitchFamily="34" charset="0"/>
                <a:ea typeface="Arial" pitchFamily="34" charset="-122"/>
                <a:cs typeface="Arial" pitchFamily="34" charset="-120"/>
              </a:rPr>
              <a:t>Space created below</a:t>
            </a:r>
            <a:endParaRPr lang="en-US" sz="1000" dirty="0">
              <a:solidFill>
                <a:schemeClr val="tx2">
                  <a:lumMod val="20000"/>
                  <a:lumOff val="80000"/>
                </a:schemeClr>
              </a:solidFill>
            </a:endParaRPr>
          </a:p>
        </p:txBody>
      </p:sp>
      <p:sp>
        <p:nvSpPr>
          <p:cNvPr id="22" name="Text 20"/>
          <p:cNvSpPr/>
          <p:nvPr/>
        </p:nvSpPr>
        <p:spPr>
          <a:xfrm>
            <a:off x="6309360" y="2560320"/>
            <a:ext cx="2308485" cy="1554480"/>
          </a:xfrm>
          <a:prstGeom prst="rect">
            <a:avLst/>
          </a:prstGeom>
          <a:solidFill>
            <a:srgbClr val="08111E"/>
          </a:solidFill>
          <a:ln/>
        </p:spPr>
        <p:txBody>
          <a:bodyPr wrap="square" rtlCol="0" anchor="ctr"/>
          <a:lstStyle/>
          <a:p>
            <a:pPr marL="0" indent="0" algn="ctr">
              <a:buNone/>
            </a:pPr>
            <a:r>
              <a:rPr lang="en-US" sz="1150" dirty="0">
                <a:solidFill>
                  <a:schemeClr val="accent5">
                    <a:lumMod val="20000"/>
                    <a:lumOff val="80000"/>
                  </a:schemeClr>
                </a:solidFill>
                <a:latin typeface="Arial" pitchFamily="34" charset="0"/>
                <a:ea typeface="Arial" pitchFamily="34" charset="-122"/>
                <a:cs typeface="Arial" pitchFamily="34" charset="-120"/>
              </a:rPr>
              <a:t>The geometry creates enclosed, structurally sound, weatherproof space beneath the crest. Modular, scalable, deployable at any junction. The road pays for the building.</a:t>
            </a:r>
            <a:endParaRPr lang="en-US" sz="1150" dirty="0">
              <a:solidFill>
                <a:schemeClr val="accent5">
                  <a:lumMod val="20000"/>
                  <a:lumOff val="80000"/>
                </a:schemeClr>
              </a:solidFill>
            </a:endParaRPr>
          </a:p>
        </p:txBody>
      </p:sp>
      <p:sp>
        <p:nvSpPr>
          <p:cNvPr id="24" name="Text 22"/>
          <p:cNvSpPr/>
          <p:nvPr/>
        </p:nvSpPr>
        <p:spPr>
          <a:xfrm>
            <a:off x="411480" y="4370832"/>
            <a:ext cx="8321040" cy="384048"/>
          </a:xfrm>
          <a:prstGeom prst="rect">
            <a:avLst/>
          </a:prstGeom>
          <a:solidFill>
            <a:srgbClr val="03070D"/>
          </a:solidFill>
          <a:ln>
            <a:solidFill>
              <a:srgbClr val="FFE1C1"/>
            </a:solidFill>
          </a:ln>
        </p:spPr>
        <p:txBody>
          <a:bodyPr wrap="square" rtlCol="0" anchor="ctr"/>
          <a:lstStyle/>
          <a:p>
            <a:pPr marL="0" indent="0">
              <a:buNone/>
            </a:pPr>
            <a:r>
              <a:rPr lang="en-US" sz="1050" b="1" i="1" dirty="0">
                <a:solidFill>
                  <a:srgbClr val="FFE1C1"/>
                </a:solidFill>
                <a:latin typeface="Arial" pitchFamily="34" charset="0"/>
                <a:ea typeface="Arial" pitchFamily="34" charset="-122"/>
                <a:cs typeface="Arial" pitchFamily="34" charset="-120"/>
              </a:rPr>
              <a:t>This is not carbon capture. There is nothing to capture — because thanks to Umpireal, it was never burned.</a:t>
            </a:r>
            <a:endParaRPr lang="en-US" sz="1050" dirty="0">
              <a:solidFill>
                <a:srgbClr val="FFE1C1"/>
              </a:solidFill>
            </a:endParaRPr>
          </a:p>
        </p:txBody>
      </p:sp>
      <p:sp>
        <p:nvSpPr>
          <p:cNvPr id="25" name="Shape 23"/>
          <p:cNvSpPr/>
          <p:nvPr/>
        </p:nvSpPr>
        <p:spPr>
          <a:xfrm>
            <a:off x="0" y="4892040"/>
            <a:ext cx="9144000" cy="251460"/>
          </a:xfrm>
          <a:prstGeom prst="rect">
            <a:avLst/>
          </a:prstGeom>
          <a:solidFill>
            <a:srgbClr val="03070D"/>
          </a:solidFill>
          <a:ln w="12700">
            <a:solidFill>
              <a:srgbClr val="0D1B2E"/>
            </a:solidFill>
            <a:prstDash val="solid"/>
          </a:ln>
        </p:spPr>
        <p:txBody>
          <a:bodyPr/>
          <a:lstStyle/>
          <a:p>
            <a:endParaRPr lang="en-GB"/>
          </a:p>
        </p:txBody>
      </p:sp>
      <p:sp>
        <p:nvSpPr>
          <p:cNvPr id="26" name="Shape 24"/>
          <p:cNvSpPr/>
          <p:nvPr/>
        </p:nvSpPr>
        <p:spPr>
          <a:xfrm>
            <a:off x="0" y="4892040"/>
            <a:ext cx="9144000" cy="27432"/>
          </a:xfrm>
          <a:prstGeom prst="rect">
            <a:avLst/>
          </a:prstGeom>
          <a:solidFill>
            <a:srgbClr val="03070D"/>
          </a:solidFill>
          <a:ln w="12700">
            <a:solidFill>
              <a:srgbClr val="B87333"/>
            </a:solidFill>
            <a:prstDash val="solid"/>
          </a:ln>
        </p:spPr>
        <p:txBody>
          <a:bodyPr/>
          <a:lstStyle/>
          <a:p>
            <a:endParaRPr lang="en-GB"/>
          </a:p>
        </p:txBody>
      </p:sp>
      <p:sp>
        <p:nvSpPr>
          <p:cNvPr id="27" name="Text 25"/>
          <p:cNvSpPr/>
          <p:nvPr/>
        </p:nvSpPr>
        <p:spPr>
          <a:xfrm>
            <a:off x="320040" y="4901184"/>
            <a:ext cx="4572000" cy="228600"/>
          </a:xfrm>
          <a:prstGeom prst="rect">
            <a:avLst/>
          </a:prstGeom>
          <a:solidFill>
            <a:srgbClr val="03070D"/>
          </a:solidFill>
          <a:ln/>
        </p:spPr>
        <p:txBody>
          <a:bodyPr wrap="square" rtlCol="0" anchor="ctr"/>
          <a:lstStyle/>
          <a:p>
            <a:pPr marL="0" indent="0">
              <a:buNone/>
            </a:pPr>
            <a:r>
              <a:rPr lang="en-US" sz="800" dirty="0">
                <a:solidFill>
                  <a:srgbClr val="B87333"/>
                </a:solidFill>
                <a:latin typeface="Arial" pitchFamily="34" charset="0"/>
                <a:ea typeface="Arial" pitchFamily="34" charset="-122"/>
                <a:cs typeface="Arial" pitchFamily="34" charset="-120"/>
              </a:rPr>
              <a:t>UMPIREAL  ·  CONFIDENTIAL</a:t>
            </a:r>
            <a:endParaRPr lang="en-US" sz="800" dirty="0"/>
          </a:p>
        </p:txBody>
      </p:sp>
      <p:sp>
        <p:nvSpPr>
          <p:cNvPr id="28" name="Text 26"/>
          <p:cNvSpPr/>
          <p:nvPr/>
        </p:nvSpPr>
        <p:spPr>
          <a:xfrm>
            <a:off x="4572000" y="4901184"/>
            <a:ext cx="4251960" cy="228600"/>
          </a:xfrm>
          <a:prstGeom prst="rect">
            <a:avLst/>
          </a:prstGeom>
          <a:solidFill>
            <a:srgbClr val="03070D"/>
          </a:solidFill>
          <a:ln/>
        </p:spPr>
        <p:txBody>
          <a:bodyPr wrap="square" rtlCol="0" anchor="ctr"/>
          <a:lstStyle/>
          <a:p>
            <a:pPr marL="0" indent="0" algn="r">
              <a:buNone/>
            </a:pPr>
            <a:r>
              <a:rPr lang="en-US" sz="800" dirty="0">
                <a:solidFill>
                  <a:srgbClr val="9CA3AF"/>
                </a:solidFill>
                <a:latin typeface="Arial" pitchFamily="34" charset="0"/>
                <a:ea typeface="Arial" pitchFamily="34" charset="-122"/>
                <a:cs typeface="Arial" pitchFamily="34" charset="-120"/>
              </a:rPr>
              <a:t>02 — The Solution</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11480" y="164592"/>
            <a:ext cx="54864" cy="384048"/>
          </a:xfrm>
          <a:prstGeom prst="rect">
            <a:avLst/>
          </a:prstGeom>
          <a:solidFill>
            <a:srgbClr val="F0B429"/>
          </a:solidFill>
          <a:ln w="12700">
            <a:solidFill>
              <a:srgbClr val="F0B429"/>
            </a:solidFill>
            <a:prstDash val="solid"/>
          </a:ln>
        </p:spPr>
        <p:txBody>
          <a:bodyPr/>
          <a:lstStyle/>
          <a:p>
            <a:endParaRPr lang="en-GB"/>
          </a:p>
        </p:txBody>
      </p:sp>
      <p:sp>
        <p:nvSpPr>
          <p:cNvPr id="3" name="Text 1"/>
          <p:cNvSpPr/>
          <p:nvPr/>
        </p:nvSpPr>
        <p:spPr>
          <a:xfrm>
            <a:off x="548640" y="155448"/>
            <a:ext cx="8229600" cy="411480"/>
          </a:xfrm>
          <a:prstGeom prst="rect">
            <a:avLst/>
          </a:prstGeom>
          <a:noFill/>
          <a:ln/>
        </p:spPr>
        <p:txBody>
          <a:bodyPr wrap="square" rtlCol="0" anchor="ctr"/>
          <a:lstStyle/>
          <a:p>
            <a:pPr marL="0" indent="0">
              <a:buNone/>
            </a:pPr>
            <a:r>
              <a:rPr lang="en-US" sz="1100" b="1" kern="0" spc="300" dirty="0">
                <a:solidFill>
                  <a:srgbClr val="F0B429"/>
                </a:solidFill>
                <a:latin typeface="Arial" pitchFamily="34" charset="0"/>
                <a:ea typeface="Arial" pitchFamily="34" charset="-122"/>
                <a:cs typeface="Arial" pitchFamily="34" charset="-120"/>
              </a:rPr>
              <a:t>THE NODE</a:t>
            </a:r>
            <a:endParaRPr lang="en-US" sz="1100" dirty="0">
              <a:solidFill>
                <a:srgbClr val="F0B429"/>
              </a:solidFill>
            </a:endParaRPr>
          </a:p>
        </p:txBody>
      </p:sp>
      <p:sp>
        <p:nvSpPr>
          <p:cNvPr id="4" name="Text 2"/>
          <p:cNvSpPr/>
          <p:nvPr/>
        </p:nvSpPr>
        <p:spPr>
          <a:xfrm>
            <a:off x="411480" y="594360"/>
            <a:ext cx="8321040" cy="502920"/>
          </a:xfrm>
          <a:prstGeom prst="rect">
            <a:avLst/>
          </a:prstGeom>
          <a:noFill/>
          <a:ln/>
        </p:spPr>
        <p:txBody>
          <a:bodyPr wrap="square" rtlCol="0" anchor="ctr"/>
          <a:lstStyle/>
          <a:p>
            <a:pPr marL="0" indent="0">
              <a:buNone/>
            </a:pPr>
            <a:r>
              <a:rPr lang="en-US" sz="2000" spc="300" dirty="0">
                <a:solidFill>
                  <a:schemeClr val="bg1">
                    <a:lumMod val="85000"/>
                  </a:schemeClr>
                </a:solidFill>
                <a:latin typeface="Aptos" panose="020B0004020202020204" pitchFamily="34" charset="0"/>
                <a:ea typeface="Arial" pitchFamily="34" charset="-122"/>
                <a:cs typeface="Arial" pitchFamily="34" charset="-120"/>
              </a:rPr>
              <a:t>What Lives Beneath the Road</a:t>
            </a:r>
            <a:endParaRPr lang="en-US" sz="2000" spc="300" dirty="0">
              <a:solidFill>
                <a:schemeClr val="bg1">
                  <a:lumMod val="85000"/>
                </a:schemeClr>
              </a:solidFill>
              <a:latin typeface="Aptos" panose="020B0004020202020204" pitchFamily="34" charset="0"/>
            </a:endParaRPr>
          </a:p>
        </p:txBody>
      </p:sp>
      <p:sp>
        <p:nvSpPr>
          <p:cNvPr id="5" name="Text 3"/>
          <p:cNvSpPr/>
          <p:nvPr/>
        </p:nvSpPr>
        <p:spPr>
          <a:xfrm>
            <a:off x="411480" y="1051560"/>
            <a:ext cx="8321040" cy="384048"/>
          </a:xfrm>
          <a:prstGeom prst="rect">
            <a:avLst/>
          </a:prstGeom>
          <a:noFill/>
          <a:ln/>
        </p:spPr>
        <p:txBody>
          <a:bodyPr wrap="square" rtlCol="0" anchor="ctr"/>
          <a:lstStyle/>
          <a:p>
            <a:pPr marL="0" indent="0">
              <a:buNone/>
            </a:pPr>
            <a:r>
              <a:rPr lang="en-US" sz="1100" dirty="0">
                <a:solidFill>
                  <a:srgbClr val="9CA3AF"/>
                </a:solidFill>
                <a:latin typeface="Arial" pitchFamily="34" charset="0"/>
                <a:ea typeface="Arial" pitchFamily="34" charset="-122"/>
                <a:cs typeface="Arial" pitchFamily="34" charset="-120"/>
              </a:rPr>
              <a:t>Standard node: 9 rooms · 620 m² technical + 180 m² hospitality · single 500 kW commercial grid connection · shell built to flagship structural spec throughout.</a:t>
            </a:r>
            <a:endParaRPr lang="en-US" sz="1100" dirty="0"/>
          </a:p>
        </p:txBody>
      </p:sp>
      <p:sp>
        <p:nvSpPr>
          <p:cNvPr id="6" name="Shape 4"/>
          <p:cNvSpPr/>
          <p:nvPr/>
        </p:nvSpPr>
        <p:spPr>
          <a:xfrm>
            <a:off x="411480" y="1508760"/>
            <a:ext cx="1627632" cy="2606040"/>
          </a:xfrm>
          <a:prstGeom prst="rect">
            <a:avLst/>
          </a:prstGeom>
          <a:solidFill>
            <a:srgbClr val="0D1B2E"/>
          </a:solidFill>
          <a:ln w="12700">
            <a:solidFill>
              <a:srgbClr val="22D3EE"/>
            </a:solidFill>
            <a:prstDash val="solid"/>
          </a:ln>
        </p:spPr>
        <p:txBody>
          <a:bodyPr/>
          <a:lstStyle/>
          <a:p>
            <a:endParaRPr lang="en-GB"/>
          </a:p>
        </p:txBody>
      </p:sp>
      <p:sp>
        <p:nvSpPr>
          <p:cNvPr id="7" name="Shape 5"/>
          <p:cNvSpPr/>
          <p:nvPr/>
        </p:nvSpPr>
        <p:spPr>
          <a:xfrm>
            <a:off x="411480" y="1508760"/>
            <a:ext cx="1627632" cy="45720"/>
          </a:xfrm>
          <a:prstGeom prst="rect">
            <a:avLst/>
          </a:prstGeom>
          <a:solidFill>
            <a:srgbClr val="22D3EE"/>
          </a:solidFill>
          <a:ln w="12700">
            <a:solidFill>
              <a:srgbClr val="22D3EE"/>
            </a:solidFill>
            <a:prstDash val="solid"/>
          </a:ln>
        </p:spPr>
        <p:txBody>
          <a:bodyPr/>
          <a:lstStyle/>
          <a:p>
            <a:endParaRPr lang="en-GB"/>
          </a:p>
        </p:txBody>
      </p:sp>
      <p:sp>
        <p:nvSpPr>
          <p:cNvPr id="8" name="Text 6"/>
          <p:cNvSpPr/>
          <p:nvPr/>
        </p:nvSpPr>
        <p:spPr>
          <a:xfrm>
            <a:off x="502920" y="1572768"/>
            <a:ext cx="1444752" cy="256032"/>
          </a:xfrm>
          <a:prstGeom prst="rect">
            <a:avLst/>
          </a:prstGeom>
          <a:noFill/>
          <a:ln/>
        </p:spPr>
        <p:txBody>
          <a:bodyPr wrap="square" rtlCol="0" anchor="ctr"/>
          <a:lstStyle/>
          <a:p>
            <a:pPr marL="0" indent="0">
              <a:buNone/>
            </a:pPr>
            <a:r>
              <a:rPr lang="en-US" sz="1300" b="1" dirty="0">
                <a:solidFill>
                  <a:srgbClr val="22D3EE"/>
                </a:solidFill>
                <a:latin typeface="Arial" pitchFamily="34" charset="0"/>
                <a:ea typeface="Arial" pitchFamily="34" charset="-122"/>
                <a:cs typeface="Arial" pitchFamily="34" charset="-120"/>
              </a:rPr>
              <a:t>Room 1</a:t>
            </a:r>
            <a:endParaRPr lang="en-US" sz="1300" dirty="0"/>
          </a:p>
        </p:txBody>
      </p:sp>
      <p:sp>
        <p:nvSpPr>
          <p:cNvPr id="9" name="Text 7"/>
          <p:cNvSpPr/>
          <p:nvPr/>
        </p:nvSpPr>
        <p:spPr>
          <a:xfrm>
            <a:off x="502920" y="1828800"/>
            <a:ext cx="1444752" cy="201168"/>
          </a:xfrm>
          <a:prstGeom prst="rect">
            <a:avLst/>
          </a:prstGeom>
          <a:noFill/>
          <a:ln/>
        </p:spPr>
        <p:txBody>
          <a:bodyPr wrap="square" rtlCol="0" anchor="ctr"/>
          <a:lstStyle/>
          <a:p>
            <a:pPr marL="0" indent="0">
              <a:buNone/>
            </a:pPr>
            <a:r>
              <a:rPr lang="en-US" sz="850" kern="0" spc="100" dirty="0">
                <a:solidFill>
                  <a:srgbClr val="9CA3AF"/>
                </a:solidFill>
                <a:latin typeface="Arial" pitchFamily="34" charset="0"/>
                <a:ea typeface="Arial" pitchFamily="34" charset="-122"/>
                <a:cs typeface="Arial" pitchFamily="34" charset="-120"/>
              </a:rPr>
              <a:t>DATA CENTRE</a:t>
            </a:r>
            <a:endParaRPr lang="en-US" sz="850" dirty="0"/>
          </a:p>
        </p:txBody>
      </p:sp>
      <p:sp>
        <p:nvSpPr>
          <p:cNvPr id="10" name="Text 8"/>
          <p:cNvSpPr/>
          <p:nvPr/>
        </p:nvSpPr>
        <p:spPr>
          <a:xfrm>
            <a:off x="502920" y="2066544"/>
            <a:ext cx="1444752" cy="1920240"/>
          </a:xfrm>
          <a:prstGeom prst="rect">
            <a:avLst/>
          </a:prstGeom>
          <a:noFill/>
          <a:ln/>
        </p:spPr>
        <p:txBody>
          <a:bodyPr wrap="square" rtlCol="0" anchor="ctr"/>
          <a:lstStyle/>
          <a:p>
            <a:pPr marL="0" indent="0">
              <a:buNone/>
            </a:pPr>
            <a:r>
              <a:rPr lang="en-US" sz="1000" dirty="0">
                <a:solidFill>
                  <a:srgbClr val="E5E0D8"/>
                </a:solidFill>
                <a:latin typeface="Arial" pitchFamily="34" charset="0"/>
                <a:ea typeface="Arial" pitchFamily="34" charset="-122"/>
                <a:cs typeface="Arial" pitchFamily="34" charset="-120"/>
              </a:rPr>
              <a:t>4 × NVIDIA VR NVL72 (Vera Rubin)</a:t>
            </a:r>
            <a:endParaRPr lang="en-US" sz="1000" dirty="0"/>
          </a:p>
          <a:p>
            <a:pPr marL="0" indent="0">
              <a:buNone/>
            </a:pPr>
            <a:r>
              <a:rPr lang="en-US" sz="1000" dirty="0">
                <a:solidFill>
                  <a:srgbClr val="E5E0D8"/>
                </a:solidFill>
                <a:latin typeface="Arial" pitchFamily="34" charset="0"/>
                <a:ea typeface="Arial" pitchFamily="34" charset="-122"/>
                <a:cs typeface="Arial" pitchFamily="34" charset="-120"/>
              </a:rPr>
              <a:t>288 GPUs · 14.4 EFLOPS FP4</a:t>
            </a:r>
            <a:endParaRPr lang="en-US" sz="1000" dirty="0"/>
          </a:p>
          <a:p>
            <a:pPr marL="0" indent="0">
              <a:buNone/>
            </a:pPr>
            <a:r>
              <a:rPr lang="en-US" sz="1000" dirty="0">
                <a:solidFill>
                  <a:srgbClr val="E5E0D8"/>
                </a:solidFill>
                <a:latin typeface="Arial" pitchFamily="34" charset="0"/>
                <a:ea typeface="Arial" pitchFamily="34" charset="-122"/>
                <a:cs typeface="Arial" pitchFamily="34" charset="-120"/>
              </a:rPr>
              <a:t>460 kW IT load · 7 racks total</a:t>
            </a:r>
            <a:endParaRPr lang="en-US" sz="1000" dirty="0"/>
          </a:p>
          <a:p>
            <a:pPr marL="0" indent="0">
              <a:buNone/>
            </a:pPr>
            <a:r>
              <a:rPr lang="en-US" sz="1000" dirty="0">
                <a:solidFill>
                  <a:srgbClr val="E5E0D8"/>
                </a:solidFill>
                <a:latin typeface="Arial" pitchFamily="34" charset="0"/>
                <a:ea typeface="Arial" pitchFamily="34" charset="-122"/>
                <a:cs typeface="Arial" pitchFamily="34" charset="-120"/>
              </a:rPr>
              <a:t>Direct liquid cooled — 190 kW/rack</a:t>
            </a:r>
          </a:p>
          <a:p>
            <a:pPr marL="0" indent="0">
              <a:buNone/>
            </a:pPr>
            <a:r>
              <a:rPr lang="en-GB" sz="1000" dirty="0">
                <a:solidFill>
                  <a:srgbClr val="22F6AF"/>
                </a:solidFill>
                <a:latin typeface="Arial" pitchFamily="34" charset="0"/>
                <a:ea typeface="Arial" pitchFamily="34" charset="-122"/>
                <a:cs typeface="Arial" pitchFamily="34" charset="-120"/>
              </a:rPr>
              <a:t>Fabric + DPU + mgmt racks included</a:t>
            </a:r>
          </a:p>
          <a:p>
            <a:pPr marL="0" indent="0">
              <a:buNone/>
            </a:pPr>
            <a:r>
              <a:rPr lang="en-GB" sz="1000" dirty="0">
                <a:solidFill>
                  <a:srgbClr val="22F6AF"/>
                </a:solidFill>
                <a:latin typeface="Arial" pitchFamily="34" charset="0"/>
                <a:ea typeface="Arial" pitchFamily="34" charset="-122"/>
                <a:cs typeface="Arial" pitchFamily="34" charset="-120"/>
              </a:rPr>
              <a:t>Scales to 8, 16, 32 racks — no rebuild</a:t>
            </a:r>
            <a:endParaRPr lang="en-US" sz="1000" dirty="0">
              <a:solidFill>
                <a:srgbClr val="22F6AF"/>
              </a:solidFill>
              <a:latin typeface="Arial" pitchFamily="34" charset="0"/>
              <a:ea typeface="Arial" pitchFamily="34" charset="-122"/>
              <a:cs typeface="Arial" pitchFamily="34" charset="-120"/>
            </a:endParaRPr>
          </a:p>
        </p:txBody>
      </p:sp>
      <p:sp>
        <p:nvSpPr>
          <p:cNvPr id="11" name="Shape 9"/>
          <p:cNvSpPr/>
          <p:nvPr/>
        </p:nvSpPr>
        <p:spPr>
          <a:xfrm>
            <a:off x="2103120" y="1508760"/>
            <a:ext cx="1627632" cy="2606040"/>
          </a:xfrm>
          <a:prstGeom prst="rect">
            <a:avLst/>
          </a:prstGeom>
          <a:solidFill>
            <a:srgbClr val="0D1B2E"/>
          </a:solidFill>
          <a:ln w="12700">
            <a:solidFill>
              <a:srgbClr val="F0B429"/>
            </a:solidFill>
            <a:prstDash val="solid"/>
          </a:ln>
        </p:spPr>
        <p:txBody>
          <a:bodyPr/>
          <a:lstStyle/>
          <a:p>
            <a:endParaRPr lang="en-GB"/>
          </a:p>
        </p:txBody>
      </p:sp>
      <p:sp>
        <p:nvSpPr>
          <p:cNvPr id="12" name="Shape 10"/>
          <p:cNvSpPr/>
          <p:nvPr/>
        </p:nvSpPr>
        <p:spPr>
          <a:xfrm>
            <a:off x="2103120" y="1508760"/>
            <a:ext cx="1627632" cy="45720"/>
          </a:xfrm>
          <a:prstGeom prst="rect">
            <a:avLst/>
          </a:prstGeom>
          <a:solidFill>
            <a:srgbClr val="F0B429"/>
          </a:solidFill>
          <a:ln w="12700">
            <a:solidFill>
              <a:srgbClr val="F0B429"/>
            </a:solidFill>
            <a:prstDash val="solid"/>
          </a:ln>
        </p:spPr>
        <p:txBody>
          <a:bodyPr/>
          <a:lstStyle/>
          <a:p>
            <a:endParaRPr lang="en-GB"/>
          </a:p>
        </p:txBody>
      </p:sp>
      <p:sp>
        <p:nvSpPr>
          <p:cNvPr id="13" name="Text 11"/>
          <p:cNvSpPr/>
          <p:nvPr/>
        </p:nvSpPr>
        <p:spPr>
          <a:xfrm>
            <a:off x="2194560" y="1572768"/>
            <a:ext cx="1444752" cy="256032"/>
          </a:xfrm>
          <a:prstGeom prst="rect">
            <a:avLst/>
          </a:prstGeom>
          <a:noFill/>
          <a:ln/>
        </p:spPr>
        <p:txBody>
          <a:bodyPr wrap="square" rtlCol="0" anchor="ctr"/>
          <a:lstStyle/>
          <a:p>
            <a:pPr marL="0" indent="0">
              <a:buNone/>
            </a:pPr>
            <a:r>
              <a:rPr lang="en-US" sz="1300" b="1" dirty="0">
                <a:solidFill>
                  <a:srgbClr val="F0B429"/>
                </a:solidFill>
                <a:latin typeface="Arial" pitchFamily="34" charset="0"/>
                <a:ea typeface="Arial" pitchFamily="34" charset="-122"/>
                <a:cs typeface="Arial" pitchFamily="34" charset="-120"/>
              </a:rPr>
              <a:t>Room 2</a:t>
            </a:r>
            <a:endParaRPr lang="en-US" sz="1300" dirty="0"/>
          </a:p>
        </p:txBody>
      </p:sp>
      <p:sp>
        <p:nvSpPr>
          <p:cNvPr id="14" name="Text 12"/>
          <p:cNvSpPr/>
          <p:nvPr/>
        </p:nvSpPr>
        <p:spPr>
          <a:xfrm>
            <a:off x="2194560" y="1828800"/>
            <a:ext cx="1444752" cy="201168"/>
          </a:xfrm>
          <a:prstGeom prst="rect">
            <a:avLst/>
          </a:prstGeom>
          <a:noFill/>
          <a:ln/>
        </p:spPr>
        <p:txBody>
          <a:bodyPr wrap="square" rtlCol="0" anchor="ctr"/>
          <a:lstStyle/>
          <a:p>
            <a:pPr marL="0" indent="0">
              <a:buNone/>
            </a:pPr>
            <a:r>
              <a:rPr lang="en-US" sz="850" kern="0" spc="100" dirty="0">
                <a:solidFill>
                  <a:srgbClr val="9CA3AF"/>
                </a:solidFill>
                <a:latin typeface="Arial" pitchFamily="34" charset="0"/>
                <a:ea typeface="Arial" pitchFamily="34" charset="-122"/>
                <a:cs typeface="Arial" pitchFamily="34" charset="-120"/>
              </a:rPr>
              <a:t>BESS STORAGE</a:t>
            </a:r>
            <a:endParaRPr lang="en-US" sz="850" dirty="0"/>
          </a:p>
        </p:txBody>
      </p:sp>
      <p:sp>
        <p:nvSpPr>
          <p:cNvPr id="15" name="Text 13"/>
          <p:cNvSpPr/>
          <p:nvPr/>
        </p:nvSpPr>
        <p:spPr>
          <a:xfrm>
            <a:off x="2194560" y="2066544"/>
            <a:ext cx="1444752" cy="1920240"/>
          </a:xfrm>
          <a:prstGeom prst="rect">
            <a:avLst/>
          </a:prstGeom>
          <a:noFill/>
          <a:ln/>
        </p:spPr>
        <p:txBody>
          <a:bodyPr wrap="square" rtlCol="0" anchor="ctr"/>
          <a:lstStyle/>
          <a:p>
            <a:pPr marL="0" indent="0">
              <a:buNone/>
            </a:pPr>
            <a:r>
              <a:rPr lang="en-US" sz="1000" dirty="0">
                <a:solidFill>
                  <a:srgbClr val="E5E0D8"/>
                </a:solidFill>
                <a:latin typeface="Arial" pitchFamily="34" charset="0"/>
                <a:ea typeface="Arial" pitchFamily="34" charset="-122"/>
                <a:cs typeface="Arial" pitchFamily="34" charset="-120"/>
              </a:rPr>
              <a:t>BYD Blade LFP · 7MWh · 1 room</a:t>
            </a:r>
            <a:endParaRPr lang="en-US" sz="1000" dirty="0"/>
          </a:p>
          <a:p>
            <a:pPr marL="0" indent="0">
              <a:buNone/>
            </a:pPr>
            <a:r>
              <a:rPr lang="en-US" sz="1000" dirty="0">
                <a:solidFill>
                  <a:srgbClr val="E5E0D8"/>
                </a:solidFill>
                <a:latin typeface="Arial" pitchFamily="34" charset="0"/>
                <a:ea typeface="Arial" pitchFamily="34" charset="-122"/>
                <a:cs typeface="Arial" pitchFamily="34" charset="-120"/>
              </a:rPr>
              <a:t>7 MWh · 3.5 MW · LFP chemistry</a:t>
            </a:r>
            <a:endParaRPr lang="en-US" sz="1000" dirty="0"/>
          </a:p>
          <a:p>
            <a:pPr marL="0" indent="0">
              <a:buNone/>
            </a:pPr>
            <a:r>
              <a:rPr lang="en-US" sz="1000" dirty="0">
                <a:solidFill>
                  <a:srgbClr val="E5E0D8"/>
                </a:solidFill>
                <a:latin typeface="Arial" pitchFamily="34" charset="0"/>
                <a:ea typeface="Arial" pitchFamily="34" charset="-122"/>
                <a:cs typeface="Arial" pitchFamily="34" charset="-120"/>
              </a:rPr>
              <a:t>Grid services + arbitrage</a:t>
            </a:r>
            <a:endParaRPr lang="en-US" sz="1000" dirty="0"/>
          </a:p>
          <a:p>
            <a:pPr marL="0" indent="0">
              <a:buNone/>
            </a:pPr>
            <a:r>
              <a:rPr lang="en-US" sz="1000" dirty="0">
                <a:solidFill>
                  <a:srgbClr val="E5E0D8"/>
                </a:solidFill>
                <a:latin typeface="Arial" pitchFamily="34" charset="0"/>
                <a:ea typeface="Arial" pitchFamily="34" charset="-122"/>
                <a:cs typeface="Arial" pitchFamily="34" charset="-120"/>
              </a:rPr>
              <a:t>€280–420K/yr grid services</a:t>
            </a:r>
            <a:endParaRPr lang="en-US" sz="1000" dirty="0"/>
          </a:p>
        </p:txBody>
      </p:sp>
      <p:sp>
        <p:nvSpPr>
          <p:cNvPr id="16" name="Shape 14"/>
          <p:cNvSpPr/>
          <p:nvPr/>
        </p:nvSpPr>
        <p:spPr>
          <a:xfrm>
            <a:off x="3794760" y="1508760"/>
            <a:ext cx="1627632" cy="2606040"/>
          </a:xfrm>
          <a:prstGeom prst="rect">
            <a:avLst/>
          </a:prstGeom>
          <a:solidFill>
            <a:srgbClr val="0D1B2E"/>
          </a:solidFill>
          <a:ln w="12700">
            <a:solidFill>
              <a:srgbClr val="D4956A"/>
            </a:solidFill>
            <a:prstDash val="solid"/>
          </a:ln>
        </p:spPr>
        <p:txBody>
          <a:bodyPr/>
          <a:lstStyle/>
          <a:p>
            <a:endParaRPr lang="en-GB"/>
          </a:p>
        </p:txBody>
      </p:sp>
      <p:sp>
        <p:nvSpPr>
          <p:cNvPr id="17" name="Shape 15"/>
          <p:cNvSpPr/>
          <p:nvPr/>
        </p:nvSpPr>
        <p:spPr>
          <a:xfrm>
            <a:off x="3794760" y="1508760"/>
            <a:ext cx="1627632" cy="45720"/>
          </a:xfrm>
          <a:prstGeom prst="rect">
            <a:avLst/>
          </a:prstGeom>
          <a:solidFill>
            <a:srgbClr val="D4956A"/>
          </a:solidFill>
          <a:ln w="12700">
            <a:solidFill>
              <a:srgbClr val="D4956A"/>
            </a:solidFill>
            <a:prstDash val="solid"/>
          </a:ln>
        </p:spPr>
        <p:txBody>
          <a:bodyPr/>
          <a:lstStyle/>
          <a:p>
            <a:endParaRPr lang="en-GB"/>
          </a:p>
        </p:txBody>
      </p:sp>
      <p:sp>
        <p:nvSpPr>
          <p:cNvPr id="18" name="Text 16"/>
          <p:cNvSpPr/>
          <p:nvPr/>
        </p:nvSpPr>
        <p:spPr>
          <a:xfrm>
            <a:off x="3886200" y="1572768"/>
            <a:ext cx="1444752" cy="256032"/>
          </a:xfrm>
          <a:prstGeom prst="rect">
            <a:avLst/>
          </a:prstGeom>
          <a:noFill/>
          <a:ln/>
        </p:spPr>
        <p:txBody>
          <a:bodyPr wrap="square" rtlCol="0" anchor="ctr"/>
          <a:lstStyle/>
          <a:p>
            <a:pPr marL="0" indent="0">
              <a:buNone/>
            </a:pPr>
            <a:r>
              <a:rPr lang="en-US" sz="1300" b="1" dirty="0">
                <a:solidFill>
                  <a:srgbClr val="D4956A"/>
                </a:solidFill>
                <a:latin typeface="Arial" pitchFamily="34" charset="0"/>
                <a:ea typeface="Arial" pitchFamily="34" charset="-122"/>
                <a:cs typeface="Arial" pitchFamily="34" charset="-120"/>
              </a:rPr>
              <a:t>Room 3</a:t>
            </a:r>
            <a:endParaRPr lang="en-US" sz="1300" dirty="0"/>
          </a:p>
        </p:txBody>
      </p:sp>
      <p:sp>
        <p:nvSpPr>
          <p:cNvPr id="19" name="Text 17"/>
          <p:cNvSpPr/>
          <p:nvPr/>
        </p:nvSpPr>
        <p:spPr>
          <a:xfrm>
            <a:off x="3886200" y="1828800"/>
            <a:ext cx="1444752" cy="201168"/>
          </a:xfrm>
          <a:prstGeom prst="rect">
            <a:avLst/>
          </a:prstGeom>
          <a:noFill/>
          <a:ln/>
        </p:spPr>
        <p:txBody>
          <a:bodyPr wrap="square" rtlCol="0" anchor="ctr"/>
          <a:lstStyle/>
          <a:p>
            <a:pPr marL="0" indent="0">
              <a:buNone/>
            </a:pPr>
            <a:r>
              <a:rPr lang="en-US" sz="850" kern="0" spc="100" dirty="0">
                <a:solidFill>
                  <a:srgbClr val="9CA3AF"/>
                </a:solidFill>
                <a:latin typeface="Arial" pitchFamily="34" charset="0"/>
                <a:ea typeface="Arial" pitchFamily="34" charset="-122"/>
                <a:cs typeface="Arial" pitchFamily="34" charset="-120"/>
              </a:rPr>
              <a:t>M&amp;E PLANT</a:t>
            </a:r>
            <a:endParaRPr lang="en-US" sz="850" dirty="0"/>
          </a:p>
        </p:txBody>
      </p:sp>
      <p:sp>
        <p:nvSpPr>
          <p:cNvPr id="20" name="Text 18"/>
          <p:cNvSpPr/>
          <p:nvPr/>
        </p:nvSpPr>
        <p:spPr>
          <a:xfrm>
            <a:off x="3886200" y="2066544"/>
            <a:ext cx="1444752" cy="1920240"/>
          </a:xfrm>
          <a:prstGeom prst="rect">
            <a:avLst/>
          </a:prstGeom>
          <a:noFill/>
          <a:ln/>
        </p:spPr>
        <p:txBody>
          <a:bodyPr wrap="square" rtlCol="0" anchor="ctr"/>
          <a:lstStyle/>
          <a:p>
            <a:pPr marL="0" indent="0">
              <a:buNone/>
            </a:pPr>
            <a:r>
              <a:rPr lang="en-US" sz="1000" dirty="0">
                <a:solidFill>
                  <a:srgbClr val="E5E0D8"/>
                </a:solidFill>
                <a:latin typeface="Arial" pitchFamily="34" charset="0"/>
                <a:ea typeface="Arial" pitchFamily="34" charset="-122"/>
                <a:cs typeface="Arial" pitchFamily="34" charset="-120"/>
              </a:rPr>
              <a:t>CDUs · pump sets</a:t>
            </a:r>
            <a:endParaRPr lang="en-US" sz="1000" dirty="0"/>
          </a:p>
          <a:p>
            <a:pPr marL="0" indent="0">
              <a:buNone/>
            </a:pPr>
            <a:r>
              <a:rPr lang="en-US" sz="1000" dirty="0">
                <a:solidFill>
                  <a:srgbClr val="E5E0D8"/>
                </a:solidFill>
                <a:latin typeface="Arial" pitchFamily="34" charset="0"/>
                <a:ea typeface="Arial" pitchFamily="34" charset="-122"/>
                <a:cs typeface="Arial" pitchFamily="34" charset="-120"/>
              </a:rPr>
              <a:t>Plate heat exchangers</a:t>
            </a:r>
            <a:endParaRPr lang="en-US" sz="1000" dirty="0"/>
          </a:p>
          <a:p>
            <a:pPr marL="0" indent="0">
              <a:buNone/>
            </a:pPr>
            <a:r>
              <a:rPr lang="en-US" sz="1000" dirty="0">
                <a:solidFill>
                  <a:srgbClr val="E5E0D8"/>
                </a:solidFill>
                <a:latin typeface="Arial" pitchFamily="34" charset="0"/>
                <a:ea typeface="Arial" pitchFamily="34" charset="-122"/>
                <a:cs typeface="Arial" pitchFamily="34" charset="-120"/>
              </a:rPr>
              <a:t>LV switchgear · UPS</a:t>
            </a:r>
            <a:endParaRPr lang="en-US" sz="1000" dirty="0"/>
          </a:p>
          <a:p>
            <a:pPr marL="0" indent="0">
              <a:buNone/>
            </a:pPr>
            <a:r>
              <a:rPr lang="en-US" sz="1000" dirty="0">
                <a:solidFill>
                  <a:srgbClr val="E5E0D8"/>
                </a:solidFill>
                <a:latin typeface="Arial" pitchFamily="34" charset="0"/>
                <a:ea typeface="Arial" pitchFamily="34" charset="-122"/>
                <a:cs typeface="Arial" pitchFamily="34" charset="-120"/>
              </a:rPr>
              <a:t>500 kW grid connection</a:t>
            </a:r>
            <a:endParaRPr lang="en-US" sz="1000" dirty="0"/>
          </a:p>
        </p:txBody>
      </p:sp>
      <p:sp>
        <p:nvSpPr>
          <p:cNvPr id="21" name="Shape 19"/>
          <p:cNvSpPr/>
          <p:nvPr/>
        </p:nvSpPr>
        <p:spPr>
          <a:xfrm>
            <a:off x="5486400" y="1508760"/>
            <a:ext cx="1627632" cy="2606040"/>
          </a:xfrm>
          <a:prstGeom prst="rect">
            <a:avLst/>
          </a:prstGeom>
          <a:solidFill>
            <a:srgbClr val="0D1B2E"/>
          </a:solidFill>
          <a:ln w="12700">
            <a:solidFill>
              <a:srgbClr val="22F6AF"/>
            </a:solidFill>
            <a:prstDash val="solid"/>
          </a:ln>
        </p:spPr>
        <p:txBody>
          <a:bodyPr/>
          <a:lstStyle/>
          <a:p>
            <a:endParaRPr lang="en-GB"/>
          </a:p>
        </p:txBody>
      </p:sp>
      <p:sp>
        <p:nvSpPr>
          <p:cNvPr id="22" name="Shape 20"/>
          <p:cNvSpPr/>
          <p:nvPr/>
        </p:nvSpPr>
        <p:spPr>
          <a:xfrm>
            <a:off x="5486400" y="1508760"/>
            <a:ext cx="1627632" cy="45720"/>
          </a:xfrm>
          <a:prstGeom prst="rect">
            <a:avLst/>
          </a:prstGeom>
          <a:solidFill>
            <a:srgbClr val="22F6AF"/>
          </a:solidFill>
          <a:ln w="12700">
            <a:solidFill>
              <a:srgbClr val="10B981"/>
            </a:solidFill>
            <a:prstDash val="solid"/>
          </a:ln>
        </p:spPr>
        <p:txBody>
          <a:bodyPr/>
          <a:lstStyle/>
          <a:p>
            <a:endParaRPr lang="en-GB"/>
          </a:p>
        </p:txBody>
      </p:sp>
      <p:sp>
        <p:nvSpPr>
          <p:cNvPr id="23" name="Text 21"/>
          <p:cNvSpPr/>
          <p:nvPr/>
        </p:nvSpPr>
        <p:spPr>
          <a:xfrm>
            <a:off x="5577840" y="1572768"/>
            <a:ext cx="1444752" cy="256032"/>
          </a:xfrm>
          <a:prstGeom prst="rect">
            <a:avLst/>
          </a:prstGeom>
          <a:noFill/>
          <a:ln/>
        </p:spPr>
        <p:txBody>
          <a:bodyPr wrap="square" rtlCol="0" anchor="ctr"/>
          <a:lstStyle/>
          <a:p>
            <a:pPr marL="0" indent="0">
              <a:buNone/>
            </a:pPr>
            <a:r>
              <a:rPr lang="en-US" sz="1300" b="1" dirty="0">
                <a:solidFill>
                  <a:srgbClr val="10B981"/>
                </a:solidFill>
                <a:latin typeface="Arial" pitchFamily="34" charset="0"/>
                <a:ea typeface="Arial" pitchFamily="34" charset="-122"/>
                <a:cs typeface="Arial" pitchFamily="34" charset="-120"/>
              </a:rPr>
              <a:t>Room 4</a:t>
            </a:r>
            <a:endParaRPr lang="en-US" sz="1300" dirty="0"/>
          </a:p>
        </p:txBody>
      </p:sp>
      <p:sp>
        <p:nvSpPr>
          <p:cNvPr id="24" name="Text 22"/>
          <p:cNvSpPr/>
          <p:nvPr/>
        </p:nvSpPr>
        <p:spPr>
          <a:xfrm>
            <a:off x="5577840" y="1828800"/>
            <a:ext cx="1444752" cy="201168"/>
          </a:xfrm>
          <a:prstGeom prst="rect">
            <a:avLst/>
          </a:prstGeom>
          <a:noFill/>
          <a:ln/>
        </p:spPr>
        <p:txBody>
          <a:bodyPr wrap="square" rtlCol="0" anchor="ctr"/>
          <a:lstStyle/>
          <a:p>
            <a:pPr marL="0" indent="0">
              <a:buNone/>
            </a:pPr>
            <a:r>
              <a:rPr lang="en-US" sz="850" kern="0" spc="100" dirty="0">
                <a:solidFill>
                  <a:srgbClr val="9CA3AF"/>
                </a:solidFill>
                <a:latin typeface="Arial" pitchFamily="34" charset="0"/>
                <a:ea typeface="Arial" pitchFamily="34" charset="-122"/>
                <a:cs typeface="Arial" pitchFamily="34" charset="-120"/>
              </a:rPr>
              <a:t>BACKUP / FLEX</a:t>
            </a:r>
            <a:endParaRPr lang="en-US" sz="850" dirty="0"/>
          </a:p>
        </p:txBody>
      </p:sp>
      <p:sp>
        <p:nvSpPr>
          <p:cNvPr id="25" name="Text 23"/>
          <p:cNvSpPr/>
          <p:nvPr/>
        </p:nvSpPr>
        <p:spPr>
          <a:xfrm>
            <a:off x="5577840" y="2066544"/>
            <a:ext cx="1444752" cy="1920240"/>
          </a:xfrm>
          <a:prstGeom prst="rect">
            <a:avLst/>
          </a:prstGeom>
          <a:noFill/>
          <a:ln/>
        </p:spPr>
        <p:txBody>
          <a:bodyPr wrap="square" rtlCol="0" anchor="ctr"/>
          <a:lstStyle/>
          <a:p>
            <a:pPr marL="0" indent="0">
              <a:buNone/>
            </a:pPr>
            <a:r>
              <a:rPr lang="en-US" sz="1000" dirty="0">
                <a:solidFill>
                  <a:srgbClr val="E5E0D8"/>
                </a:solidFill>
                <a:latin typeface="Arial" pitchFamily="34" charset="0"/>
                <a:ea typeface="Arial" pitchFamily="34" charset="-122"/>
                <a:cs typeface="Arial" pitchFamily="34" charset="-120"/>
              </a:rPr>
              <a:t>ATS · generator stub</a:t>
            </a:r>
            <a:endParaRPr lang="en-US" sz="1000" dirty="0"/>
          </a:p>
          <a:p>
            <a:pPr marL="0" indent="0">
              <a:buNone/>
            </a:pPr>
            <a:r>
              <a:rPr lang="en-US" sz="1000" dirty="0">
                <a:solidFill>
                  <a:srgbClr val="E5E0D8"/>
                </a:solidFill>
                <a:latin typeface="Arial" pitchFamily="34" charset="0"/>
                <a:ea typeface="Arial" pitchFamily="34" charset="-122"/>
                <a:cs typeface="Arial" pitchFamily="34" charset="-120"/>
              </a:rPr>
              <a:t>Future BESS string</a:t>
            </a:r>
            <a:endParaRPr lang="en-US" sz="1000" dirty="0"/>
          </a:p>
          <a:p>
            <a:pPr marL="0" indent="0">
              <a:buNone/>
            </a:pPr>
            <a:r>
              <a:rPr lang="en-US" sz="1000" dirty="0">
                <a:solidFill>
                  <a:srgbClr val="E5E0D8"/>
                </a:solidFill>
                <a:latin typeface="Arial" pitchFamily="34" charset="0"/>
                <a:ea typeface="Arial" pitchFamily="34" charset="-122"/>
                <a:cs typeface="Arial" pitchFamily="34" charset="-120"/>
              </a:rPr>
              <a:t>or commercial let</a:t>
            </a:r>
            <a:endParaRPr lang="en-US" sz="1000" dirty="0"/>
          </a:p>
          <a:p>
            <a:pPr marL="0" indent="0">
              <a:buNone/>
            </a:pPr>
            <a:r>
              <a:rPr lang="en-US" sz="1000" dirty="0">
                <a:solidFill>
                  <a:srgbClr val="E5E0D8"/>
                </a:solidFill>
                <a:latin typeface="Arial" pitchFamily="34" charset="0"/>
                <a:ea typeface="Arial" pitchFamily="34" charset="-122"/>
                <a:cs typeface="Arial" pitchFamily="34" charset="-120"/>
              </a:rPr>
              <a:t>rough-in pre-installed</a:t>
            </a:r>
            <a:endParaRPr lang="en-US" sz="1000" dirty="0"/>
          </a:p>
        </p:txBody>
      </p:sp>
      <p:sp>
        <p:nvSpPr>
          <p:cNvPr id="26" name="Shape 24"/>
          <p:cNvSpPr/>
          <p:nvPr/>
        </p:nvSpPr>
        <p:spPr>
          <a:xfrm>
            <a:off x="7178040" y="1508760"/>
            <a:ext cx="1627632" cy="2606040"/>
          </a:xfrm>
          <a:prstGeom prst="rect">
            <a:avLst/>
          </a:prstGeom>
          <a:solidFill>
            <a:srgbClr val="0D1B2E"/>
          </a:solidFill>
          <a:ln w="12700">
            <a:solidFill>
              <a:srgbClr val="D4956A"/>
            </a:solidFill>
            <a:prstDash val="solid"/>
          </a:ln>
        </p:spPr>
        <p:txBody>
          <a:bodyPr/>
          <a:lstStyle/>
          <a:p>
            <a:endParaRPr lang="en-GB"/>
          </a:p>
        </p:txBody>
      </p:sp>
      <p:sp>
        <p:nvSpPr>
          <p:cNvPr id="27" name="Shape 25"/>
          <p:cNvSpPr/>
          <p:nvPr/>
        </p:nvSpPr>
        <p:spPr>
          <a:xfrm>
            <a:off x="7178040" y="1508760"/>
            <a:ext cx="1627632" cy="45720"/>
          </a:xfrm>
          <a:prstGeom prst="rect">
            <a:avLst/>
          </a:prstGeom>
          <a:solidFill>
            <a:srgbClr val="D4956A"/>
          </a:solidFill>
          <a:ln w="12700">
            <a:solidFill>
              <a:srgbClr val="D4956A"/>
            </a:solidFill>
            <a:prstDash val="solid"/>
          </a:ln>
        </p:spPr>
        <p:txBody>
          <a:bodyPr/>
          <a:lstStyle/>
          <a:p>
            <a:endParaRPr lang="en-GB"/>
          </a:p>
        </p:txBody>
      </p:sp>
      <p:sp>
        <p:nvSpPr>
          <p:cNvPr id="28" name="Text 26"/>
          <p:cNvSpPr/>
          <p:nvPr/>
        </p:nvSpPr>
        <p:spPr>
          <a:xfrm>
            <a:off x="7269480" y="1572768"/>
            <a:ext cx="1444752" cy="256032"/>
          </a:xfrm>
          <a:prstGeom prst="rect">
            <a:avLst/>
          </a:prstGeom>
          <a:noFill/>
          <a:ln/>
        </p:spPr>
        <p:txBody>
          <a:bodyPr wrap="square" rtlCol="0" anchor="ctr"/>
          <a:lstStyle/>
          <a:p>
            <a:pPr marL="0" indent="0">
              <a:buNone/>
            </a:pPr>
            <a:r>
              <a:rPr lang="en-US" sz="1300" b="1" dirty="0">
                <a:solidFill>
                  <a:srgbClr val="D4956A"/>
                </a:solidFill>
                <a:latin typeface="Arial" pitchFamily="34" charset="0"/>
                <a:ea typeface="Arial" pitchFamily="34" charset="-122"/>
                <a:cs typeface="Arial" pitchFamily="34" charset="-120"/>
              </a:rPr>
              <a:t>Room 5</a:t>
            </a:r>
            <a:endParaRPr lang="en-US" sz="1300" dirty="0"/>
          </a:p>
        </p:txBody>
      </p:sp>
      <p:sp>
        <p:nvSpPr>
          <p:cNvPr id="29" name="Text 27"/>
          <p:cNvSpPr/>
          <p:nvPr/>
        </p:nvSpPr>
        <p:spPr>
          <a:xfrm>
            <a:off x="7269480" y="1828800"/>
            <a:ext cx="1444752" cy="201168"/>
          </a:xfrm>
          <a:prstGeom prst="rect">
            <a:avLst/>
          </a:prstGeom>
          <a:noFill/>
          <a:ln/>
        </p:spPr>
        <p:txBody>
          <a:bodyPr wrap="square" rtlCol="0" anchor="ctr"/>
          <a:lstStyle/>
          <a:p>
            <a:pPr marL="0" indent="0">
              <a:buNone/>
            </a:pPr>
            <a:r>
              <a:rPr lang="en-US" sz="850" kern="0" spc="100" dirty="0">
                <a:solidFill>
                  <a:srgbClr val="9CA3AF"/>
                </a:solidFill>
                <a:latin typeface="Arial" pitchFamily="34" charset="0"/>
                <a:ea typeface="Arial" pitchFamily="34" charset="-122"/>
                <a:cs typeface="Arial" pitchFamily="34" charset="-120"/>
              </a:rPr>
              <a:t>COMMERCIAL / CIVIC</a:t>
            </a:r>
            <a:endParaRPr lang="en-US" sz="850" dirty="0"/>
          </a:p>
        </p:txBody>
      </p:sp>
      <p:sp>
        <p:nvSpPr>
          <p:cNvPr id="30" name="Text 28"/>
          <p:cNvSpPr/>
          <p:nvPr/>
        </p:nvSpPr>
        <p:spPr>
          <a:xfrm>
            <a:off x="7269480" y="2066544"/>
            <a:ext cx="1444752" cy="1920240"/>
          </a:xfrm>
          <a:prstGeom prst="rect">
            <a:avLst/>
          </a:prstGeom>
          <a:noFill/>
          <a:ln/>
        </p:spPr>
        <p:txBody>
          <a:bodyPr wrap="square" rtlCol="0" anchor="ctr"/>
          <a:lstStyle/>
          <a:p>
            <a:pPr marL="0" indent="0">
              <a:buNone/>
            </a:pPr>
            <a:r>
              <a:rPr lang="en-US" sz="1000" dirty="0">
                <a:solidFill>
                  <a:srgbClr val="E5E0D8"/>
                </a:solidFill>
                <a:latin typeface="Arial" pitchFamily="34" charset="0"/>
                <a:ea typeface="Arial" pitchFamily="34" charset="-122"/>
                <a:cs typeface="Arial" pitchFamily="34" charset="-120"/>
              </a:rPr>
              <a:t>Café · fast food restaurant</a:t>
            </a:r>
            <a:endParaRPr lang="en-US" sz="1000" dirty="0"/>
          </a:p>
          <a:p>
            <a:pPr marL="0" indent="0">
              <a:buNone/>
            </a:pPr>
            <a:r>
              <a:rPr lang="en-US" sz="1000" dirty="0">
                <a:solidFill>
                  <a:srgbClr val="E5E0D8"/>
                </a:solidFill>
                <a:latin typeface="Arial" pitchFamily="34" charset="0"/>
                <a:ea typeface="Arial" pitchFamily="34" charset="-122"/>
                <a:cs typeface="Arial" pitchFamily="34" charset="-120"/>
              </a:rPr>
              <a:t>EV fast charging</a:t>
            </a:r>
            <a:endParaRPr lang="en-US" sz="1000" dirty="0"/>
          </a:p>
          <a:p>
            <a:pPr marL="0" indent="0">
              <a:buNone/>
            </a:pPr>
            <a:r>
              <a:rPr lang="en-US" sz="1000" dirty="0">
                <a:solidFill>
                  <a:srgbClr val="E5E0D8"/>
                </a:solidFill>
                <a:latin typeface="Arial" pitchFamily="34" charset="0"/>
                <a:ea typeface="Arial" pitchFamily="34" charset="-122"/>
                <a:cs typeface="Arial" pitchFamily="34" charset="-120"/>
              </a:rPr>
              <a:t>Co-working / NOC</a:t>
            </a:r>
            <a:endParaRPr lang="en-US" sz="1000" dirty="0"/>
          </a:p>
          <a:p>
            <a:pPr marL="0" indent="0">
              <a:buNone/>
            </a:pPr>
            <a:r>
              <a:rPr lang="en-US" sz="1000" dirty="0">
                <a:solidFill>
                  <a:srgbClr val="E5E0D8"/>
                </a:solidFill>
                <a:latin typeface="Arial" pitchFamily="34" charset="0"/>
                <a:ea typeface="Arial" pitchFamily="34" charset="-122"/>
                <a:cs typeface="Arial" pitchFamily="34" charset="-120"/>
              </a:rPr>
              <a:t>Retail · office · civic space</a:t>
            </a:r>
            <a:endParaRPr lang="en-US" sz="1000" dirty="0"/>
          </a:p>
          <a:p>
            <a:pPr marL="0" indent="0">
              <a:buNone/>
            </a:pPr>
            <a:r>
              <a:rPr lang="en-US" sz="1000" dirty="0">
                <a:solidFill>
                  <a:srgbClr val="E5E0D8"/>
                </a:solidFill>
                <a:latin typeface="Arial" pitchFamily="34" charset="0"/>
                <a:ea typeface="Arial" pitchFamily="34" charset="-122"/>
                <a:cs typeface="Arial" pitchFamily="34" charset="-120"/>
              </a:rPr>
              <a:t>High-footfall location</a:t>
            </a:r>
            <a:endParaRPr lang="en-US" sz="1000" dirty="0"/>
          </a:p>
        </p:txBody>
      </p:sp>
      <p:sp>
        <p:nvSpPr>
          <p:cNvPr id="31" name="Shape 29"/>
          <p:cNvSpPr/>
          <p:nvPr/>
        </p:nvSpPr>
        <p:spPr>
          <a:xfrm>
            <a:off x="411480" y="4206240"/>
            <a:ext cx="8412480" cy="502920"/>
          </a:xfrm>
          <a:prstGeom prst="rect">
            <a:avLst/>
          </a:prstGeom>
          <a:solidFill>
            <a:srgbClr val="08111E"/>
          </a:solidFill>
          <a:ln w="12700">
            <a:solidFill>
              <a:srgbClr val="FFE1C1"/>
            </a:solidFill>
            <a:prstDash val="solid"/>
          </a:ln>
        </p:spPr>
        <p:txBody>
          <a:bodyPr/>
          <a:lstStyle/>
          <a:p>
            <a:endParaRPr lang="en-GB">
              <a:solidFill>
                <a:srgbClr val="FFE1C1"/>
              </a:solidFill>
            </a:endParaRPr>
          </a:p>
        </p:txBody>
      </p:sp>
      <p:sp>
        <p:nvSpPr>
          <p:cNvPr id="32" name="Text 30"/>
          <p:cNvSpPr/>
          <p:nvPr/>
        </p:nvSpPr>
        <p:spPr>
          <a:xfrm>
            <a:off x="548640" y="4233672"/>
            <a:ext cx="8046720" cy="420624"/>
          </a:xfrm>
          <a:prstGeom prst="rect">
            <a:avLst/>
          </a:prstGeom>
          <a:solidFill>
            <a:srgbClr val="08111E"/>
          </a:solidFill>
          <a:ln/>
        </p:spPr>
        <p:txBody>
          <a:bodyPr wrap="square" rtlCol="0" anchor="ctr"/>
          <a:lstStyle/>
          <a:p>
            <a:pPr marL="0" indent="0">
              <a:buNone/>
            </a:pPr>
            <a:r>
              <a:rPr lang="en-US" sz="1000" b="1" kern="0" spc="100" dirty="0">
                <a:solidFill>
                  <a:srgbClr val="FFE1C1"/>
                </a:solidFill>
                <a:latin typeface="Arial" pitchFamily="34" charset="0"/>
                <a:ea typeface="Arial" pitchFamily="34" charset="-122"/>
                <a:cs typeface="Arial" pitchFamily="34" charset="-120"/>
              </a:rPr>
              <a:t>STRUCTURAL SHELL  </a:t>
            </a:r>
            <a:r>
              <a:rPr lang="en-US" sz="1000" dirty="0">
                <a:solidFill>
                  <a:srgbClr val="FFE1C1"/>
                </a:solidFill>
                <a:latin typeface="Arial" pitchFamily="34" charset="0"/>
                <a:ea typeface="Arial" pitchFamily="34" charset="-122"/>
                <a:cs typeface="Arial" pitchFamily="34" charset="-120"/>
              </a:rPr>
              <a:t>9-room node · 620 m² technical · 180 m² hospitality · Design life: 100+ years · Slab-on-grade: 1,875 kg/m² VR NVL72 rated · Upgrades to 8/16/32 racks require no structural changes</a:t>
            </a:r>
            <a:endParaRPr lang="en-US" sz="1000" dirty="0">
              <a:solidFill>
                <a:srgbClr val="FFE1C1"/>
              </a:solidFill>
            </a:endParaRPr>
          </a:p>
        </p:txBody>
      </p:sp>
      <p:sp>
        <p:nvSpPr>
          <p:cNvPr id="33" name="Shape 31"/>
          <p:cNvSpPr/>
          <p:nvPr/>
        </p:nvSpPr>
        <p:spPr>
          <a:xfrm>
            <a:off x="0" y="4892040"/>
            <a:ext cx="9144000" cy="251460"/>
          </a:xfrm>
          <a:prstGeom prst="rect">
            <a:avLst/>
          </a:prstGeom>
          <a:solidFill>
            <a:srgbClr val="08111E"/>
          </a:solidFill>
          <a:ln w="12700">
            <a:solidFill>
              <a:srgbClr val="0D1B2E"/>
            </a:solidFill>
            <a:prstDash val="solid"/>
          </a:ln>
        </p:spPr>
        <p:txBody>
          <a:bodyPr/>
          <a:lstStyle/>
          <a:p>
            <a:endParaRPr lang="en-GB"/>
          </a:p>
        </p:txBody>
      </p:sp>
      <p:sp>
        <p:nvSpPr>
          <p:cNvPr id="34" name="Shape 32"/>
          <p:cNvSpPr/>
          <p:nvPr/>
        </p:nvSpPr>
        <p:spPr>
          <a:xfrm>
            <a:off x="0" y="4892040"/>
            <a:ext cx="9144000" cy="27432"/>
          </a:xfrm>
          <a:prstGeom prst="rect">
            <a:avLst/>
          </a:prstGeom>
          <a:solidFill>
            <a:srgbClr val="08111E"/>
          </a:solidFill>
          <a:ln w="12700">
            <a:solidFill>
              <a:srgbClr val="B87333"/>
            </a:solidFill>
            <a:prstDash val="solid"/>
          </a:ln>
        </p:spPr>
        <p:txBody>
          <a:bodyPr/>
          <a:lstStyle/>
          <a:p>
            <a:endParaRPr lang="en-GB"/>
          </a:p>
        </p:txBody>
      </p:sp>
      <p:sp>
        <p:nvSpPr>
          <p:cNvPr id="35" name="Text 33"/>
          <p:cNvSpPr/>
          <p:nvPr/>
        </p:nvSpPr>
        <p:spPr>
          <a:xfrm>
            <a:off x="320040" y="4901184"/>
            <a:ext cx="4572000" cy="228600"/>
          </a:xfrm>
          <a:prstGeom prst="rect">
            <a:avLst/>
          </a:prstGeom>
          <a:solidFill>
            <a:srgbClr val="08111E"/>
          </a:solidFill>
          <a:ln/>
        </p:spPr>
        <p:txBody>
          <a:bodyPr wrap="square" rtlCol="0" anchor="ctr"/>
          <a:lstStyle/>
          <a:p>
            <a:pPr marL="0" indent="0">
              <a:buNone/>
            </a:pPr>
            <a:r>
              <a:rPr lang="en-US" sz="800" dirty="0">
                <a:solidFill>
                  <a:srgbClr val="B87333"/>
                </a:solidFill>
                <a:latin typeface="Arial" pitchFamily="34" charset="0"/>
                <a:ea typeface="Arial" pitchFamily="34" charset="-122"/>
                <a:cs typeface="Arial" pitchFamily="34" charset="-120"/>
              </a:rPr>
              <a:t>UMPIREAL  ·  CONFIDENTIAL</a:t>
            </a:r>
            <a:endParaRPr lang="en-US" sz="800" dirty="0"/>
          </a:p>
        </p:txBody>
      </p:sp>
      <p:sp>
        <p:nvSpPr>
          <p:cNvPr id="36" name="Text 34"/>
          <p:cNvSpPr/>
          <p:nvPr/>
        </p:nvSpPr>
        <p:spPr>
          <a:xfrm>
            <a:off x="4572000" y="4901184"/>
            <a:ext cx="4251960" cy="228600"/>
          </a:xfrm>
          <a:prstGeom prst="rect">
            <a:avLst/>
          </a:prstGeom>
          <a:solidFill>
            <a:srgbClr val="08111E"/>
          </a:solidFill>
          <a:ln/>
        </p:spPr>
        <p:txBody>
          <a:bodyPr wrap="square" rtlCol="0" anchor="ctr"/>
          <a:lstStyle/>
          <a:p>
            <a:pPr marL="0" indent="0" algn="r">
              <a:buNone/>
            </a:pPr>
            <a:r>
              <a:rPr lang="en-US" sz="800" dirty="0">
                <a:solidFill>
                  <a:srgbClr val="9CA3AF"/>
                </a:solidFill>
                <a:latin typeface="Arial" pitchFamily="34" charset="0"/>
                <a:ea typeface="Arial" pitchFamily="34" charset="-122"/>
                <a:cs typeface="Arial" pitchFamily="34" charset="-120"/>
              </a:rPr>
              <a:t>03 — The Node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11480" y="164592"/>
            <a:ext cx="54864" cy="384048"/>
          </a:xfrm>
          <a:prstGeom prst="rect">
            <a:avLst/>
          </a:prstGeom>
          <a:solidFill>
            <a:schemeClr val="bg2">
              <a:lumMod val="90000"/>
            </a:schemeClr>
          </a:solidFill>
          <a:ln w="12700">
            <a:solidFill>
              <a:schemeClr val="bg1">
                <a:lumMod val="85000"/>
              </a:schemeClr>
            </a:solidFill>
            <a:prstDash val="solid"/>
          </a:ln>
        </p:spPr>
        <p:txBody>
          <a:bodyPr/>
          <a:lstStyle/>
          <a:p>
            <a:endParaRPr lang="en-GB"/>
          </a:p>
        </p:txBody>
      </p:sp>
      <p:sp>
        <p:nvSpPr>
          <p:cNvPr id="3" name="Text 1"/>
          <p:cNvSpPr/>
          <p:nvPr/>
        </p:nvSpPr>
        <p:spPr>
          <a:xfrm>
            <a:off x="548640" y="155448"/>
            <a:ext cx="8229600" cy="411480"/>
          </a:xfrm>
          <a:prstGeom prst="rect">
            <a:avLst/>
          </a:prstGeom>
          <a:noFill/>
          <a:ln/>
        </p:spPr>
        <p:txBody>
          <a:bodyPr wrap="square" rtlCol="0" anchor="ctr"/>
          <a:lstStyle/>
          <a:p>
            <a:pPr marL="0" indent="0">
              <a:buNone/>
            </a:pPr>
            <a:r>
              <a:rPr lang="en-US" sz="1100" b="1" kern="0" spc="300" dirty="0">
                <a:solidFill>
                  <a:schemeClr val="bg2">
                    <a:lumMod val="90000"/>
                  </a:schemeClr>
                </a:solidFill>
                <a:latin typeface="Arial" pitchFamily="34" charset="0"/>
                <a:ea typeface="Arial" pitchFamily="34" charset="-122"/>
                <a:cs typeface="Arial" pitchFamily="34" charset="-120"/>
              </a:rPr>
              <a:t>CAPITAL COST</a:t>
            </a:r>
            <a:endParaRPr lang="en-US" sz="1100" dirty="0">
              <a:solidFill>
                <a:schemeClr val="bg2">
                  <a:lumMod val="90000"/>
                </a:schemeClr>
              </a:solidFill>
            </a:endParaRPr>
          </a:p>
        </p:txBody>
      </p:sp>
      <p:sp>
        <p:nvSpPr>
          <p:cNvPr id="4" name="Text 2"/>
          <p:cNvSpPr/>
          <p:nvPr/>
        </p:nvSpPr>
        <p:spPr>
          <a:xfrm>
            <a:off x="411480" y="491719"/>
            <a:ext cx="8321040" cy="502920"/>
          </a:xfrm>
          <a:prstGeom prst="rect">
            <a:avLst/>
          </a:prstGeom>
          <a:noFill/>
          <a:ln/>
        </p:spPr>
        <p:txBody>
          <a:bodyPr wrap="square" rtlCol="0" anchor="ctr"/>
          <a:lstStyle/>
          <a:p>
            <a:pPr marL="0" indent="0">
              <a:buNone/>
            </a:pPr>
            <a:r>
              <a:rPr lang="en-US" sz="2000" spc="300" dirty="0">
                <a:solidFill>
                  <a:schemeClr val="bg1">
                    <a:lumMod val="85000"/>
                  </a:schemeClr>
                </a:solidFill>
                <a:latin typeface="Aptos" panose="020B0004020202020204" pitchFamily="34" charset="0"/>
                <a:ea typeface="Arial" pitchFamily="34" charset="-122"/>
                <a:cs typeface="Arial" pitchFamily="34" charset="-120"/>
              </a:rPr>
              <a:t>€5.79M Colocation Tenant Ready</a:t>
            </a:r>
            <a:endParaRPr lang="en-US" sz="2000" spc="300" dirty="0">
              <a:solidFill>
                <a:schemeClr val="bg1">
                  <a:lumMod val="85000"/>
                </a:schemeClr>
              </a:solidFill>
              <a:latin typeface="Aptos" panose="020B0004020202020204" pitchFamily="34" charset="0"/>
            </a:endParaRPr>
          </a:p>
        </p:txBody>
      </p:sp>
      <p:sp>
        <p:nvSpPr>
          <p:cNvPr id="5" name="Shape 3"/>
          <p:cNvSpPr/>
          <p:nvPr/>
        </p:nvSpPr>
        <p:spPr>
          <a:xfrm>
            <a:off x="411480" y="1086079"/>
            <a:ext cx="5486400" cy="274320"/>
          </a:xfrm>
          <a:prstGeom prst="rect">
            <a:avLst/>
          </a:prstGeom>
          <a:solidFill>
            <a:srgbClr val="050D1A"/>
          </a:solidFill>
          <a:ln w="12700">
            <a:solidFill>
              <a:srgbClr val="050D1A"/>
            </a:solidFill>
            <a:prstDash val="solid"/>
          </a:ln>
        </p:spPr>
        <p:txBody>
          <a:bodyPr/>
          <a:lstStyle/>
          <a:p>
            <a:endParaRPr lang="en-GB"/>
          </a:p>
        </p:txBody>
      </p:sp>
      <p:sp>
        <p:nvSpPr>
          <p:cNvPr id="6" name="Text 4"/>
          <p:cNvSpPr/>
          <p:nvPr/>
        </p:nvSpPr>
        <p:spPr>
          <a:xfrm>
            <a:off x="411480" y="1104367"/>
            <a:ext cx="2743200" cy="201168"/>
          </a:xfrm>
          <a:prstGeom prst="rect">
            <a:avLst/>
          </a:prstGeom>
          <a:noFill/>
          <a:ln/>
        </p:spPr>
        <p:txBody>
          <a:bodyPr wrap="square" rtlCol="0" anchor="ctr"/>
          <a:lstStyle/>
          <a:p>
            <a:pPr marL="0" indent="0">
              <a:buNone/>
            </a:pPr>
            <a:r>
              <a:rPr lang="en-US" sz="900" kern="0" spc="200" dirty="0">
                <a:solidFill>
                  <a:srgbClr val="B87333"/>
                </a:solidFill>
                <a:latin typeface="Arial" pitchFamily="34" charset="0"/>
                <a:ea typeface="Arial" pitchFamily="34" charset="-122"/>
                <a:cs typeface="Arial" pitchFamily="34" charset="-120"/>
              </a:rPr>
              <a:t>BREAKDOWN</a:t>
            </a:r>
            <a:endParaRPr lang="en-US" sz="900" dirty="0"/>
          </a:p>
        </p:txBody>
      </p:sp>
      <p:sp>
        <p:nvSpPr>
          <p:cNvPr id="7" name="Shape 5"/>
          <p:cNvSpPr/>
          <p:nvPr/>
        </p:nvSpPr>
        <p:spPr>
          <a:xfrm>
            <a:off x="411480" y="1378687"/>
            <a:ext cx="5486400" cy="347472"/>
          </a:xfrm>
          <a:prstGeom prst="rect">
            <a:avLst/>
          </a:prstGeom>
          <a:solidFill>
            <a:srgbClr val="08111E"/>
          </a:solidFill>
          <a:ln w="12700">
            <a:solidFill>
              <a:srgbClr val="1A2535"/>
            </a:solidFill>
            <a:prstDash val="solid"/>
          </a:ln>
        </p:spPr>
        <p:txBody>
          <a:bodyPr/>
          <a:lstStyle/>
          <a:p>
            <a:endParaRPr lang="en-GB"/>
          </a:p>
        </p:txBody>
      </p:sp>
      <p:sp>
        <p:nvSpPr>
          <p:cNvPr id="8" name="Shape 6"/>
          <p:cNvSpPr/>
          <p:nvPr/>
        </p:nvSpPr>
        <p:spPr>
          <a:xfrm>
            <a:off x="411480" y="1378687"/>
            <a:ext cx="45720" cy="347472"/>
          </a:xfrm>
          <a:prstGeom prst="rect">
            <a:avLst/>
          </a:prstGeom>
          <a:solidFill>
            <a:srgbClr val="D4956A"/>
          </a:solidFill>
          <a:ln w="12700">
            <a:solidFill>
              <a:srgbClr val="D4956A"/>
            </a:solidFill>
            <a:prstDash val="solid"/>
          </a:ln>
        </p:spPr>
        <p:txBody>
          <a:bodyPr/>
          <a:lstStyle/>
          <a:p>
            <a:endParaRPr lang="en-GB"/>
          </a:p>
        </p:txBody>
      </p:sp>
      <p:sp>
        <p:nvSpPr>
          <p:cNvPr id="9" name="Text 7"/>
          <p:cNvSpPr/>
          <p:nvPr/>
        </p:nvSpPr>
        <p:spPr>
          <a:xfrm>
            <a:off x="548640" y="1433551"/>
            <a:ext cx="3931920" cy="237744"/>
          </a:xfrm>
          <a:prstGeom prst="rect">
            <a:avLst/>
          </a:prstGeom>
          <a:noFill/>
          <a:ln/>
        </p:spPr>
        <p:txBody>
          <a:bodyPr wrap="square" rtlCol="0" anchor="ctr"/>
          <a:lstStyle/>
          <a:p>
            <a:pPr marL="0" indent="0">
              <a:buNone/>
            </a:pPr>
            <a:r>
              <a:rPr lang="en-US" sz="1000" dirty="0">
                <a:solidFill>
                  <a:srgbClr val="E5E0D8"/>
                </a:solidFill>
                <a:latin typeface="Arial" pitchFamily="34" charset="0"/>
                <a:ea typeface="Arial" pitchFamily="34" charset="-122"/>
                <a:cs typeface="Arial" pitchFamily="34" charset="-120"/>
              </a:rPr>
              <a:t>Structural shell (precast + install + civils)</a:t>
            </a:r>
            <a:endParaRPr lang="en-US" sz="1000" dirty="0"/>
          </a:p>
        </p:txBody>
      </p:sp>
      <p:sp>
        <p:nvSpPr>
          <p:cNvPr id="10" name="Text 8"/>
          <p:cNvSpPr/>
          <p:nvPr/>
        </p:nvSpPr>
        <p:spPr>
          <a:xfrm>
            <a:off x="4480560" y="1433551"/>
            <a:ext cx="822960" cy="237744"/>
          </a:xfrm>
          <a:prstGeom prst="rect">
            <a:avLst/>
          </a:prstGeom>
          <a:noFill/>
          <a:ln/>
        </p:spPr>
        <p:txBody>
          <a:bodyPr wrap="square" rtlCol="0" anchor="ctr"/>
          <a:lstStyle/>
          <a:p>
            <a:pPr marL="0" indent="0" algn="r">
              <a:buNone/>
            </a:pPr>
            <a:r>
              <a:rPr lang="en-US" sz="1000" b="1" dirty="0">
                <a:solidFill>
                  <a:srgbClr val="D4956A"/>
                </a:solidFill>
                <a:latin typeface="Arial" pitchFamily="34" charset="0"/>
                <a:ea typeface="Arial" pitchFamily="34" charset="-122"/>
                <a:cs typeface="Arial" pitchFamily="34" charset="-120"/>
              </a:rPr>
              <a:t>€1.89M</a:t>
            </a:r>
            <a:endParaRPr lang="en-US" sz="1000" dirty="0"/>
          </a:p>
        </p:txBody>
      </p:sp>
      <p:sp>
        <p:nvSpPr>
          <p:cNvPr id="11" name="Text 9"/>
          <p:cNvSpPr/>
          <p:nvPr/>
        </p:nvSpPr>
        <p:spPr>
          <a:xfrm>
            <a:off x="5303520" y="1433551"/>
            <a:ext cx="548640" cy="237744"/>
          </a:xfrm>
          <a:prstGeom prst="rect">
            <a:avLst/>
          </a:prstGeom>
          <a:noFill/>
          <a:ln/>
        </p:spPr>
        <p:txBody>
          <a:bodyPr wrap="square" rtlCol="0" anchor="ctr"/>
          <a:lstStyle/>
          <a:p>
            <a:pPr marL="0" indent="0" algn="r">
              <a:buNone/>
            </a:pPr>
            <a:r>
              <a:rPr lang="en-US" sz="900" dirty="0">
                <a:solidFill>
                  <a:srgbClr val="9CA3AF"/>
                </a:solidFill>
                <a:latin typeface="Arial" pitchFamily="34" charset="0"/>
                <a:ea typeface="Arial" pitchFamily="34" charset="-122"/>
                <a:cs typeface="Arial" pitchFamily="34" charset="-120"/>
              </a:rPr>
              <a:t>33%</a:t>
            </a:r>
            <a:endParaRPr lang="en-US" sz="900" dirty="0"/>
          </a:p>
        </p:txBody>
      </p:sp>
      <p:sp>
        <p:nvSpPr>
          <p:cNvPr id="12" name="Shape 10"/>
          <p:cNvSpPr/>
          <p:nvPr/>
        </p:nvSpPr>
        <p:spPr>
          <a:xfrm>
            <a:off x="411480" y="1781023"/>
            <a:ext cx="5486400" cy="347472"/>
          </a:xfrm>
          <a:prstGeom prst="rect">
            <a:avLst/>
          </a:prstGeom>
          <a:solidFill>
            <a:srgbClr val="08111E"/>
          </a:solidFill>
          <a:ln w="12700">
            <a:solidFill>
              <a:srgbClr val="1A2535"/>
            </a:solidFill>
            <a:prstDash val="solid"/>
          </a:ln>
        </p:spPr>
        <p:txBody>
          <a:bodyPr/>
          <a:lstStyle/>
          <a:p>
            <a:endParaRPr lang="en-GB"/>
          </a:p>
        </p:txBody>
      </p:sp>
      <p:sp>
        <p:nvSpPr>
          <p:cNvPr id="13" name="Shape 11"/>
          <p:cNvSpPr/>
          <p:nvPr/>
        </p:nvSpPr>
        <p:spPr>
          <a:xfrm>
            <a:off x="411480" y="1781023"/>
            <a:ext cx="45720" cy="347472"/>
          </a:xfrm>
          <a:prstGeom prst="rect">
            <a:avLst/>
          </a:prstGeom>
          <a:solidFill>
            <a:srgbClr val="D4956A"/>
          </a:solidFill>
          <a:ln w="12700">
            <a:solidFill>
              <a:srgbClr val="D4956A"/>
            </a:solidFill>
            <a:prstDash val="solid"/>
          </a:ln>
        </p:spPr>
        <p:txBody>
          <a:bodyPr/>
          <a:lstStyle/>
          <a:p>
            <a:endParaRPr lang="en-GB"/>
          </a:p>
        </p:txBody>
      </p:sp>
      <p:sp>
        <p:nvSpPr>
          <p:cNvPr id="14" name="Text 12"/>
          <p:cNvSpPr/>
          <p:nvPr/>
        </p:nvSpPr>
        <p:spPr>
          <a:xfrm>
            <a:off x="548640" y="1835887"/>
            <a:ext cx="3931920" cy="237744"/>
          </a:xfrm>
          <a:prstGeom prst="rect">
            <a:avLst/>
          </a:prstGeom>
          <a:noFill/>
          <a:ln/>
        </p:spPr>
        <p:txBody>
          <a:bodyPr wrap="square" rtlCol="0" anchor="ctr"/>
          <a:lstStyle/>
          <a:p>
            <a:pPr marL="0" indent="0">
              <a:buNone/>
            </a:pPr>
            <a:r>
              <a:rPr lang="en-US" sz="1000" dirty="0">
                <a:solidFill>
                  <a:srgbClr val="E5E0D8"/>
                </a:solidFill>
                <a:latin typeface="Arial" pitchFamily="34" charset="0"/>
                <a:ea typeface="Arial" pitchFamily="34" charset="-122"/>
                <a:cs typeface="Arial" pitchFamily="34" charset="-120"/>
              </a:rPr>
              <a:t>Above-ground road works + civils + TM</a:t>
            </a:r>
            <a:endParaRPr lang="en-US" sz="1000" dirty="0"/>
          </a:p>
        </p:txBody>
      </p:sp>
      <p:sp>
        <p:nvSpPr>
          <p:cNvPr id="15" name="Text 13"/>
          <p:cNvSpPr/>
          <p:nvPr/>
        </p:nvSpPr>
        <p:spPr>
          <a:xfrm>
            <a:off x="4480560" y="1835887"/>
            <a:ext cx="822960" cy="237744"/>
          </a:xfrm>
          <a:prstGeom prst="rect">
            <a:avLst/>
          </a:prstGeom>
          <a:noFill/>
          <a:ln/>
        </p:spPr>
        <p:txBody>
          <a:bodyPr wrap="square" rtlCol="0" anchor="ctr"/>
          <a:lstStyle/>
          <a:p>
            <a:pPr marL="0" indent="0" algn="r">
              <a:buNone/>
            </a:pPr>
            <a:r>
              <a:rPr lang="en-US" sz="1000" b="1" dirty="0">
                <a:solidFill>
                  <a:srgbClr val="D4956A"/>
                </a:solidFill>
                <a:latin typeface="Arial" pitchFamily="34" charset="0"/>
                <a:ea typeface="Arial" pitchFamily="34" charset="-122"/>
                <a:cs typeface="Arial" pitchFamily="34" charset="-120"/>
              </a:rPr>
              <a:t>€0.8M</a:t>
            </a:r>
            <a:endParaRPr lang="en-US" sz="1000" dirty="0"/>
          </a:p>
        </p:txBody>
      </p:sp>
      <p:sp>
        <p:nvSpPr>
          <p:cNvPr id="16" name="Text 14"/>
          <p:cNvSpPr/>
          <p:nvPr/>
        </p:nvSpPr>
        <p:spPr>
          <a:xfrm>
            <a:off x="5303520" y="1835887"/>
            <a:ext cx="548640" cy="237744"/>
          </a:xfrm>
          <a:prstGeom prst="rect">
            <a:avLst/>
          </a:prstGeom>
          <a:noFill/>
          <a:ln/>
        </p:spPr>
        <p:txBody>
          <a:bodyPr wrap="square" rtlCol="0" anchor="ctr"/>
          <a:lstStyle/>
          <a:p>
            <a:pPr marL="0" indent="0" algn="r">
              <a:buNone/>
            </a:pPr>
            <a:r>
              <a:rPr lang="en-US" sz="900" dirty="0">
                <a:solidFill>
                  <a:srgbClr val="9CA3AF"/>
                </a:solidFill>
                <a:latin typeface="Arial" pitchFamily="34" charset="0"/>
                <a:ea typeface="Arial" pitchFamily="34" charset="-122"/>
                <a:cs typeface="Arial" pitchFamily="34" charset="-120"/>
              </a:rPr>
              <a:t>9%</a:t>
            </a:r>
            <a:endParaRPr lang="en-US" sz="900" dirty="0"/>
          </a:p>
        </p:txBody>
      </p:sp>
      <p:sp>
        <p:nvSpPr>
          <p:cNvPr id="17" name="Shape 15"/>
          <p:cNvSpPr/>
          <p:nvPr/>
        </p:nvSpPr>
        <p:spPr>
          <a:xfrm>
            <a:off x="411480" y="2183359"/>
            <a:ext cx="5486400" cy="347472"/>
          </a:xfrm>
          <a:prstGeom prst="rect">
            <a:avLst/>
          </a:prstGeom>
          <a:solidFill>
            <a:srgbClr val="08111E"/>
          </a:solidFill>
          <a:ln w="12700">
            <a:solidFill>
              <a:srgbClr val="1A2535"/>
            </a:solidFill>
            <a:prstDash val="solid"/>
          </a:ln>
        </p:spPr>
        <p:txBody>
          <a:bodyPr/>
          <a:lstStyle/>
          <a:p>
            <a:endParaRPr lang="en-GB"/>
          </a:p>
        </p:txBody>
      </p:sp>
      <p:sp>
        <p:nvSpPr>
          <p:cNvPr id="18" name="Shape 16"/>
          <p:cNvSpPr/>
          <p:nvPr/>
        </p:nvSpPr>
        <p:spPr>
          <a:xfrm>
            <a:off x="411480" y="2183359"/>
            <a:ext cx="45720" cy="347472"/>
          </a:xfrm>
          <a:prstGeom prst="rect">
            <a:avLst/>
          </a:prstGeom>
          <a:solidFill>
            <a:srgbClr val="22D3EE"/>
          </a:solidFill>
          <a:ln w="12700">
            <a:solidFill>
              <a:srgbClr val="22D3EE"/>
            </a:solidFill>
            <a:prstDash val="solid"/>
          </a:ln>
        </p:spPr>
        <p:txBody>
          <a:bodyPr/>
          <a:lstStyle/>
          <a:p>
            <a:endParaRPr lang="en-GB"/>
          </a:p>
        </p:txBody>
      </p:sp>
      <p:sp>
        <p:nvSpPr>
          <p:cNvPr id="19" name="Text 17"/>
          <p:cNvSpPr/>
          <p:nvPr/>
        </p:nvSpPr>
        <p:spPr>
          <a:xfrm>
            <a:off x="548640" y="2238223"/>
            <a:ext cx="3931920" cy="237744"/>
          </a:xfrm>
          <a:prstGeom prst="rect">
            <a:avLst/>
          </a:prstGeom>
          <a:noFill/>
          <a:ln/>
        </p:spPr>
        <p:txBody>
          <a:bodyPr wrap="square" rtlCol="0" anchor="ctr"/>
          <a:lstStyle/>
          <a:p>
            <a:pPr marL="0" indent="0">
              <a:buNone/>
            </a:pPr>
            <a:r>
              <a:rPr lang="en-US" sz="1000" dirty="0">
                <a:solidFill>
                  <a:srgbClr val="E5E0D8"/>
                </a:solidFill>
                <a:latin typeface="Arial" pitchFamily="34" charset="0"/>
                <a:ea typeface="Arial" pitchFamily="34" charset="-122"/>
                <a:cs typeface="Arial" pitchFamily="34" charset="-120"/>
              </a:rPr>
              <a:t>Data room fit-out — DLC-ready, IaaS landlord scope (4× NVL72)</a:t>
            </a:r>
            <a:endParaRPr lang="en-US" sz="1000" dirty="0"/>
          </a:p>
        </p:txBody>
      </p:sp>
      <p:sp>
        <p:nvSpPr>
          <p:cNvPr id="20" name="Text 18"/>
          <p:cNvSpPr/>
          <p:nvPr/>
        </p:nvSpPr>
        <p:spPr>
          <a:xfrm>
            <a:off x="4480560" y="2238223"/>
            <a:ext cx="822960" cy="237744"/>
          </a:xfrm>
          <a:prstGeom prst="rect">
            <a:avLst/>
          </a:prstGeom>
          <a:noFill/>
          <a:ln/>
        </p:spPr>
        <p:txBody>
          <a:bodyPr wrap="square" rtlCol="0" anchor="ctr"/>
          <a:lstStyle/>
          <a:p>
            <a:pPr marL="0" indent="0" algn="r">
              <a:buNone/>
            </a:pPr>
            <a:r>
              <a:rPr lang="en-US" sz="1000" b="1" dirty="0">
                <a:solidFill>
                  <a:srgbClr val="22D3EE"/>
                </a:solidFill>
                <a:latin typeface="Arial" pitchFamily="34" charset="0"/>
                <a:ea typeface="Arial" pitchFamily="34" charset="-122"/>
                <a:cs typeface="Arial" pitchFamily="34" charset="-120"/>
              </a:rPr>
              <a:t>€1.04M</a:t>
            </a:r>
            <a:endParaRPr lang="en-US" sz="1000" dirty="0"/>
          </a:p>
        </p:txBody>
      </p:sp>
      <p:sp>
        <p:nvSpPr>
          <p:cNvPr id="21" name="Text 19"/>
          <p:cNvSpPr/>
          <p:nvPr/>
        </p:nvSpPr>
        <p:spPr>
          <a:xfrm>
            <a:off x="5303520" y="2238223"/>
            <a:ext cx="548640" cy="237744"/>
          </a:xfrm>
          <a:prstGeom prst="rect">
            <a:avLst/>
          </a:prstGeom>
          <a:noFill/>
          <a:ln/>
        </p:spPr>
        <p:txBody>
          <a:bodyPr wrap="square" rtlCol="0" anchor="ctr"/>
          <a:lstStyle/>
          <a:p>
            <a:pPr marL="0" indent="0" algn="r">
              <a:buNone/>
            </a:pPr>
            <a:r>
              <a:rPr lang="en-US" sz="900" dirty="0">
                <a:solidFill>
                  <a:srgbClr val="9CA3AF"/>
                </a:solidFill>
                <a:latin typeface="Arial" pitchFamily="34" charset="0"/>
                <a:ea typeface="Arial" pitchFamily="34" charset="-122"/>
                <a:cs typeface="Arial" pitchFamily="34" charset="-120"/>
              </a:rPr>
              <a:t>18%</a:t>
            </a:r>
            <a:endParaRPr lang="en-US" sz="900" dirty="0"/>
          </a:p>
        </p:txBody>
      </p:sp>
      <p:sp>
        <p:nvSpPr>
          <p:cNvPr id="22" name="Shape 20"/>
          <p:cNvSpPr/>
          <p:nvPr/>
        </p:nvSpPr>
        <p:spPr>
          <a:xfrm>
            <a:off x="411480" y="2585695"/>
            <a:ext cx="5486400" cy="347472"/>
          </a:xfrm>
          <a:prstGeom prst="rect">
            <a:avLst/>
          </a:prstGeom>
          <a:solidFill>
            <a:srgbClr val="08111E"/>
          </a:solidFill>
          <a:ln w="12700">
            <a:solidFill>
              <a:srgbClr val="1A2535"/>
            </a:solidFill>
            <a:prstDash val="solid"/>
          </a:ln>
        </p:spPr>
        <p:txBody>
          <a:bodyPr/>
          <a:lstStyle/>
          <a:p>
            <a:endParaRPr lang="en-GB"/>
          </a:p>
        </p:txBody>
      </p:sp>
      <p:sp>
        <p:nvSpPr>
          <p:cNvPr id="23" name="Shape 21"/>
          <p:cNvSpPr/>
          <p:nvPr/>
        </p:nvSpPr>
        <p:spPr>
          <a:xfrm>
            <a:off x="411480" y="2585695"/>
            <a:ext cx="45720" cy="347472"/>
          </a:xfrm>
          <a:prstGeom prst="rect">
            <a:avLst/>
          </a:prstGeom>
          <a:solidFill>
            <a:srgbClr val="F0B429"/>
          </a:solidFill>
          <a:ln w="12700">
            <a:solidFill>
              <a:srgbClr val="F0B429"/>
            </a:solidFill>
            <a:prstDash val="solid"/>
          </a:ln>
        </p:spPr>
        <p:txBody>
          <a:bodyPr/>
          <a:lstStyle/>
          <a:p>
            <a:endParaRPr lang="en-GB"/>
          </a:p>
        </p:txBody>
      </p:sp>
      <p:sp>
        <p:nvSpPr>
          <p:cNvPr id="24" name="Text 22"/>
          <p:cNvSpPr/>
          <p:nvPr/>
        </p:nvSpPr>
        <p:spPr>
          <a:xfrm>
            <a:off x="548640" y="2640559"/>
            <a:ext cx="3931920" cy="237744"/>
          </a:xfrm>
          <a:prstGeom prst="rect">
            <a:avLst/>
          </a:prstGeom>
          <a:noFill/>
          <a:ln/>
        </p:spPr>
        <p:txBody>
          <a:bodyPr wrap="square" rtlCol="0" anchor="ctr"/>
          <a:lstStyle/>
          <a:p>
            <a:pPr marL="0" indent="0">
              <a:buNone/>
            </a:pPr>
            <a:r>
              <a:rPr lang="en-US" sz="1000" dirty="0">
                <a:solidFill>
                  <a:srgbClr val="E5E0D8"/>
                </a:solidFill>
                <a:latin typeface="Arial" pitchFamily="34" charset="0"/>
                <a:ea typeface="Arial" pitchFamily="34" charset="-122"/>
                <a:cs typeface="Arial" pitchFamily="34" charset="-120"/>
              </a:rPr>
              <a:t>BESS — 7MWh BYD Blade LFP · 1 room (€120/kWh installed)</a:t>
            </a:r>
            <a:endParaRPr lang="en-US" sz="1000" dirty="0"/>
          </a:p>
        </p:txBody>
      </p:sp>
      <p:sp>
        <p:nvSpPr>
          <p:cNvPr id="25" name="Text 23"/>
          <p:cNvSpPr/>
          <p:nvPr/>
        </p:nvSpPr>
        <p:spPr>
          <a:xfrm>
            <a:off x="4480560" y="2640559"/>
            <a:ext cx="822960" cy="237744"/>
          </a:xfrm>
          <a:prstGeom prst="rect">
            <a:avLst/>
          </a:prstGeom>
          <a:noFill/>
          <a:ln/>
        </p:spPr>
        <p:txBody>
          <a:bodyPr wrap="square" rtlCol="0" anchor="ctr"/>
          <a:lstStyle/>
          <a:p>
            <a:pPr marL="0" indent="0" algn="r">
              <a:buNone/>
            </a:pPr>
            <a:r>
              <a:rPr lang="en-US" sz="1000" b="1" dirty="0">
                <a:solidFill>
                  <a:srgbClr val="F0B429"/>
                </a:solidFill>
                <a:latin typeface="Arial" pitchFamily="34" charset="0"/>
                <a:ea typeface="Arial" pitchFamily="34" charset="-122"/>
                <a:cs typeface="Arial" pitchFamily="34" charset="-120"/>
              </a:rPr>
              <a:t>€0.975M</a:t>
            </a:r>
            <a:endParaRPr lang="en-US" sz="1000" dirty="0"/>
          </a:p>
        </p:txBody>
      </p:sp>
      <p:sp>
        <p:nvSpPr>
          <p:cNvPr id="26" name="Text 24"/>
          <p:cNvSpPr/>
          <p:nvPr/>
        </p:nvSpPr>
        <p:spPr>
          <a:xfrm>
            <a:off x="5303520" y="2640559"/>
            <a:ext cx="548640" cy="237744"/>
          </a:xfrm>
          <a:prstGeom prst="rect">
            <a:avLst/>
          </a:prstGeom>
          <a:noFill/>
          <a:ln/>
        </p:spPr>
        <p:txBody>
          <a:bodyPr wrap="square" rtlCol="0" anchor="ctr"/>
          <a:lstStyle/>
          <a:p>
            <a:pPr marL="0" indent="0" algn="r">
              <a:buNone/>
            </a:pPr>
            <a:r>
              <a:rPr lang="en-US" sz="900" dirty="0">
                <a:solidFill>
                  <a:srgbClr val="9CA3AF"/>
                </a:solidFill>
                <a:latin typeface="Arial" pitchFamily="34" charset="0"/>
                <a:ea typeface="Arial" pitchFamily="34" charset="-122"/>
                <a:cs typeface="Arial" pitchFamily="34" charset="-120"/>
              </a:rPr>
              <a:t>17%</a:t>
            </a:r>
            <a:endParaRPr lang="en-US" sz="900" dirty="0"/>
          </a:p>
        </p:txBody>
      </p:sp>
      <p:sp>
        <p:nvSpPr>
          <p:cNvPr id="27" name="Shape 25"/>
          <p:cNvSpPr/>
          <p:nvPr/>
        </p:nvSpPr>
        <p:spPr>
          <a:xfrm>
            <a:off x="411480" y="2988031"/>
            <a:ext cx="5486400" cy="347472"/>
          </a:xfrm>
          <a:prstGeom prst="rect">
            <a:avLst/>
          </a:prstGeom>
          <a:solidFill>
            <a:srgbClr val="08111E"/>
          </a:solidFill>
          <a:ln w="12700">
            <a:solidFill>
              <a:srgbClr val="1A2535"/>
            </a:solidFill>
            <a:prstDash val="solid"/>
          </a:ln>
        </p:spPr>
        <p:txBody>
          <a:bodyPr/>
          <a:lstStyle/>
          <a:p>
            <a:endParaRPr lang="en-GB"/>
          </a:p>
        </p:txBody>
      </p:sp>
      <p:sp>
        <p:nvSpPr>
          <p:cNvPr id="28" name="Shape 26"/>
          <p:cNvSpPr/>
          <p:nvPr/>
        </p:nvSpPr>
        <p:spPr>
          <a:xfrm>
            <a:off x="411480" y="2988031"/>
            <a:ext cx="45720" cy="347472"/>
          </a:xfrm>
          <a:prstGeom prst="rect">
            <a:avLst/>
          </a:prstGeom>
          <a:solidFill>
            <a:srgbClr val="22F6AF"/>
          </a:solidFill>
          <a:ln w="12700">
            <a:solidFill>
              <a:srgbClr val="10B981"/>
            </a:solidFill>
            <a:prstDash val="solid"/>
          </a:ln>
        </p:spPr>
        <p:txBody>
          <a:bodyPr/>
          <a:lstStyle/>
          <a:p>
            <a:endParaRPr lang="en-GB"/>
          </a:p>
        </p:txBody>
      </p:sp>
      <p:sp>
        <p:nvSpPr>
          <p:cNvPr id="29" name="Text 27"/>
          <p:cNvSpPr/>
          <p:nvPr/>
        </p:nvSpPr>
        <p:spPr>
          <a:xfrm>
            <a:off x="548640" y="3042895"/>
            <a:ext cx="3931920" cy="237744"/>
          </a:xfrm>
          <a:prstGeom prst="rect">
            <a:avLst/>
          </a:prstGeom>
          <a:noFill/>
          <a:ln/>
        </p:spPr>
        <p:txBody>
          <a:bodyPr wrap="square" rtlCol="0" anchor="ctr"/>
          <a:lstStyle/>
          <a:p>
            <a:pPr marL="0" indent="0">
              <a:buNone/>
            </a:pPr>
            <a:r>
              <a:rPr lang="en-US" sz="1000" dirty="0">
                <a:solidFill>
                  <a:srgbClr val="E5E0D8"/>
                </a:solidFill>
                <a:latin typeface="Arial" pitchFamily="34" charset="0"/>
                <a:ea typeface="Arial" pitchFamily="34" charset="-122"/>
                <a:cs typeface="Arial" pitchFamily="34" charset="-120"/>
              </a:rPr>
              <a:t>Cooling + M&amp;E plant + backup power</a:t>
            </a:r>
            <a:endParaRPr lang="en-US" sz="1000" dirty="0"/>
          </a:p>
        </p:txBody>
      </p:sp>
      <p:sp>
        <p:nvSpPr>
          <p:cNvPr id="30" name="Text 28"/>
          <p:cNvSpPr/>
          <p:nvPr/>
        </p:nvSpPr>
        <p:spPr>
          <a:xfrm>
            <a:off x="4480560" y="3042895"/>
            <a:ext cx="822960" cy="237744"/>
          </a:xfrm>
          <a:prstGeom prst="rect">
            <a:avLst/>
          </a:prstGeom>
          <a:noFill/>
          <a:ln/>
        </p:spPr>
        <p:txBody>
          <a:bodyPr wrap="square" rtlCol="0" anchor="ctr"/>
          <a:lstStyle/>
          <a:p>
            <a:pPr marL="0" indent="0" algn="r">
              <a:buNone/>
            </a:pPr>
            <a:r>
              <a:rPr lang="en-US" sz="1000" b="1" dirty="0">
                <a:solidFill>
                  <a:srgbClr val="22F6AF"/>
                </a:solidFill>
                <a:latin typeface="Arial" pitchFamily="34" charset="0"/>
                <a:ea typeface="Arial" pitchFamily="34" charset="-122"/>
                <a:cs typeface="Arial" pitchFamily="34" charset="-120"/>
              </a:rPr>
              <a:t>€0.530M</a:t>
            </a:r>
            <a:endParaRPr lang="en-US" sz="1000" dirty="0">
              <a:solidFill>
                <a:srgbClr val="22F6AF"/>
              </a:solidFill>
            </a:endParaRPr>
          </a:p>
        </p:txBody>
      </p:sp>
      <p:sp>
        <p:nvSpPr>
          <p:cNvPr id="31" name="Text 29"/>
          <p:cNvSpPr/>
          <p:nvPr/>
        </p:nvSpPr>
        <p:spPr>
          <a:xfrm>
            <a:off x="5303520" y="3042895"/>
            <a:ext cx="548640" cy="237744"/>
          </a:xfrm>
          <a:prstGeom prst="rect">
            <a:avLst/>
          </a:prstGeom>
          <a:noFill/>
          <a:ln/>
        </p:spPr>
        <p:txBody>
          <a:bodyPr wrap="square" rtlCol="0" anchor="ctr"/>
          <a:lstStyle/>
          <a:p>
            <a:pPr marL="0" indent="0" algn="r">
              <a:buNone/>
            </a:pPr>
            <a:r>
              <a:rPr lang="en-US" sz="900" dirty="0">
                <a:solidFill>
                  <a:srgbClr val="9CA3AF"/>
                </a:solidFill>
                <a:latin typeface="Arial" pitchFamily="34" charset="0"/>
                <a:ea typeface="Arial" pitchFamily="34" charset="-122"/>
                <a:cs typeface="Arial" pitchFamily="34" charset="-120"/>
              </a:rPr>
              <a:t>9%</a:t>
            </a:r>
            <a:endParaRPr lang="en-US" sz="900" dirty="0"/>
          </a:p>
        </p:txBody>
      </p:sp>
      <p:sp>
        <p:nvSpPr>
          <p:cNvPr id="32" name="Shape 30"/>
          <p:cNvSpPr/>
          <p:nvPr/>
        </p:nvSpPr>
        <p:spPr>
          <a:xfrm>
            <a:off x="411480" y="3390367"/>
            <a:ext cx="5486400" cy="347472"/>
          </a:xfrm>
          <a:prstGeom prst="rect">
            <a:avLst/>
          </a:prstGeom>
          <a:solidFill>
            <a:srgbClr val="08111E"/>
          </a:solidFill>
          <a:ln w="12700">
            <a:solidFill>
              <a:srgbClr val="1A2535"/>
            </a:solidFill>
            <a:prstDash val="solid"/>
          </a:ln>
        </p:spPr>
        <p:txBody>
          <a:bodyPr/>
          <a:lstStyle/>
          <a:p>
            <a:endParaRPr lang="en-GB"/>
          </a:p>
        </p:txBody>
      </p:sp>
      <p:sp>
        <p:nvSpPr>
          <p:cNvPr id="33" name="Shape 31"/>
          <p:cNvSpPr/>
          <p:nvPr/>
        </p:nvSpPr>
        <p:spPr>
          <a:xfrm>
            <a:off x="411480" y="3390367"/>
            <a:ext cx="45720" cy="347472"/>
          </a:xfrm>
          <a:prstGeom prst="rect">
            <a:avLst/>
          </a:prstGeom>
          <a:solidFill>
            <a:srgbClr val="9CA3AF"/>
          </a:solidFill>
          <a:ln w="12700">
            <a:solidFill>
              <a:srgbClr val="9CA3AF"/>
            </a:solidFill>
            <a:prstDash val="solid"/>
          </a:ln>
        </p:spPr>
        <p:txBody>
          <a:bodyPr/>
          <a:lstStyle/>
          <a:p>
            <a:endParaRPr lang="en-GB"/>
          </a:p>
        </p:txBody>
      </p:sp>
      <p:sp>
        <p:nvSpPr>
          <p:cNvPr id="34" name="Text 32"/>
          <p:cNvSpPr/>
          <p:nvPr/>
        </p:nvSpPr>
        <p:spPr>
          <a:xfrm>
            <a:off x="548640" y="3445231"/>
            <a:ext cx="3931920" cy="237744"/>
          </a:xfrm>
          <a:prstGeom prst="rect">
            <a:avLst/>
          </a:prstGeom>
          <a:noFill/>
          <a:ln/>
        </p:spPr>
        <p:txBody>
          <a:bodyPr wrap="square" rtlCol="0" anchor="ctr"/>
          <a:lstStyle/>
          <a:p>
            <a:pPr marL="0" indent="0">
              <a:buNone/>
            </a:pPr>
            <a:r>
              <a:rPr lang="en-US" sz="1000" dirty="0">
                <a:solidFill>
                  <a:srgbClr val="E5E0D8"/>
                </a:solidFill>
                <a:latin typeface="Arial" pitchFamily="34" charset="0"/>
                <a:ea typeface="Arial" pitchFamily="34" charset="-122"/>
                <a:cs typeface="Arial" pitchFamily="34" charset="-120"/>
              </a:rPr>
              <a:t>Hospitality + commercial tenancy fit-out</a:t>
            </a:r>
            <a:endParaRPr lang="en-US" sz="1000" dirty="0"/>
          </a:p>
        </p:txBody>
      </p:sp>
      <p:sp>
        <p:nvSpPr>
          <p:cNvPr id="35" name="Text 33"/>
          <p:cNvSpPr/>
          <p:nvPr/>
        </p:nvSpPr>
        <p:spPr>
          <a:xfrm>
            <a:off x="4480560" y="3445231"/>
            <a:ext cx="822960" cy="237744"/>
          </a:xfrm>
          <a:prstGeom prst="rect">
            <a:avLst/>
          </a:prstGeom>
          <a:noFill/>
          <a:ln/>
        </p:spPr>
        <p:txBody>
          <a:bodyPr wrap="square" rtlCol="0" anchor="ctr"/>
          <a:lstStyle/>
          <a:p>
            <a:pPr marL="0" indent="0" algn="r">
              <a:buNone/>
            </a:pPr>
            <a:r>
              <a:rPr lang="en-US" sz="1000" b="1" dirty="0">
                <a:solidFill>
                  <a:srgbClr val="9CA3AF"/>
                </a:solidFill>
                <a:latin typeface="Arial" pitchFamily="34" charset="0"/>
                <a:ea typeface="Arial" pitchFamily="34" charset="-122"/>
                <a:cs typeface="Arial" pitchFamily="34" charset="-120"/>
              </a:rPr>
              <a:t>€0.472M</a:t>
            </a:r>
            <a:endParaRPr lang="en-US" sz="1000" dirty="0"/>
          </a:p>
        </p:txBody>
      </p:sp>
      <p:sp>
        <p:nvSpPr>
          <p:cNvPr id="36" name="Text 34"/>
          <p:cNvSpPr/>
          <p:nvPr/>
        </p:nvSpPr>
        <p:spPr>
          <a:xfrm>
            <a:off x="5303520" y="3445231"/>
            <a:ext cx="548640" cy="237744"/>
          </a:xfrm>
          <a:prstGeom prst="rect">
            <a:avLst/>
          </a:prstGeom>
          <a:noFill/>
          <a:ln/>
        </p:spPr>
        <p:txBody>
          <a:bodyPr wrap="square" rtlCol="0" anchor="ctr"/>
          <a:lstStyle/>
          <a:p>
            <a:pPr marL="0" indent="0" algn="r">
              <a:buNone/>
            </a:pPr>
            <a:r>
              <a:rPr lang="en-US" sz="900" dirty="0">
                <a:solidFill>
                  <a:srgbClr val="9CA3AF"/>
                </a:solidFill>
                <a:latin typeface="Arial" pitchFamily="34" charset="0"/>
                <a:ea typeface="Arial" pitchFamily="34" charset="-122"/>
                <a:cs typeface="Arial" pitchFamily="34" charset="-120"/>
              </a:rPr>
              <a:t>8%</a:t>
            </a:r>
            <a:endParaRPr lang="en-US" sz="900" dirty="0"/>
          </a:p>
        </p:txBody>
      </p:sp>
      <p:sp>
        <p:nvSpPr>
          <p:cNvPr id="37" name="Shape 35"/>
          <p:cNvSpPr/>
          <p:nvPr/>
        </p:nvSpPr>
        <p:spPr>
          <a:xfrm>
            <a:off x="411480" y="3792703"/>
            <a:ext cx="5486400" cy="347472"/>
          </a:xfrm>
          <a:prstGeom prst="rect">
            <a:avLst/>
          </a:prstGeom>
          <a:solidFill>
            <a:srgbClr val="08111E"/>
          </a:solidFill>
          <a:ln w="12700">
            <a:solidFill>
              <a:srgbClr val="1A2535"/>
            </a:solidFill>
            <a:prstDash val="solid"/>
          </a:ln>
        </p:spPr>
        <p:txBody>
          <a:bodyPr/>
          <a:lstStyle/>
          <a:p>
            <a:endParaRPr lang="en-GB"/>
          </a:p>
        </p:txBody>
      </p:sp>
      <p:sp>
        <p:nvSpPr>
          <p:cNvPr id="38" name="Shape 36"/>
          <p:cNvSpPr/>
          <p:nvPr/>
        </p:nvSpPr>
        <p:spPr>
          <a:xfrm>
            <a:off x="411480" y="3792703"/>
            <a:ext cx="45720" cy="347472"/>
          </a:xfrm>
          <a:prstGeom prst="rect">
            <a:avLst/>
          </a:prstGeom>
          <a:solidFill>
            <a:srgbClr val="9CA3AF"/>
          </a:solidFill>
          <a:ln w="12700">
            <a:solidFill>
              <a:srgbClr val="9CA3AF"/>
            </a:solidFill>
            <a:prstDash val="solid"/>
          </a:ln>
        </p:spPr>
        <p:txBody>
          <a:bodyPr/>
          <a:lstStyle/>
          <a:p>
            <a:endParaRPr lang="en-GB"/>
          </a:p>
        </p:txBody>
      </p:sp>
      <p:sp>
        <p:nvSpPr>
          <p:cNvPr id="39" name="Text 37"/>
          <p:cNvSpPr/>
          <p:nvPr/>
        </p:nvSpPr>
        <p:spPr>
          <a:xfrm>
            <a:off x="548640" y="3847567"/>
            <a:ext cx="3931920" cy="237744"/>
          </a:xfrm>
          <a:prstGeom prst="rect">
            <a:avLst/>
          </a:prstGeom>
          <a:noFill/>
          <a:ln/>
        </p:spPr>
        <p:txBody>
          <a:bodyPr wrap="square" rtlCol="0" anchor="ctr"/>
          <a:lstStyle/>
          <a:p>
            <a:pPr marL="0" indent="0">
              <a:buNone/>
            </a:pPr>
            <a:r>
              <a:rPr lang="en-US" sz="1000" dirty="0">
                <a:solidFill>
                  <a:srgbClr val="E5E0D8"/>
                </a:solidFill>
                <a:latin typeface="Arial" pitchFamily="34" charset="0"/>
                <a:ea typeface="Arial" pitchFamily="34" charset="-122"/>
                <a:cs typeface="Arial" pitchFamily="34" charset="-120"/>
              </a:rPr>
              <a:t>Professional fees + contingency (18%)</a:t>
            </a:r>
            <a:endParaRPr lang="en-US" sz="1000" dirty="0"/>
          </a:p>
        </p:txBody>
      </p:sp>
      <p:sp>
        <p:nvSpPr>
          <p:cNvPr id="40" name="Text 38"/>
          <p:cNvSpPr/>
          <p:nvPr/>
        </p:nvSpPr>
        <p:spPr>
          <a:xfrm>
            <a:off x="4480560" y="3847567"/>
            <a:ext cx="822960" cy="237744"/>
          </a:xfrm>
          <a:prstGeom prst="rect">
            <a:avLst/>
          </a:prstGeom>
          <a:noFill/>
          <a:ln/>
        </p:spPr>
        <p:txBody>
          <a:bodyPr wrap="square" rtlCol="0" anchor="ctr"/>
          <a:lstStyle/>
          <a:p>
            <a:pPr marL="0" indent="0" algn="r">
              <a:buNone/>
            </a:pPr>
            <a:r>
              <a:rPr lang="en-US" sz="1000" b="1" dirty="0">
                <a:solidFill>
                  <a:srgbClr val="9CA3AF"/>
                </a:solidFill>
                <a:latin typeface="Arial" pitchFamily="34" charset="0"/>
                <a:ea typeface="Arial" pitchFamily="34" charset="-122"/>
                <a:cs typeface="Arial" pitchFamily="34" charset="-120"/>
              </a:rPr>
              <a:t>€0.884M</a:t>
            </a:r>
            <a:endParaRPr lang="en-US" sz="1000" dirty="0"/>
          </a:p>
        </p:txBody>
      </p:sp>
      <p:sp>
        <p:nvSpPr>
          <p:cNvPr id="41" name="Text 39"/>
          <p:cNvSpPr/>
          <p:nvPr/>
        </p:nvSpPr>
        <p:spPr>
          <a:xfrm>
            <a:off x="5303520" y="3847567"/>
            <a:ext cx="548640" cy="237744"/>
          </a:xfrm>
          <a:prstGeom prst="rect">
            <a:avLst/>
          </a:prstGeom>
          <a:noFill/>
          <a:ln/>
        </p:spPr>
        <p:txBody>
          <a:bodyPr wrap="square" rtlCol="0" anchor="ctr"/>
          <a:lstStyle/>
          <a:p>
            <a:pPr marL="0" indent="0" algn="r">
              <a:buNone/>
            </a:pPr>
            <a:r>
              <a:rPr lang="en-US" sz="900" dirty="0">
                <a:solidFill>
                  <a:srgbClr val="9CA3AF"/>
                </a:solidFill>
                <a:latin typeface="Arial" pitchFamily="34" charset="0"/>
                <a:ea typeface="Arial" pitchFamily="34" charset="-122"/>
                <a:cs typeface="Arial" pitchFamily="34" charset="-120"/>
              </a:rPr>
              <a:t>15%</a:t>
            </a:r>
            <a:endParaRPr lang="en-US" sz="900" dirty="0"/>
          </a:p>
        </p:txBody>
      </p:sp>
      <p:sp>
        <p:nvSpPr>
          <p:cNvPr id="42" name="Shape 40"/>
          <p:cNvSpPr/>
          <p:nvPr/>
        </p:nvSpPr>
        <p:spPr>
          <a:xfrm>
            <a:off x="411480" y="4213327"/>
            <a:ext cx="5486400" cy="384048"/>
          </a:xfrm>
          <a:prstGeom prst="rect">
            <a:avLst/>
          </a:prstGeom>
          <a:solidFill>
            <a:srgbClr val="0D1B2E"/>
          </a:solidFill>
          <a:ln w="12700">
            <a:solidFill>
              <a:srgbClr val="F0B429"/>
            </a:solidFill>
            <a:prstDash val="solid"/>
          </a:ln>
        </p:spPr>
        <p:txBody>
          <a:bodyPr/>
          <a:lstStyle/>
          <a:p>
            <a:endParaRPr lang="en-GB"/>
          </a:p>
        </p:txBody>
      </p:sp>
      <p:sp>
        <p:nvSpPr>
          <p:cNvPr id="43" name="Text 41"/>
          <p:cNvSpPr/>
          <p:nvPr/>
        </p:nvSpPr>
        <p:spPr>
          <a:xfrm>
            <a:off x="548640" y="4268191"/>
            <a:ext cx="4114800" cy="256032"/>
          </a:xfrm>
          <a:prstGeom prst="rect">
            <a:avLst/>
          </a:prstGeom>
          <a:noFill/>
          <a:ln/>
        </p:spPr>
        <p:txBody>
          <a:bodyPr wrap="square" rtlCol="0" anchor="ctr"/>
          <a:lstStyle/>
          <a:p>
            <a:pPr marL="0" indent="0">
              <a:buNone/>
            </a:pPr>
            <a:r>
              <a:rPr lang="en-US" sz="1100" dirty="0">
                <a:solidFill>
                  <a:srgbClr val="9CA3AF"/>
                </a:solidFill>
                <a:latin typeface="Arial" pitchFamily="34" charset="0"/>
                <a:ea typeface="Arial" pitchFamily="34" charset="-122"/>
                <a:cs typeface="Arial" pitchFamily="34" charset="-120"/>
              </a:rPr>
              <a:t>TOTAL NODE CAPEX (ex NVL72 racks + grid)</a:t>
            </a:r>
            <a:endParaRPr lang="en-US" sz="1100" dirty="0"/>
          </a:p>
        </p:txBody>
      </p:sp>
      <p:sp>
        <p:nvSpPr>
          <p:cNvPr id="44" name="Text 42"/>
          <p:cNvSpPr/>
          <p:nvPr/>
        </p:nvSpPr>
        <p:spPr>
          <a:xfrm>
            <a:off x="4480560" y="4240759"/>
            <a:ext cx="1280160" cy="329184"/>
          </a:xfrm>
          <a:prstGeom prst="rect">
            <a:avLst/>
          </a:prstGeom>
          <a:noFill/>
          <a:ln/>
        </p:spPr>
        <p:txBody>
          <a:bodyPr wrap="square" rtlCol="0" anchor="ctr"/>
          <a:lstStyle/>
          <a:p>
            <a:pPr marL="0" indent="0" algn="r">
              <a:buNone/>
            </a:pPr>
            <a:r>
              <a:rPr lang="en-US" sz="1600" b="1" dirty="0">
                <a:solidFill>
                  <a:srgbClr val="F0B429"/>
                </a:solidFill>
                <a:latin typeface="Arial" pitchFamily="34" charset="0"/>
                <a:ea typeface="Arial" pitchFamily="34" charset="-122"/>
                <a:cs typeface="Arial" pitchFamily="34" charset="-120"/>
              </a:rPr>
              <a:t>€5.79M</a:t>
            </a:r>
            <a:endParaRPr lang="en-US" sz="1600" dirty="0"/>
          </a:p>
        </p:txBody>
      </p:sp>
      <p:sp>
        <p:nvSpPr>
          <p:cNvPr id="45" name="Shape 43"/>
          <p:cNvSpPr/>
          <p:nvPr/>
        </p:nvSpPr>
        <p:spPr>
          <a:xfrm>
            <a:off x="6080760" y="1086079"/>
            <a:ext cx="2651760" cy="3520440"/>
          </a:xfrm>
          <a:prstGeom prst="rect">
            <a:avLst/>
          </a:prstGeom>
          <a:solidFill>
            <a:srgbClr val="08111E"/>
          </a:solidFill>
          <a:ln w="12700">
            <a:solidFill>
              <a:srgbClr val="B87333"/>
            </a:solidFill>
            <a:prstDash val="solid"/>
          </a:ln>
        </p:spPr>
        <p:txBody>
          <a:bodyPr/>
          <a:lstStyle/>
          <a:p>
            <a:endParaRPr lang="en-GB"/>
          </a:p>
        </p:txBody>
      </p:sp>
      <p:sp>
        <p:nvSpPr>
          <p:cNvPr id="46" name="Text 44"/>
          <p:cNvSpPr/>
          <p:nvPr/>
        </p:nvSpPr>
        <p:spPr>
          <a:xfrm>
            <a:off x="6217920" y="1159231"/>
            <a:ext cx="2377440" cy="228600"/>
          </a:xfrm>
          <a:prstGeom prst="rect">
            <a:avLst/>
          </a:prstGeom>
          <a:noFill/>
          <a:ln/>
        </p:spPr>
        <p:txBody>
          <a:bodyPr wrap="square" rtlCol="0" anchor="ctr"/>
          <a:lstStyle/>
          <a:p>
            <a:pPr marL="0" indent="0">
              <a:buNone/>
            </a:pPr>
            <a:r>
              <a:rPr lang="en-US" sz="900" kern="0" spc="100" dirty="0">
                <a:solidFill>
                  <a:srgbClr val="B87333"/>
                </a:solidFill>
                <a:latin typeface="Arial" pitchFamily="34" charset="0"/>
                <a:ea typeface="Arial" pitchFamily="34" charset="-122"/>
                <a:cs typeface="Arial" pitchFamily="34" charset="-120"/>
              </a:rPr>
              <a:t>VS CONVENTIONAL DC</a:t>
            </a:r>
            <a:endParaRPr lang="en-US" sz="900" dirty="0"/>
          </a:p>
        </p:txBody>
      </p:sp>
      <p:sp>
        <p:nvSpPr>
          <p:cNvPr id="47" name="Text 45"/>
          <p:cNvSpPr/>
          <p:nvPr/>
        </p:nvSpPr>
        <p:spPr>
          <a:xfrm>
            <a:off x="6217920" y="1470127"/>
            <a:ext cx="2377440" cy="228600"/>
          </a:xfrm>
          <a:prstGeom prst="rect">
            <a:avLst/>
          </a:prstGeom>
          <a:noFill/>
          <a:ln/>
        </p:spPr>
        <p:txBody>
          <a:bodyPr wrap="square" rtlCol="0" anchor="ctr"/>
          <a:lstStyle/>
          <a:p>
            <a:pPr marL="0" indent="0">
              <a:buNone/>
            </a:pPr>
            <a:r>
              <a:rPr lang="en-US" sz="1000" dirty="0">
                <a:solidFill>
                  <a:srgbClr val="9CA3AF"/>
                </a:solidFill>
                <a:latin typeface="Arial" pitchFamily="34" charset="0"/>
                <a:ea typeface="Arial" pitchFamily="34" charset="-122"/>
                <a:cs typeface="Arial" pitchFamily="34" charset="-120"/>
              </a:rPr>
              <a:t>Conventional build</a:t>
            </a:r>
            <a:endParaRPr lang="en-US" sz="1000" dirty="0"/>
          </a:p>
        </p:txBody>
      </p:sp>
      <p:sp>
        <p:nvSpPr>
          <p:cNvPr id="48" name="Text 46"/>
          <p:cNvSpPr/>
          <p:nvPr/>
        </p:nvSpPr>
        <p:spPr>
          <a:xfrm>
            <a:off x="6217920" y="1689583"/>
            <a:ext cx="2377440" cy="365760"/>
          </a:xfrm>
          <a:prstGeom prst="rect">
            <a:avLst/>
          </a:prstGeom>
          <a:noFill/>
          <a:ln/>
        </p:spPr>
        <p:txBody>
          <a:bodyPr wrap="square" rtlCol="0" anchor="ctr"/>
          <a:lstStyle/>
          <a:p>
            <a:pPr marL="0" indent="0">
              <a:buNone/>
            </a:pPr>
            <a:r>
              <a:rPr lang="en-US" sz="2200" b="1" dirty="0">
                <a:solidFill>
                  <a:srgbClr val="E24B4A"/>
                </a:solidFill>
                <a:latin typeface="Arial" pitchFamily="34" charset="0"/>
                <a:ea typeface="Arial" pitchFamily="34" charset="-122"/>
                <a:cs typeface="Arial" pitchFamily="34" charset="-120"/>
              </a:rPr>
              <a:t>€41–46M</a:t>
            </a:r>
            <a:endParaRPr lang="en-US" sz="2200" dirty="0"/>
          </a:p>
        </p:txBody>
      </p:sp>
      <p:sp>
        <p:nvSpPr>
          <p:cNvPr id="49" name="Text 47"/>
          <p:cNvSpPr/>
          <p:nvPr/>
        </p:nvSpPr>
        <p:spPr>
          <a:xfrm>
            <a:off x="6217920" y="2110207"/>
            <a:ext cx="2377440" cy="594360"/>
          </a:xfrm>
          <a:prstGeom prst="rect">
            <a:avLst/>
          </a:prstGeom>
          <a:no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Source: Savills Ireland / Turner &amp;</a:t>
            </a:r>
            <a:endParaRPr lang="en-US" sz="900" dirty="0"/>
          </a:p>
          <a:p>
            <a:pPr marL="0" indent="0">
              <a:buNone/>
            </a:pPr>
            <a:r>
              <a:rPr lang="en-US" sz="900" dirty="0">
                <a:solidFill>
                  <a:srgbClr val="9CA3AF"/>
                </a:solidFill>
                <a:latin typeface="Arial" pitchFamily="34" charset="0"/>
                <a:ea typeface="Arial" pitchFamily="34" charset="-122"/>
                <a:cs typeface="Arial" pitchFamily="34" charset="-120"/>
              </a:rPr>
              <a:t>Townsend 2023  ·  €8.4–10M/MW</a:t>
            </a:r>
            <a:endParaRPr lang="en-US" sz="900" dirty="0"/>
          </a:p>
          <a:p>
            <a:pPr marL="0" indent="0">
              <a:buNone/>
            </a:pPr>
            <a:r>
              <a:rPr lang="en-US" sz="900" dirty="0">
                <a:solidFill>
                  <a:srgbClr val="9CA3AF"/>
                </a:solidFill>
                <a:latin typeface="Arial" pitchFamily="34" charset="0"/>
                <a:ea typeface="Arial" pitchFamily="34" charset="-122"/>
                <a:cs typeface="Arial" pitchFamily="34" charset="-120"/>
              </a:rPr>
              <a:t>Includes: land, shell, electrical,</a:t>
            </a:r>
            <a:endParaRPr lang="en-US" sz="900" dirty="0"/>
          </a:p>
          <a:p>
            <a:pPr marL="0" indent="0">
              <a:buNone/>
            </a:pPr>
            <a:r>
              <a:rPr lang="en-US" sz="900" dirty="0">
                <a:solidFill>
                  <a:srgbClr val="9CA3AF"/>
                </a:solidFill>
                <a:latin typeface="Arial" pitchFamily="34" charset="0"/>
                <a:ea typeface="Arial" pitchFamily="34" charset="-122"/>
                <a:cs typeface="Arial" pitchFamily="34" charset="-120"/>
              </a:rPr>
              <a:t>HVAC, cooling, fire, fitout</a:t>
            </a:r>
            <a:endParaRPr lang="en-US" sz="900" dirty="0"/>
          </a:p>
        </p:txBody>
      </p:sp>
      <p:sp>
        <p:nvSpPr>
          <p:cNvPr id="50" name="Shape 48"/>
          <p:cNvSpPr/>
          <p:nvPr/>
        </p:nvSpPr>
        <p:spPr>
          <a:xfrm>
            <a:off x="6217920" y="2777719"/>
            <a:ext cx="2377440" cy="27432"/>
          </a:xfrm>
          <a:prstGeom prst="rect">
            <a:avLst/>
          </a:prstGeom>
          <a:solidFill>
            <a:srgbClr val="B87333"/>
          </a:solidFill>
          <a:ln w="12700">
            <a:solidFill>
              <a:srgbClr val="B87333"/>
            </a:solidFill>
            <a:prstDash val="solid"/>
          </a:ln>
        </p:spPr>
        <p:txBody>
          <a:bodyPr/>
          <a:lstStyle/>
          <a:p>
            <a:endParaRPr lang="en-GB"/>
          </a:p>
        </p:txBody>
      </p:sp>
      <p:sp>
        <p:nvSpPr>
          <p:cNvPr id="51" name="Text 49"/>
          <p:cNvSpPr/>
          <p:nvPr/>
        </p:nvSpPr>
        <p:spPr>
          <a:xfrm>
            <a:off x="6217920" y="2869159"/>
            <a:ext cx="2377440" cy="228600"/>
          </a:xfrm>
          <a:prstGeom prst="rect">
            <a:avLst/>
          </a:prstGeom>
          <a:noFill/>
          <a:ln/>
        </p:spPr>
        <p:txBody>
          <a:bodyPr wrap="square" rtlCol="0" anchor="ctr"/>
          <a:lstStyle/>
          <a:p>
            <a:pPr marL="0" indent="0">
              <a:buNone/>
            </a:pPr>
            <a:r>
              <a:rPr lang="en-US" sz="1000" dirty="0">
                <a:solidFill>
                  <a:srgbClr val="9CA3AF"/>
                </a:solidFill>
                <a:latin typeface="Arial" pitchFamily="34" charset="0"/>
                <a:ea typeface="Arial" pitchFamily="34" charset="-122"/>
                <a:cs typeface="Arial" pitchFamily="34" charset="-120"/>
              </a:rPr>
              <a:t>Umpireal node</a:t>
            </a:r>
            <a:endParaRPr lang="en-US" sz="1000" dirty="0"/>
          </a:p>
        </p:txBody>
      </p:sp>
      <p:sp>
        <p:nvSpPr>
          <p:cNvPr id="52" name="Text 50"/>
          <p:cNvSpPr/>
          <p:nvPr/>
        </p:nvSpPr>
        <p:spPr>
          <a:xfrm>
            <a:off x="6217920" y="3088615"/>
            <a:ext cx="2377440" cy="365760"/>
          </a:xfrm>
          <a:prstGeom prst="rect">
            <a:avLst/>
          </a:prstGeom>
          <a:noFill/>
          <a:ln/>
        </p:spPr>
        <p:txBody>
          <a:bodyPr wrap="square" rtlCol="0" anchor="ctr"/>
          <a:lstStyle/>
          <a:p>
            <a:pPr marL="0" indent="0">
              <a:buNone/>
            </a:pPr>
            <a:r>
              <a:rPr lang="en-US" sz="2200" b="1" dirty="0">
                <a:solidFill>
                  <a:srgbClr val="22F6AF"/>
                </a:solidFill>
                <a:latin typeface="Arial" pitchFamily="34" charset="0"/>
                <a:ea typeface="Arial" pitchFamily="34" charset="-122"/>
                <a:cs typeface="Arial" pitchFamily="34" charset="-120"/>
              </a:rPr>
              <a:t>€5.79M</a:t>
            </a:r>
            <a:endParaRPr lang="en-US" sz="2200" dirty="0">
              <a:solidFill>
                <a:srgbClr val="22F6AF"/>
              </a:solidFill>
            </a:endParaRPr>
          </a:p>
        </p:txBody>
      </p:sp>
      <p:sp>
        <p:nvSpPr>
          <p:cNvPr id="53" name="Text 51"/>
          <p:cNvSpPr/>
          <p:nvPr/>
        </p:nvSpPr>
        <p:spPr>
          <a:xfrm>
            <a:off x="6217920" y="3509239"/>
            <a:ext cx="2377440" cy="457200"/>
          </a:xfrm>
          <a:prstGeom prst="rect">
            <a:avLst/>
          </a:prstGeom>
          <a:no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Includes road, ramps, utilities,</a:t>
            </a:r>
            <a:endParaRPr lang="en-US" sz="900" dirty="0"/>
          </a:p>
          <a:p>
            <a:pPr marL="0" indent="0">
              <a:buNone/>
            </a:pPr>
            <a:r>
              <a:rPr lang="en-US" sz="900" dirty="0">
                <a:solidFill>
                  <a:srgbClr val="9CA3AF"/>
                </a:solidFill>
                <a:latin typeface="Arial" pitchFamily="34" charset="0"/>
                <a:ea typeface="Arial" pitchFamily="34" charset="-122"/>
                <a:cs typeface="Arial" pitchFamily="34" charset="-120"/>
              </a:rPr>
              <a:t>BESS, district heating, security</a:t>
            </a:r>
            <a:endParaRPr lang="en-US" sz="900" dirty="0"/>
          </a:p>
          <a:p>
            <a:pPr marL="0" indent="0">
              <a:buNone/>
            </a:pPr>
            <a:r>
              <a:rPr lang="en-US" sz="900" dirty="0">
                <a:solidFill>
                  <a:srgbClr val="9CA3AF"/>
                </a:solidFill>
                <a:latin typeface="Arial" pitchFamily="34" charset="0"/>
                <a:ea typeface="Arial" pitchFamily="34" charset="-122"/>
                <a:cs typeface="Arial" pitchFamily="34" charset="-120"/>
              </a:rPr>
              <a:t>and traffic monitoring</a:t>
            </a:r>
            <a:endParaRPr lang="en-US" sz="900" dirty="0"/>
          </a:p>
        </p:txBody>
      </p:sp>
      <p:sp>
        <p:nvSpPr>
          <p:cNvPr id="54" name="Shape 52"/>
          <p:cNvSpPr/>
          <p:nvPr/>
        </p:nvSpPr>
        <p:spPr>
          <a:xfrm>
            <a:off x="6080760" y="4334617"/>
            <a:ext cx="2651760" cy="274320"/>
          </a:xfrm>
          <a:prstGeom prst="rect">
            <a:avLst/>
          </a:prstGeom>
          <a:solidFill>
            <a:srgbClr val="10B981"/>
          </a:solidFill>
          <a:ln w="12700">
            <a:solidFill>
              <a:srgbClr val="10B981"/>
            </a:solidFill>
            <a:prstDash val="solid"/>
          </a:ln>
        </p:spPr>
        <p:txBody>
          <a:bodyPr/>
          <a:lstStyle/>
          <a:p>
            <a:endParaRPr lang="en-GB"/>
          </a:p>
        </p:txBody>
      </p:sp>
      <p:sp>
        <p:nvSpPr>
          <p:cNvPr id="55" name="Text 53"/>
          <p:cNvSpPr/>
          <p:nvPr/>
        </p:nvSpPr>
        <p:spPr>
          <a:xfrm>
            <a:off x="6080760" y="4362049"/>
            <a:ext cx="2651760" cy="228600"/>
          </a:xfrm>
          <a:prstGeom prst="rect">
            <a:avLst/>
          </a:prstGeom>
          <a:solidFill>
            <a:srgbClr val="22F6AF"/>
          </a:solidFill>
          <a:ln/>
        </p:spPr>
        <p:txBody>
          <a:bodyPr wrap="square" rtlCol="0" anchor="ctr"/>
          <a:lstStyle/>
          <a:p>
            <a:pPr marL="0" indent="0" algn="ctr">
              <a:buNone/>
            </a:pPr>
            <a:r>
              <a:rPr lang="en-US" sz="1000" b="1" dirty="0">
                <a:solidFill>
                  <a:srgbClr val="000000"/>
                </a:solidFill>
                <a:latin typeface="Arial" pitchFamily="34" charset="0"/>
                <a:ea typeface="Arial" pitchFamily="34" charset="-122"/>
                <a:cs typeface="Arial" pitchFamily="34" charset="-120"/>
              </a:rPr>
              <a:t>86% CHEAPER — MORE CAPACITY</a:t>
            </a:r>
            <a:endParaRPr lang="en-US" sz="1000" dirty="0"/>
          </a:p>
        </p:txBody>
      </p:sp>
      <p:sp>
        <p:nvSpPr>
          <p:cNvPr id="56" name="Shape 54"/>
          <p:cNvSpPr/>
          <p:nvPr/>
        </p:nvSpPr>
        <p:spPr>
          <a:xfrm>
            <a:off x="0" y="4892040"/>
            <a:ext cx="9144000" cy="251460"/>
          </a:xfrm>
          <a:prstGeom prst="rect">
            <a:avLst/>
          </a:prstGeom>
          <a:solidFill>
            <a:srgbClr val="0D1B2E"/>
          </a:solidFill>
          <a:ln w="12700">
            <a:solidFill>
              <a:srgbClr val="0D1B2E"/>
            </a:solidFill>
            <a:prstDash val="solid"/>
          </a:ln>
        </p:spPr>
        <p:txBody>
          <a:bodyPr/>
          <a:lstStyle/>
          <a:p>
            <a:endParaRPr lang="en-GB"/>
          </a:p>
        </p:txBody>
      </p:sp>
      <p:sp>
        <p:nvSpPr>
          <p:cNvPr id="57" name="Shape 55"/>
          <p:cNvSpPr/>
          <p:nvPr/>
        </p:nvSpPr>
        <p:spPr>
          <a:xfrm>
            <a:off x="0" y="4789399"/>
            <a:ext cx="9144000" cy="27432"/>
          </a:xfrm>
          <a:prstGeom prst="rect">
            <a:avLst/>
          </a:prstGeom>
          <a:solidFill>
            <a:srgbClr val="B87333"/>
          </a:solidFill>
          <a:ln w="12700">
            <a:solidFill>
              <a:srgbClr val="B87333"/>
            </a:solidFill>
            <a:prstDash val="solid"/>
          </a:ln>
        </p:spPr>
        <p:txBody>
          <a:bodyPr/>
          <a:lstStyle/>
          <a:p>
            <a:endParaRPr lang="en-GB"/>
          </a:p>
        </p:txBody>
      </p:sp>
      <p:sp>
        <p:nvSpPr>
          <p:cNvPr id="58" name="Text 56"/>
          <p:cNvSpPr/>
          <p:nvPr/>
        </p:nvSpPr>
        <p:spPr>
          <a:xfrm>
            <a:off x="320040" y="4901184"/>
            <a:ext cx="4572000" cy="228600"/>
          </a:xfrm>
          <a:prstGeom prst="rect">
            <a:avLst/>
          </a:prstGeom>
          <a:noFill/>
          <a:ln/>
        </p:spPr>
        <p:txBody>
          <a:bodyPr wrap="square" rtlCol="0" anchor="ctr"/>
          <a:lstStyle/>
          <a:p>
            <a:pPr marL="0" indent="0">
              <a:buNone/>
            </a:pPr>
            <a:r>
              <a:rPr lang="en-US" sz="800" dirty="0">
                <a:solidFill>
                  <a:srgbClr val="B87333"/>
                </a:solidFill>
                <a:latin typeface="Arial" pitchFamily="34" charset="0"/>
                <a:ea typeface="Arial" pitchFamily="34" charset="-122"/>
                <a:cs typeface="Arial" pitchFamily="34" charset="-120"/>
              </a:rPr>
              <a:t>UMPIREAL  ·  CONFIDENTIAL</a:t>
            </a:r>
            <a:endParaRPr lang="en-US" sz="800" dirty="0"/>
          </a:p>
        </p:txBody>
      </p:sp>
      <p:sp>
        <p:nvSpPr>
          <p:cNvPr id="59" name="Text 57"/>
          <p:cNvSpPr/>
          <p:nvPr/>
        </p:nvSpPr>
        <p:spPr>
          <a:xfrm>
            <a:off x="4572000" y="4901184"/>
            <a:ext cx="4251960" cy="228600"/>
          </a:xfrm>
          <a:prstGeom prst="rect">
            <a:avLst/>
          </a:prstGeom>
          <a:noFill/>
          <a:ln/>
        </p:spPr>
        <p:txBody>
          <a:bodyPr wrap="square" rtlCol="0" anchor="ctr"/>
          <a:lstStyle/>
          <a:p>
            <a:pPr marL="0" indent="0" algn="r">
              <a:buNone/>
            </a:pPr>
            <a:r>
              <a:rPr lang="en-US" sz="800" dirty="0">
                <a:solidFill>
                  <a:srgbClr val="9CA3AF"/>
                </a:solidFill>
                <a:latin typeface="Arial" pitchFamily="34" charset="0"/>
                <a:ea typeface="Arial" pitchFamily="34" charset="-122"/>
                <a:cs typeface="Arial" pitchFamily="34" charset="-120"/>
              </a:rPr>
              <a:t>04 — Capital Cost</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11480" y="164592"/>
            <a:ext cx="54864" cy="384048"/>
          </a:xfrm>
          <a:prstGeom prst="rect">
            <a:avLst/>
          </a:prstGeom>
          <a:solidFill>
            <a:srgbClr val="B87333"/>
          </a:solidFill>
          <a:ln w="12700">
            <a:solidFill>
              <a:srgbClr val="B87333"/>
            </a:solidFill>
            <a:prstDash val="solid"/>
          </a:ln>
        </p:spPr>
        <p:txBody>
          <a:bodyPr/>
          <a:lstStyle/>
          <a:p>
            <a:endParaRPr lang="en-GB"/>
          </a:p>
        </p:txBody>
      </p:sp>
      <p:sp>
        <p:nvSpPr>
          <p:cNvPr id="3" name="Text 1"/>
          <p:cNvSpPr/>
          <p:nvPr/>
        </p:nvSpPr>
        <p:spPr>
          <a:xfrm>
            <a:off x="548640" y="155448"/>
            <a:ext cx="8229600" cy="411480"/>
          </a:xfrm>
          <a:prstGeom prst="rect">
            <a:avLst/>
          </a:prstGeom>
          <a:noFill/>
          <a:ln/>
        </p:spPr>
        <p:txBody>
          <a:bodyPr wrap="square" rtlCol="0" anchor="ctr"/>
          <a:lstStyle/>
          <a:p>
            <a:pPr marL="0" indent="0">
              <a:buNone/>
            </a:pPr>
            <a:r>
              <a:rPr lang="en-US" sz="1100" b="1" kern="0" spc="300" dirty="0">
                <a:solidFill>
                  <a:srgbClr val="B87333"/>
                </a:solidFill>
                <a:latin typeface="Arial" pitchFamily="34" charset="0"/>
                <a:ea typeface="Arial" pitchFamily="34" charset="-122"/>
                <a:cs typeface="Arial" pitchFamily="34" charset="-120"/>
              </a:rPr>
              <a:t>REVENUE MODEL</a:t>
            </a:r>
            <a:endParaRPr lang="en-US" sz="1100" dirty="0"/>
          </a:p>
        </p:txBody>
      </p:sp>
      <p:sp>
        <p:nvSpPr>
          <p:cNvPr id="4" name="Text 2"/>
          <p:cNvSpPr/>
          <p:nvPr/>
        </p:nvSpPr>
        <p:spPr>
          <a:xfrm>
            <a:off x="411480" y="594360"/>
            <a:ext cx="8321040" cy="502920"/>
          </a:xfrm>
          <a:prstGeom prst="rect">
            <a:avLst/>
          </a:prstGeom>
          <a:noFill/>
          <a:ln/>
        </p:spPr>
        <p:txBody>
          <a:bodyPr wrap="square" rtlCol="0" anchor="ctr"/>
          <a:lstStyle/>
          <a:p>
            <a:pPr marL="0" indent="0">
              <a:buNone/>
            </a:pPr>
            <a:r>
              <a:rPr lang="en-US" sz="2400" b="1" spc="300" dirty="0">
                <a:solidFill>
                  <a:schemeClr val="bg1">
                    <a:lumMod val="85000"/>
                  </a:schemeClr>
                </a:solidFill>
                <a:latin typeface="Aptos" panose="020B0004020202020204" pitchFamily="34" charset="0"/>
                <a:ea typeface="Arial" pitchFamily="34" charset="-122"/>
                <a:cs typeface="Arial" pitchFamily="34" charset="-120"/>
              </a:rPr>
              <a:t>Four Uncorrelated Revenue Streams</a:t>
            </a:r>
            <a:endParaRPr lang="en-US" sz="2400" spc="300" dirty="0">
              <a:solidFill>
                <a:schemeClr val="bg1">
                  <a:lumMod val="85000"/>
                </a:schemeClr>
              </a:solidFill>
              <a:latin typeface="Aptos" panose="020B0004020202020204" pitchFamily="34" charset="0"/>
            </a:endParaRPr>
          </a:p>
        </p:txBody>
      </p:sp>
      <p:sp>
        <p:nvSpPr>
          <p:cNvPr id="5" name="Shape 3"/>
          <p:cNvSpPr/>
          <p:nvPr/>
        </p:nvSpPr>
        <p:spPr>
          <a:xfrm>
            <a:off x="411480" y="1121608"/>
            <a:ext cx="3931920" cy="1527048"/>
          </a:xfrm>
          <a:prstGeom prst="rect">
            <a:avLst/>
          </a:prstGeom>
          <a:solidFill>
            <a:srgbClr val="08111E"/>
          </a:solidFill>
          <a:ln w="12700">
            <a:solidFill>
              <a:srgbClr val="22D3EE"/>
            </a:solidFill>
            <a:prstDash val="solid"/>
          </a:ln>
        </p:spPr>
        <p:txBody>
          <a:bodyPr/>
          <a:lstStyle/>
          <a:p>
            <a:endParaRPr lang="en-GB"/>
          </a:p>
        </p:txBody>
      </p:sp>
      <p:sp>
        <p:nvSpPr>
          <p:cNvPr id="6" name="Shape 4"/>
          <p:cNvSpPr/>
          <p:nvPr/>
        </p:nvSpPr>
        <p:spPr>
          <a:xfrm>
            <a:off x="411480" y="1121608"/>
            <a:ext cx="3931920" cy="45719"/>
          </a:xfrm>
          <a:prstGeom prst="rect">
            <a:avLst/>
          </a:prstGeom>
          <a:solidFill>
            <a:srgbClr val="08111E"/>
          </a:solidFill>
          <a:ln w="12700">
            <a:solidFill>
              <a:srgbClr val="22D3EE"/>
            </a:solidFill>
            <a:prstDash val="solid"/>
          </a:ln>
        </p:spPr>
        <p:txBody>
          <a:bodyPr/>
          <a:lstStyle/>
          <a:p>
            <a:endParaRPr lang="en-GB"/>
          </a:p>
        </p:txBody>
      </p:sp>
      <p:sp>
        <p:nvSpPr>
          <p:cNvPr id="7" name="Text 5"/>
          <p:cNvSpPr/>
          <p:nvPr/>
        </p:nvSpPr>
        <p:spPr>
          <a:xfrm>
            <a:off x="548640" y="1213048"/>
            <a:ext cx="2419643" cy="206358"/>
          </a:xfrm>
          <a:prstGeom prst="rect">
            <a:avLst/>
          </a:prstGeom>
          <a:solidFill>
            <a:srgbClr val="08111E"/>
          </a:solidFill>
          <a:ln/>
        </p:spPr>
        <p:txBody>
          <a:bodyPr wrap="square" rtlCol="0" anchor="ctr"/>
          <a:lstStyle/>
          <a:p>
            <a:pPr marL="0" indent="0">
              <a:buNone/>
            </a:pPr>
            <a:r>
              <a:rPr lang="en-US" sz="950" b="1" kern="0" spc="100" dirty="0">
                <a:solidFill>
                  <a:srgbClr val="22D3EE"/>
                </a:solidFill>
                <a:latin typeface="Arial" pitchFamily="34" charset="0"/>
                <a:ea typeface="Arial" pitchFamily="34" charset="-122"/>
                <a:cs typeface="Arial" pitchFamily="34" charset="-120"/>
              </a:rPr>
              <a:t>1 — COLOCATION</a:t>
            </a:r>
            <a:endParaRPr lang="en-US" sz="950" dirty="0"/>
          </a:p>
        </p:txBody>
      </p:sp>
      <p:sp>
        <p:nvSpPr>
          <p:cNvPr id="8" name="Text 6"/>
          <p:cNvSpPr/>
          <p:nvPr/>
        </p:nvSpPr>
        <p:spPr>
          <a:xfrm>
            <a:off x="3095957" y="1213048"/>
            <a:ext cx="1209822" cy="206358"/>
          </a:xfrm>
          <a:prstGeom prst="rect">
            <a:avLst/>
          </a:prstGeom>
          <a:solidFill>
            <a:srgbClr val="08111E"/>
          </a:solidFill>
          <a:ln/>
        </p:spPr>
        <p:txBody>
          <a:bodyPr wrap="square" rtlCol="0" anchor="ctr"/>
          <a:lstStyle/>
          <a:p>
            <a:pPr marL="0" indent="0" algn="r">
              <a:buNone/>
            </a:pPr>
            <a:r>
              <a:rPr lang="en-US" sz="900" dirty="0">
                <a:solidFill>
                  <a:srgbClr val="9CA3AF"/>
                </a:solidFill>
                <a:latin typeface="Arial" pitchFamily="34" charset="0"/>
                <a:ea typeface="Arial" pitchFamily="34" charset="-122"/>
                <a:cs typeface="Arial" pitchFamily="34" charset="-120"/>
              </a:rPr>
              <a:t>92% EBITDA</a:t>
            </a:r>
            <a:endParaRPr lang="en-US" sz="900" dirty="0"/>
          </a:p>
        </p:txBody>
      </p:sp>
      <p:sp>
        <p:nvSpPr>
          <p:cNvPr id="9" name="Text 7"/>
          <p:cNvSpPr/>
          <p:nvPr/>
        </p:nvSpPr>
        <p:spPr>
          <a:xfrm>
            <a:off x="548640" y="1441648"/>
            <a:ext cx="3672673" cy="313664"/>
          </a:xfrm>
          <a:prstGeom prst="rect">
            <a:avLst/>
          </a:prstGeom>
          <a:solidFill>
            <a:srgbClr val="08111E"/>
          </a:solidFill>
          <a:ln/>
        </p:spPr>
        <p:txBody>
          <a:bodyPr wrap="square" rtlCol="0" anchor="ctr"/>
          <a:lstStyle/>
          <a:p>
            <a:pPr marL="0" indent="0">
              <a:buNone/>
            </a:pPr>
            <a:r>
              <a:rPr lang="en-US" sz="1800" b="1" dirty="0">
                <a:solidFill>
                  <a:srgbClr val="22D3EE"/>
                </a:solidFill>
                <a:latin typeface="Arial" pitchFamily="34" charset="0"/>
                <a:ea typeface="Arial" pitchFamily="34" charset="-122"/>
                <a:cs typeface="Arial" pitchFamily="34" charset="-120"/>
              </a:rPr>
              <a:t>€2.0–2.5M/yr</a:t>
            </a:r>
            <a:endParaRPr lang="en-US" sz="1800" dirty="0"/>
          </a:p>
        </p:txBody>
      </p:sp>
      <p:sp>
        <p:nvSpPr>
          <p:cNvPr id="10" name="Text 8"/>
          <p:cNvSpPr/>
          <p:nvPr/>
        </p:nvSpPr>
        <p:spPr>
          <a:xfrm>
            <a:off x="548640" y="1789120"/>
            <a:ext cx="3672673" cy="181595"/>
          </a:xfrm>
          <a:prstGeom prst="rect">
            <a:avLst/>
          </a:prstGeom>
          <a:solidFill>
            <a:srgbClr val="08111E"/>
          </a:solidFill>
          <a:ln/>
        </p:spPr>
        <p:txBody>
          <a:bodyPr wrap="square" rtlCol="0" anchor="ctr"/>
          <a:lstStyle/>
          <a:p>
            <a:pPr marL="0" indent="0">
              <a:buNone/>
            </a:pPr>
            <a:r>
              <a:rPr lang="en-US" sz="900" i="1" dirty="0">
                <a:solidFill>
                  <a:srgbClr val="9CA3AF"/>
                </a:solidFill>
                <a:latin typeface="Arial" pitchFamily="34" charset="0"/>
                <a:ea typeface="Arial" pitchFamily="34" charset="-122"/>
                <a:cs typeface="Arial" pitchFamily="34" charset="-120"/>
              </a:rPr>
              <a:t>$500/kW/mo · 4 × VR NVL72 · 460 kW · 80% occ.</a:t>
            </a:r>
            <a:endParaRPr lang="en-US" sz="900" dirty="0"/>
          </a:p>
        </p:txBody>
      </p:sp>
      <p:sp>
        <p:nvSpPr>
          <p:cNvPr id="11" name="Text 9"/>
          <p:cNvSpPr/>
          <p:nvPr/>
        </p:nvSpPr>
        <p:spPr>
          <a:xfrm>
            <a:off x="548640" y="1999432"/>
            <a:ext cx="3672673" cy="643836"/>
          </a:xfrm>
          <a:prstGeom prst="rect">
            <a:avLst/>
          </a:prstGeom>
          <a:solidFill>
            <a:srgbClr val="08111E"/>
          </a:solidFill>
          <a:ln/>
        </p:spPr>
        <p:txBody>
          <a:bodyPr wrap="square" rtlCol="0" anchor="ctr"/>
          <a:lstStyle/>
          <a:p>
            <a:pPr marL="0" indent="0">
              <a:buNone/>
            </a:pPr>
            <a:r>
              <a:rPr lang="en-US" sz="1000" dirty="0">
                <a:solidFill>
                  <a:srgbClr val="E5E0D8"/>
                </a:solidFill>
                <a:latin typeface="Arial" pitchFamily="34" charset="0"/>
                <a:ea typeface="Arial" pitchFamily="34" charset="-122"/>
                <a:cs typeface="Arial" pitchFamily="34" charset="-120"/>
              </a:rPr>
              <a:t>Tenant brings own GB200 racks. Umpireal sells conditioned space, power and liquid cooling. Energy is a pass-through. No rack capex, no depreciation, no utilisation risk.</a:t>
            </a:r>
            <a:endParaRPr lang="en-US" sz="1000" dirty="0"/>
          </a:p>
        </p:txBody>
      </p:sp>
      <p:sp>
        <p:nvSpPr>
          <p:cNvPr id="12" name="Shape 10"/>
          <p:cNvSpPr/>
          <p:nvPr/>
        </p:nvSpPr>
        <p:spPr>
          <a:xfrm>
            <a:off x="4800600" y="1121608"/>
            <a:ext cx="3931920" cy="1527048"/>
          </a:xfrm>
          <a:prstGeom prst="rect">
            <a:avLst/>
          </a:prstGeom>
          <a:solidFill>
            <a:srgbClr val="08111E"/>
          </a:solidFill>
          <a:ln w="12700">
            <a:solidFill>
              <a:srgbClr val="F0B429"/>
            </a:solidFill>
            <a:prstDash val="solid"/>
          </a:ln>
        </p:spPr>
        <p:txBody>
          <a:bodyPr/>
          <a:lstStyle/>
          <a:p>
            <a:endParaRPr lang="en-GB"/>
          </a:p>
        </p:txBody>
      </p:sp>
      <p:sp>
        <p:nvSpPr>
          <p:cNvPr id="13" name="Shape 11"/>
          <p:cNvSpPr/>
          <p:nvPr/>
        </p:nvSpPr>
        <p:spPr>
          <a:xfrm>
            <a:off x="4800600" y="1121608"/>
            <a:ext cx="3931920" cy="45719"/>
          </a:xfrm>
          <a:prstGeom prst="rect">
            <a:avLst/>
          </a:prstGeom>
          <a:solidFill>
            <a:srgbClr val="08111E"/>
          </a:solidFill>
          <a:ln w="12700">
            <a:solidFill>
              <a:srgbClr val="F0B429"/>
            </a:solidFill>
            <a:prstDash val="solid"/>
          </a:ln>
        </p:spPr>
        <p:txBody>
          <a:bodyPr/>
          <a:lstStyle/>
          <a:p>
            <a:endParaRPr lang="en-GB"/>
          </a:p>
        </p:txBody>
      </p:sp>
      <p:sp>
        <p:nvSpPr>
          <p:cNvPr id="14" name="Text 12"/>
          <p:cNvSpPr/>
          <p:nvPr/>
        </p:nvSpPr>
        <p:spPr>
          <a:xfrm>
            <a:off x="4937760" y="1213048"/>
            <a:ext cx="2419643" cy="206358"/>
          </a:xfrm>
          <a:prstGeom prst="rect">
            <a:avLst/>
          </a:prstGeom>
          <a:solidFill>
            <a:srgbClr val="08111E"/>
          </a:solidFill>
          <a:ln/>
        </p:spPr>
        <p:txBody>
          <a:bodyPr wrap="square" rtlCol="0" anchor="ctr"/>
          <a:lstStyle/>
          <a:p>
            <a:pPr marL="0" indent="0">
              <a:buNone/>
            </a:pPr>
            <a:r>
              <a:rPr lang="en-US" sz="950" b="1" kern="0" spc="100" dirty="0">
                <a:solidFill>
                  <a:srgbClr val="F0B429"/>
                </a:solidFill>
                <a:latin typeface="Arial" pitchFamily="34" charset="0"/>
                <a:ea typeface="Arial" pitchFamily="34" charset="-122"/>
                <a:cs typeface="Arial" pitchFamily="34" charset="-120"/>
              </a:rPr>
              <a:t>2 — BESS GRID SERVICES</a:t>
            </a:r>
            <a:endParaRPr lang="en-US" sz="950" dirty="0"/>
          </a:p>
        </p:txBody>
      </p:sp>
      <p:sp>
        <p:nvSpPr>
          <p:cNvPr id="15" name="Text 13"/>
          <p:cNvSpPr/>
          <p:nvPr/>
        </p:nvSpPr>
        <p:spPr>
          <a:xfrm>
            <a:off x="7485077" y="1213048"/>
            <a:ext cx="1209822" cy="206358"/>
          </a:xfrm>
          <a:prstGeom prst="rect">
            <a:avLst/>
          </a:prstGeom>
          <a:solidFill>
            <a:srgbClr val="08111E"/>
          </a:solidFill>
          <a:ln/>
        </p:spPr>
        <p:txBody>
          <a:bodyPr wrap="square" rtlCol="0" anchor="ctr"/>
          <a:lstStyle/>
          <a:p>
            <a:pPr marL="0" indent="0" algn="r">
              <a:buNone/>
            </a:pPr>
            <a:r>
              <a:rPr lang="en-US" sz="900" dirty="0">
                <a:solidFill>
                  <a:srgbClr val="9CA3AF"/>
                </a:solidFill>
                <a:latin typeface="Arial" pitchFamily="34" charset="0"/>
                <a:ea typeface="Arial" pitchFamily="34" charset="-122"/>
                <a:cs typeface="Arial" pitchFamily="34" charset="-120"/>
              </a:rPr>
              <a:t>High margin</a:t>
            </a:r>
            <a:endParaRPr lang="en-US" sz="900" dirty="0"/>
          </a:p>
        </p:txBody>
      </p:sp>
      <p:sp>
        <p:nvSpPr>
          <p:cNvPr id="16" name="Text 14"/>
          <p:cNvSpPr/>
          <p:nvPr/>
        </p:nvSpPr>
        <p:spPr>
          <a:xfrm>
            <a:off x="4937760" y="1441648"/>
            <a:ext cx="3672673" cy="313664"/>
          </a:xfrm>
          <a:prstGeom prst="rect">
            <a:avLst/>
          </a:prstGeom>
          <a:solidFill>
            <a:srgbClr val="08111E"/>
          </a:solidFill>
          <a:ln/>
        </p:spPr>
        <p:txBody>
          <a:bodyPr wrap="square" rtlCol="0" anchor="ctr"/>
          <a:lstStyle/>
          <a:p>
            <a:pPr marL="0" indent="0">
              <a:buNone/>
            </a:pPr>
            <a:r>
              <a:rPr lang="en-US" sz="1800" b="1" dirty="0">
                <a:solidFill>
                  <a:srgbClr val="F0B429"/>
                </a:solidFill>
                <a:latin typeface="Arial" pitchFamily="34" charset="0"/>
                <a:ea typeface="Arial" pitchFamily="34" charset="-122"/>
                <a:cs typeface="Arial" pitchFamily="34" charset="-120"/>
              </a:rPr>
              <a:t>€280–420K/yr</a:t>
            </a:r>
            <a:endParaRPr lang="en-US" sz="1800" dirty="0"/>
          </a:p>
        </p:txBody>
      </p:sp>
      <p:sp>
        <p:nvSpPr>
          <p:cNvPr id="17" name="Text 15"/>
          <p:cNvSpPr/>
          <p:nvPr/>
        </p:nvSpPr>
        <p:spPr>
          <a:xfrm>
            <a:off x="4937760" y="1789120"/>
            <a:ext cx="3672673" cy="181595"/>
          </a:xfrm>
          <a:prstGeom prst="rect">
            <a:avLst/>
          </a:prstGeom>
          <a:solidFill>
            <a:srgbClr val="08111E"/>
          </a:solidFill>
          <a:ln/>
        </p:spPr>
        <p:txBody>
          <a:bodyPr wrap="square" rtlCol="0" anchor="ctr"/>
          <a:lstStyle/>
          <a:p>
            <a:pPr marL="0" indent="0">
              <a:buNone/>
            </a:pPr>
            <a:r>
              <a:rPr lang="en-US" sz="900" i="1" dirty="0">
                <a:solidFill>
                  <a:srgbClr val="9CA3AF"/>
                </a:solidFill>
                <a:latin typeface="Arial" pitchFamily="34" charset="0"/>
                <a:ea typeface="Arial" pitchFamily="34" charset="-122"/>
                <a:cs typeface="Arial" pitchFamily="34" charset="-120"/>
              </a:rPr>
              <a:t>Conservative: €280K · Upside: €420K</a:t>
            </a:r>
            <a:endParaRPr lang="en-US" sz="900" dirty="0"/>
          </a:p>
        </p:txBody>
      </p:sp>
      <p:sp>
        <p:nvSpPr>
          <p:cNvPr id="18" name="Text 16"/>
          <p:cNvSpPr/>
          <p:nvPr/>
        </p:nvSpPr>
        <p:spPr>
          <a:xfrm>
            <a:off x="4937760" y="1999432"/>
            <a:ext cx="3672673" cy="643836"/>
          </a:xfrm>
          <a:prstGeom prst="rect">
            <a:avLst/>
          </a:prstGeom>
          <a:solidFill>
            <a:srgbClr val="08111E"/>
          </a:solidFill>
          <a:ln/>
        </p:spPr>
        <p:txBody>
          <a:bodyPr wrap="square" rtlCol="0" anchor="ctr"/>
          <a:lstStyle/>
          <a:p>
            <a:pPr marL="0" indent="0">
              <a:buNone/>
            </a:pPr>
            <a:r>
              <a:rPr lang="en-US" sz="1000" dirty="0">
                <a:solidFill>
                  <a:srgbClr val="E5E0D8"/>
                </a:solidFill>
                <a:latin typeface="Arial" pitchFamily="34" charset="0"/>
                <a:ea typeface="Arial" pitchFamily="34" charset="-122"/>
                <a:cs typeface="Arial" pitchFamily="34" charset="-120"/>
              </a:rPr>
              <a:t>Arbitrage (€2.5–3.5M) + Frequency Response FCR/aFRR (€3.0–4.5M) + Capacity Market (€0.5–1.0M). The 3.5 MW / 7 MWh BYD Blade LFP node qualifies for high-value Primary Frequency Response contracts. LFP chemistry ideal for enclosed underground deployment.</a:t>
            </a:r>
            <a:endParaRPr lang="en-US" sz="1000" dirty="0"/>
          </a:p>
        </p:txBody>
      </p:sp>
      <p:sp>
        <p:nvSpPr>
          <p:cNvPr id="19" name="Shape 17"/>
          <p:cNvSpPr/>
          <p:nvPr/>
        </p:nvSpPr>
        <p:spPr>
          <a:xfrm>
            <a:off x="411480" y="2848702"/>
            <a:ext cx="3931920" cy="1527048"/>
          </a:xfrm>
          <a:prstGeom prst="rect">
            <a:avLst/>
          </a:prstGeom>
          <a:solidFill>
            <a:srgbClr val="08111E"/>
          </a:solidFill>
          <a:ln w="12700">
            <a:solidFill>
              <a:srgbClr val="22F6AF"/>
            </a:solidFill>
            <a:prstDash val="solid"/>
          </a:ln>
        </p:spPr>
        <p:txBody>
          <a:bodyPr/>
          <a:lstStyle/>
          <a:p>
            <a:endParaRPr lang="en-GB"/>
          </a:p>
        </p:txBody>
      </p:sp>
      <p:sp>
        <p:nvSpPr>
          <p:cNvPr id="20" name="Shape 18"/>
          <p:cNvSpPr/>
          <p:nvPr/>
        </p:nvSpPr>
        <p:spPr>
          <a:xfrm>
            <a:off x="411480" y="2848702"/>
            <a:ext cx="3931920" cy="45719"/>
          </a:xfrm>
          <a:prstGeom prst="rect">
            <a:avLst/>
          </a:prstGeom>
          <a:solidFill>
            <a:srgbClr val="08111E"/>
          </a:solidFill>
          <a:ln w="12700">
            <a:solidFill>
              <a:srgbClr val="22F6AF"/>
            </a:solidFill>
            <a:prstDash val="solid"/>
          </a:ln>
        </p:spPr>
        <p:txBody>
          <a:bodyPr/>
          <a:lstStyle/>
          <a:p>
            <a:endParaRPr lang="en-GB"/>
          </a:p>
        </p:txBody>
      </p:sp>
      <p:sp>
        <p:nvSpPr>
          <p:cNvPr id="21" name="Text 19"/>
          <p:cNvSpPr/>
          <p:nvPr/>
        </p:nvSpPr>
        <p:spPr>
          <a:xfrm>
            <a:off x="548640" y="2940142"/>
            <a:ext cx="2419643" cy="206358"/>
          </a:xfrm>
          <a:prstGeom prst="rect">
            <a:avLst/>
          </a:prstGeom>
          <a:solidFill>
            <a:srgbClr val="08111E"/>
          </a:solidFill>
          <a:ln/>
        </p:spPr>
        <p:txBody>
          <a:bodyPr wrap="square" rtlCol="0" anchor="ctr"/>
          <a:lstStyle/>
          <a:p>
            <a:pPr marL="0" indent="0">
              <a:buNone/>
            </a:pPr>
            <a:r>
              <a:rPr lang="en-US" sz="950" b="1" kern="0" spc="100" dirty="0">
                <a:solidFill>
                  <a:srgbClr val="22F6AF"/>
                </a:solidFill>
                <a:latin typeface="Arial" pitchFamily="34" charset="0"/>
                <a:ea typeface="Arial" pitchFamily="34" charset="-122"/>
                <a:cs typeface="Arial" pitchFamily="34" charset="-120"/>
              </a:rPr>
              <a:t>3 — DISTRICT HEATING</a:t>
            </a:r>
            <a:endParaRPr lang="en-US" sz="950" dirty="0">
              <a:solidFill>
                <a:srgbClr val="22F6AF"/>
              </a:solidFill>
            </a:endParaRPr>
          </a:p>
        </p:txBody>
      </p:sp>
      <p:sp>
        <p:nvSpPr>
          <p:cNvPr id="22" name="Text 20"/>
          <p:cNvSpPr/>
          <p:nvPr/>
        </p:nvSpPr>
        <p:spPr>
          <a:xfrm>
            <a:off x="3095957" y="2940142"/>
            <a:ext cx="1209822" cy="206358"/>
          </a:xfrm>
          <a:prstGeom prst="rect">
            <a:avLst/>
          </a:prstGeom>
          <a:solidFill>
            <a:srgbClr val="08111E"/>
          </a:solidFill>
          <a:ln/>
        </p:spPr>
        <p:txBody>
          <a:bodyPr wrap="square" rtlCol="0" anchor="ctr"/>
          <a:lstStyle/>
          <a:p>
            <a:pPr marL="0" indent="0" algn="r">
              <a:buNone/>
            </a:pPr>
            <a:r>
              <a:rPr lang="en-US" sz="900" dirty="0">
                <a:solidFill>
                  <a:srgbClr val="9CA3AF"/>
                </a:solidFill>
                <a:latin typeface="Arial" pitchFamily="34" charset="0"/>
                <a:ea typeface="Arial" pitchFamily="34" charset="-122"/>
                <a:cs typeface="Arial" pitchFamily="34" charset="-120"/>
              </a:rPr>
              <a:t>Pure upside</a:t>
            </a:r>
            <a:endParaRPr lang="en-US" sz="900" dirty="0"/>
          </a:p>
        </p:txBody>
      </p:sp>
      <p:sp>
        <p:nvSpPr>
          <p:cNvPr id="23" name="Text 21"/>
          <p:cNvSpPr/>
          <p:nvPr/>
        </p:nvSpPr>
        <p:spPr>
          <a:xfrm>
            <a:off x="548640" y="3168742"/>
            <a:ext cx="3672673" cy="313664"/>
          </a:xfrm>
          <a:prstGeom prst="rect">
            <a:avLst/>
          </a:prstGeom>
          <a:solidFill>
            <a:srgbClr val="08111E"/>
          </a:solidFill>
          <a:ln/>
        </p:spPr>
        <p:txBody>
          <a:bodyPr wrap="square" rtlCol="0" anchor="ctr"/>
          <a:lstStyle/>
          <a:p>
            <a:pPr marL="0" indent="0">
              <a:buNone/>
            </a:pPr>
            <a:r>
              <a:rPr lang="en-US" sz="1800" b="1" dirty="0">
                <a:solidFill>
                  <a:srgbClr val="22F6AF"/>
                </a:solidFill>
                <a:latin typeface="Arial" pitchFamily="34" charset="0"/>
                <a:ea typeface="Arial" pitchFamily="34" charset="-122"/>
                <a:cs typeface="Arial" pitchFamily="34" charset="-120"/>
              </a:rPr>
              <a:t>€102K/yr</a:t>
            </a:r>
            <a:endParaRPr lang="en-US" sz="1800" dirty="0">
              <a:solidFill>
                <a:srgbClr val="22F6AF"/>
              </a:solidFill>
            </a:endParaRPr>
          </a:p>
        </p:txBody>
      </p:sp>
      <p:sp>
        <p:nvSpPr>
          <p:cNvPr id="24" name="Text 22"/>
          <p:cNvSpPr/>
          <p:nvPr/>
        </p:nvSpPr>
        <p:spPr>
          <a:xfrm>
            <a:off x="548640" y="3516214"/>
            <a:ext cx="3672673" cy="181595"/>
          </a:xfrm>
          <a:prstGeom prst="rect">
            <a:avLst/>
          </a:prstGeom>
          <a:solidFill>
            <a:srgbClr val="08111E"/>
          </a:solidFill>
          <a:ln/>
        </p:spPr>
        <p:txBody>
          <a:bodyPr wrap="square" rtlCol="0" anchor="ctr"/>
          <a:lstStyle/>
          <a:p>
            <a:pPr marL="0" indent="0">
              <a:buNone/>
            </a:pPr>
            <a:r>
              <a:rPr lang="en-US" sz="900" i="1" dirty="0">
                <a:solidFill>
                  <a:srgbClr val="9CA3AF"/>
                </a:solidFill>
                <a:latin typeface="Arial" pitchFamily="34" charset="0"/>
                <a:ea typeface="Arial" pitchFamily="34" charset="-122"/>
                <a:cs typeface="Arial" pitchFamily="34" charset="-120"/>
              </a:rPr>
              <a:t>~260 homes · 2.6 GWh thermal · GPU waste heat</a:t>
            </a:r>
            <a:endParaRPr lang="en-US" sz="900" dirty="0"/>
          </a:p>
        </p:txBody>
      </p:sp>
      <p:sp>
        <p:nvSpPr>
          <p:cNvPr id="25" name="Text 23"/>
          <p:cNvSpPr/>
          <p:nvPr/>
        </p:nvSpPr>
        <p:spPr>
          <a:xfrm>
            <a:off x="548640" y="3726526"/>
            <a:ext cx="3672673" cy="643836"/>
          </a:xfrm>
          <a:prstGeom prst="rect">
            <a:avLst/>
          </a:prstGeom>
          <a:solidFill>
            <a:srgbClr val="08111E"/>
          </a:solidFill>
          <a:ln/>
        </p:spPr>
        <p:txBody>
          <a:bodyPr wrap="square" rtlCol="0" anchor="ctr"/>
          <a:lstStyle/>
          <a:p>
            <a:pPr marL="0" indent="0">
              <a:buNone/>
            </a:pPr>
            <a:r>
              <a:rPr lang="en-US" sz="1000" dirty="0">
                <a:solidFill>
                  <a:srgbClr val="E5E0D8"/>
                </a:solidFill>
                <a:latin typeface="Arial" pitchFamily="34" charset="0"/>
                <a:ea typeface="Arial" pitchFamily="34" charset="-122"/>
                <a:cs typeface="Arial" pitchFamily="34" charset="-120"/>
              </a:rPr>
              <a:t>GPU liquid cooling waste heat recovered and exported to local district heating network. At 460 kW IT load, ~260 homes served. Scales with each rack upgrade.</a:t>
            </a:r>
            <a:endParaRPr lang="en-US" sz="1000" dirty="0"/>
          </a:p>
        </p:txBody>
      </p:sp>
      <p:sp>
        <p:nvSpPr>
          <p:cNvPr id="26" name="Shape 24"/>
          <p:cNvSpPr/>
          <p:nvPr/>
        </p:nvSpPr>
        <p:spPr>
          <a:xfrm>
            <a:off x="4800600" y="2848702"/>
            <a:ext cx="3931920" cy="1527048"/>
          </a:xfrm>
          <a:prstGeom prst="rect">
            <a:avLst/>
          </a:prstGeom>
          <a:solidFill>
            <a:srgbClr val="08111E"/>
          </a:solidFill>
          <a:ln w="12700">
            <a:solidFill>
              <a:srgbClr val="D4956A"/>
            </a:solidFill>
            <a:prstDash val="solid"/>
          </a:ln>
        </p:spPr>
        <p:txBody>
          <a:bodyPr/>
          <a:lstStyle/>
          <a:p>
            <a:endParaRPr lang="en-GB"/>
          </a:p>
        </p:txBody>
      </p:sp>
      <p:sp>
        <p:nvSpPr>
          <p:cNvPr id="27" name="Shape 25"/>
          <p:cNvSpPr/>
          <p:nvPr/>
        </p:nvSpPr>
        <p:spPr>
          <a:xfrm>
            <a:off x="4800600" y="2848702"/>
            <a:ext cx="3931920" cy="45719"/>
          </a:xfrm>
          <a:prstGeom prst="rect">
            <a:avLst/>
          </a:prstGeom>
          <a:solidFill>
            <a:srgbClr val="08111E"/>
          </a:solidFill>
          <a:ln w="12700">
            <a:solidFill>
              <a:srgbClr val="D4956A"/>
            </a:solidFill>
            <a:prstDash val="solid"/>
          </a:ln>
        </p:spPr>
        <p:txBody>
          <a:bodyPr/>
          <a:lstStyle/>
          <a:p>
            <a:endParaRPr lang="en-GB"/>
          </a:p>
        </p:txBody>
      </p:sp>
      <p:sp>
        <p:nvSpPr>
          <p:cNvPr id="28" name="Text 26"/>
          <p:cNvSpPr/>
          <p:nvPr/>
        </p:nvSpPr>
        <p:spPr>
          <a:xfrm>
            <a:off x="4937760" y="2940142"/>
            <a:ext cx="2419643" cy="206358"/>
          </a:xfrm>
          <a:prstGeom prst="rect">
            <a:avLst/>
          </a:prstGeom>
          <a:solidFill>
            <a:srgbClr val="08111E"/>
          </a:solidFill>
          <a:ln/>
        </p:spPr>
        <p:txBody>
          <a:bodyPr wrap="square" rtlCol="0" anchor="ctr"/>
          <a:lstStyle/>
          <a:p>
            <a:pPr marL="0" indent="0">
              <a:buNone/>
            </a:pPr>
            <a:r>
              <a:rPr lang="en-US" sz="950" b="1" kern="0" spc="100" dirty="0">
                <a:solidFill>
                  <a:srgbClr val="D4956A"/>
                </a:solidFill>
                <a:latin typeface="Arial" pitchFamily="34" charset="0"/>
                <a:ea typeface="Arial" pitchFamily="34" charset="-122"/>
                <a:cs typeface="Arial" pitchFamily="34" charset="-120"/>
              </a:rPr>
              <a:t>4 — CARBON CREDITS</a:t>
            </a:r>
            <a:endParaRPr lang="en-US" sz="950" dirty="0"/>
          </a:p>
        </p:txBody>
      </p:sp>
      <p:sp>
        <p:nvSpPr>
          <p:cNvPr id="29" name="Text 27"/>
          <p:cNvSpPr/>
          <p:nvPr/>
        </p:nvSpPr>
        <p:spPr>
          <a:xfrm>
            <a:off x="7485077" y="2940142"/>
            <a:ext cx="1209822" cy="206358"/>
          </a:xfrm>
          <a:prstGeom prst="rect">
            <a:avLst/>
          </a:prstGeom>
          <a:solidFill>
            <a:srgbClr val="08111E"/>
          </a:solidFill>
          <a:ln/>
        </p:spPr>
        <p:txBody>
          <a:bodyPr wrap="square" rtlCol="0" anchor="ctr"/>
          <a:lstStyle/>
          <a:p>
            <a:pPr marL="0" indent="0" algn="r">
              <a:buNone/>
            </a:pPr>
            <a:r>
              <a:rPr lang="en-US" sz="900" dirty="0">
                <a:solidFill>
                  <a:srgbClr val="9CA3AF"/>
                </a:solidFill>
                <a:latin typeface="Arial" pitchFamily="34" charset="0"/>
                <a:ea typeface="Arial" pitchFamily="34" charset="-122"/>
                <a:cs typeface="Arial" pitchFamily="34" charset="-120"/>
              </a:rPr>
              <a:t>Attributable</a:t>
            </a:r>
            <a:endParaRPr lang="en-US" sz="900" dirty="0"/>
          </a:p>
        </p:txBody>
      </p:sp>
      <p:sp>
        <p:nvSpPr>
          <p:cNvPr id="30" name="Text 28"/>
          <p:cNvSpPr/>
          <p:nvPr/>
        </p:nvSpPr>
        <p:spPr>
          <a:xfrm>
            <a:off x="4937760" y="3168742"/>
            <a:ext cx="3672673" cy="313664"/>
          </a:xfrm>
          <a:prstGeom prst="rect">
            <a:avLst/>
          </a:prstGeom>
          <a:solidFill>
            <a:srgbClr val="08111E"/>
          </a:solidFill>
          <a:ln/>
        </p:spPr>
        <p:txBody>
          <a:bodyPr wrap="square" rtlCol="0" anchor="ctr"/>
          <a:lstStyle/>
          <a:p>
            <a:pPr marL="0" indent="0">
              <a:buNone/>
            </a:pPr>
            <a:r>
              <a:rPr lang="en-US" sz="1800" b="1" dirty="0">
                <a:solidFill>
                  <a:srgbClr val="D4956A"/>
                </a:solidFill>
                <a:latin typeface="Arial" pitchFamily="34" charset="0"/>
                <a:ea typeface="Arial" pitchFamily="34" charset="-122"/>
                <a:cs typeface="Arial" pitchFamily="34" charset="-120"/>
              </a:rPr>
              <a:t>€104K/yr</a:t>
            </a:r>
            <a:endParaRPr lang="en-US" sz="1800" dirty="0"/>
          </a:p>
        </p:txBody>
      </p:sp>
      <p:sp>
        <p:nvSpPr>
          <p:cNvPr id="31" name="Text 29"/>
          <p:cNvSpPr/>
          <p:nvPr/>
        </p:nvSpPr>
        <p:spPr>
          <a:xfrm>
            <a:off x="4937760" y="3516214"/>
            <a:ext cx="3672673" cy="181595"/>
          </a:xfrm>
          <a:prstGeom prst="rect">
            <a:avLst/>
          </a:prstGeom>
          <a:solidFill>
            <a:srgbClr val="08111E"/>
          </a:solidFill>
          <a:ln/>
        </p:spPr>
        <p:txBody>
          <a:bodyPr wrap="square" rtlCol="0" anchor="ctr"/>
          <a:lstStyle/>
          <a:p>
            <a:pPr marL="0" indent="0">
              <a:buNone/>
            </a:pPr>
            <a:r>
              <a:rPr lang="en-US" sz="900" i="1" dirty="0">
                <a:solidFill>
                  <a:srgbClr val="9CA3AF"/>
                </a:solidFill>
                <a:latin typeface="Arial" pitchFamily="34" charset="0"/>
                <a:ea typeface="Arial" pitchFamily="34" charset="-122"/>
                <a:cs typeface="Arial" pitchFamily="34" charset="-120"/>
              </a:rPr>
              <a:t>2,088 t CO₂ offset · EU ETS @ €50/t</a:t>
            </a:r>
            <a:endParaRPr lang="en-US" sz="900" dirty="0"/>
          </a:p>
        </p:txBody>
      </p:sp>
      <p:sp>
        <p:nvSpPr>
          <p:cNvPr id="32" name="Text 30"/>
          <p:cNvSpPr/>
          <p:nvPr/>
        </p:nvSpPr>
        <p:spPr>
          <a:xfrm>
            <a:off x="4937760" y="3726526"/>
            <a:ext cx="3672673" cy="643836"/>
          </a:xfrm>
          <a:prstGeom prst="rect">
            <a:avLst/>
          </a:prstGeom>
          <a:solidFill>
            <a:srgbClr val="08111E"/>
          </a:solidFill>
          <a:ln/>
        </p:spPr>
        <p:txBody>
          <a:bodyPr wrap="square" rtlCol="0" anchor="ctr"/>
          <a:lstStyle/>
          <a:p>
            <a:pPr marL="0" indent="0">
              <a:buNone/>
            </a:pPr>
            <a:r>
              <a:rPr lang="en-US" sz="1000" dirty="0">
                <a:solidFill>
                  <a:srgbClr val="E5E0D8"/>
                </a:solidFill>
                <a:latin typeface="Arial" pitchFamily="34" charset="0"/>
                <a:ea typeface="Arial" pitchFamily="34" charset="-122"/>
                <a:cs typeface="Arial" pitchFamily="34" charset="-120"/>
              </a:rPr>
              <a:t>The fuel not burned at the junction (2,000 t) plus grid carbon displaced by BESS (88 t) = 2,088 t of attributable CO₂ offset per node per year at standard configuration.</a:t>
            </a:r>
            <a:endParaRPr lang="en-US" sz="1000" dirty="0"/>
          </a:p>
        </p:txBody>
      </p:sp>
      <p:sp>
        <p:nvSpPr>
          <p:cNvPr id="33" name="Shape 31"/>
          <p:cNvSpPr/>
          <p:nvPr/>
        </p:nvSpPr>
        <p:spPr>
          <a:xfrm>
            <a:off x="411480" y="4516213"/>
            <a:ext cx="8321040" cy="327514"/>
          </a:xfrm>
          <a:prstGeom prst="rect">
            <a:avLst/>
          </a:prstGeom>
          <a:solidFill>
            <a:srgbClr val="03070D"/>
          </a:solidFill>
          <a:ln w="12700">
            <a:solidFill>
              <a:srgbClr val="B87333"/>
            </a:solidFill>
            <a:prstDash val="solid"/>
          </a:ln>
        </p:spPr>
        <p:txBody>
          <a:bodyPr/>
          <a:lstStyle/>
          <a:p>
            <a:endParaRPr lang="en-GB"/>
          </a:p>
        </p:txBody>
      </p:sp>
      <p:sp>
        <p:nvSpPr>
          <p:cNvPr id="34" name="Text 32"/>
          <p:cNvSpPr/>
          <p:nvPr/>
        </p:nvSpPr>
        <p:spPr>
          <a:xfrm>
            <a:off x="548640" y="4510825"/>
            <a:ext cx="8046720" cy="327514"/>
          </a:xfrm>
          <a:prstGeom prst="rect">
            <a:avLst/>
          </a:prstGeom>
          <a:noFill/>
          <a:ln/>
        </p:spPr>
        <p:txBody>
          <a:bodyPr wrap="square" rtlCol="0" anchor="ctr"/>
          <a:lstStyle/>
          <a:p>
            <a:pPr marL="0" indent="0">
              <a:buNone/>
            </a:pPr>
            <a:r>
              <a:rPr lang="en-US" sz="1000" dirty="0">
                <a:solidFill>
                  <a:srgbClr val="FDCC9C"/>
                </a:solidFill>
                <a:latin typeface="Arial" pitchFamily="34" charset="0"/>
                <a:ea typeface="Arial" pitchFamily="34" charset="-122"/>
                <a:cs typeface="Arial" pitchFamily="34" charset="-120"/>
              </a:rPr>
              <a:t>Plus: IP licence fee €160K (yr 1)  ·  Commercial tenancy €150K/yr  ·  EV charging €30K/yr  ·  Node upgrades to 8/16 racks add proportional colocation revenue on same infrastructure</a:t>
            </a:r>
            <a:endParaRPr lang="en-US" sz="1000" dirty="0">
              <a:solidFill>
                <a:srgbClr val="FDCC9C"/>
              </a:solidFill>
            </a:endParaRPr>
          </a:p>
        </p:txBody>
      </p:sp>
      <p:sp>
        <p:nvSpPr>
          <p:cNvPr id="35" name="Shape 33"/>
          <p:cNvSpPr/>
          <p:nvPr/>
        </p:nvSpPr>
        <p:spPr>
          <a:xfrm>
            <a:off x="0" y="4892040"/>
            <a:ext cx="9144000" cy="251460"/>
          </a:xfrm>
          <a:prstGeom prst="rect">
            <a:avLst/>
          </a:prstGeom>
          <a:solidFill>
            <a:srgbClr val="03070D"/>
          </a:solidFill>
          <a:ln w="12700">
            <a:solidFill>
              <a:srgbClr val="0D1B2E"/>
            </a:solidFill>
            <a:prstDash val="solid"/>
          </a:ln>
        </p:spPr>
        <p:txBody>
          <a:bodyPr/>
          <a:lstStyle/>
          <a:p>
            <a:endParaRPr lang="en-GB"/>
          </a:p>
        </p:txBody>
      </p:sp>
      <p:sp>
        <p:nvSpPr>
          <p:cNvPr id="36" name="Shape 34"/>
          <p:cNvSpPr/>
          <p:nvPr/>
        </p:nvSpPr>
        <p:spPr>
          <a:xfrm>
            <a:off x="0" y="4875262"/>
            <a:ext cx="9144000" cy="27432"/>
          </a:xfrm>
          <a:prstGeom prst="rect">
            <a:avLst/>
          </a:prstGeom>
          <a:solidFill>
            <a:srgbClr val="03070D"/>
          </a:solidFill>
          <a:ln w="12700">
            <a:solidFill>
              <a:srgbClr val="B87333"/>
            </a:solidFill>
            <a:prstDash val="solid"/>
          </a:ln>
        </p:spPr>
        <p:txBody>
          <a:bodyPr/>
          <a:lstStyle/>
          <a:p>
            <a:endParaRPr lang="en-GB"/>
          </a:p>
        </p:txBody>
      </p:sp>
      <p:sp>
        <p:nvSpPr>
          <p:cNvPr id="37" name="Text 35"/>
          <p:cNvSpPr/>
          <p:nvPr/>
        </p:nvSpPr>
        <p:spPr>
          <a:xfrm>
            <a:off x="320040" y="4901184"/>
            <a:ext cx="4572000" cy="228600"/>
          </a:xfrm>
          <a:prstGeom prst="rect">
            <a:avLst/>
          </a:prstGeom>
          <a:solidFill>
            <a:srgbClr val="03070D"/>
          </a:solidFill>
          <a:ln/>
        </p:spPr>
        <p:txBody>
          <a:bodyPr wrap="square" rtlCol="0" anchor="ctr"/>
          <a:lstStyle/>
          <a:p>
            <a:pPr marL="0" indent="0">
              <a:buNone/>
            </a:pPr>
            <a:r>
              <a:rPr lang="en-US" sz="800" dirty="0">
                <a:solidFill>
                  <a:srgbClr val="B87333"/>
                </a:solidFill>
                <a:latin typeface="Arial" pitchFamily="34" charset="0"/>
                <a:ea typeface="Arial" pitchFamily="34" charset="-122"/>
                <a:cs typeface="Arial" pitchFamily="34" charset="-120"/>
              </a:rPr>
              <a:t>UMPIREAL  ·  CONFIDENTIAL</a:t>
            </a:r>
            <a:endParaRPr lang="en-US" sz="800" dirty="0"/>
          </a:p>
        </p:txBody>
      </p:sp>
      <p:sp>
        <p:nvSpPr>
          <p:cNvPr id="38" name="Text 36"/>
          <p:cNvSpPr/>
          <p:nvPr/>
        </p:nvSpPr>
        <p:spPr>
          <a:xfrm>
            <a:off x="4572000" y="4901184"/>
            <a:ext cx="4251960" cy="228600"/>
          </a:xfrm>
          <a:prstGeom prst="rect">
            <a:avLst/>
          </a:prstGeom>
          <a:solidFill>
            <a:srgbClr val="03070D"/>
          </a:solidFill>
          <a:ln/>
        </p:spPr>
        <p:txBody>
          <a:bodyPr wrap="square" rtlCol="0" anchor="ctr"/>
          <a:lstStyle/>
          <a:p>
            <a:pPr marL="0" indent="0" algn="r">
              <a:buNone/>
            </a:pPr>
            <a:r>
              <a:rPr lang="en-US" sz="800" dirty="0">
                <a:solidFill>
                  <a:srgbClr val="9CA3AF"/>
                </a:solidFill>
                <a:latin typeface="Arial" pitchFamily="34" charset="0"/>
                <a:ea typeface="Arial" pitchFamily="34" charset="-122"/>
                <a:cs typeface="Arial" pitchFamily="34" charset="-120"/>
              </a:rPr>
              <a:t>05 — Revenue Model</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11480" y="164592"/>
            <a:ext cx="54864" cy="384048"/>
          </a:xfrm>
          <a:prstGeom prst="rect">
            <a:avLst/>
          </a:prstGeom>
          <a:solidFill>
            <a:srgbClr val="B87333"/>
          </a:solidFill>
          <a:ln w="12700">
            <a:solidFill>
              <a:srgbClr val="B87333"/>
            </a:solidFill>
            <a:prstDash val="solid"/>
          </a:ln>
        </p:spPr>
        <p:txBody>
          <a:bodyPr/>
          <a:lstStyle/>
          <a:p>
            <a:endParaRPr lang="en-GB"/>
          </a:p>
        </p:txBody>
      </p:sp>
      <p:sp>
        <p:nvSpPr>
          <p:cNvPr id="3" name="Text 1"/>
          <p:cNvSpPr/>
          <p:nvPr/>
        </p:nvSpPr>
        <p:spPr>
          <a:xfrm>
            <a:off x="548640" y="155448"/>
            <a:ext cx="8229600" cy="411480"/>
          </a:xfrm>
          <a:prstGeom prst="rect">
            <a:avLst/>
          </a:prstGeom>
          <a:noFill/>
          <a:ln/>
        </p:spPr>
        <p:txBody>
          <a:bodyPr wrap="square" rtlCol="0" anchor="ctr"/>
          <a:lstStyle/>
          <a:p>
            <a:pPr marL="0" indent="0">
              <a:buNone/>
            </a:pPr>
            <a:r>
              <a:rPr lang="en-US" sz="1100" b="1" kern="0" spc="300" dirty="0">
                <a:solidFill>
                  <a:srgbClr val="B87333"/>
                </a:solidFill>
                <a:latin typeface="Arial" pitchFamily="34" charset="0"/>
                <a:ea typeface="Arial" pitchFamily="34" charset="-122"/>
                <a:cs typeface="Arial" pitchFamily="34" charset="-120"/>
              </a:rPr>
              <a:t>P&amp;L SUMMARY</a:t>
            </a:r>
            <a:endParaRPr lang="en-US" sz="1100" dirty="0"/>
          </a:p>
        </p:txBody>
      </p:sp>
      <p:sp>
        <p:nvSpPr>
          <p:cNvPr id="4" name="Text 2"/>
          <p:cNvSpPr/>
          <p:nvPr/>
        </p:nvSpPr>
        <p:spPr>
          <a:xfrm>
            <a:off x="2788920" y="255571"/>
            <a:ext cx="8321040" cy="457200"/>
          </a:xfrm>
          <a:prstGeom prst="rect">
            <a:avLst/>
          </a:prstGeom>
          <a:noFill/>
          <a:ln/>
        </p:spPr>
        <p:txBody>
          <a:bodyPr wrap="square" rtlCol="0" anchor="ctr"/>
          <a:lstStyle/>
          <a:p>
            <a:pPr marL="0" indent="0">
              <a:buNone/>
            </a:pPr>
            <a:r>
              <a:rPr lang="en-US" b="1" spc="300" dirty="0">
                <a:solidFill>
                  <a:schemeClr val="bg1">
                    <a:lumMod val="85000"/>
                  </a:schemeClr>
                </a:solidFill>
                <a:latin typeface="Aptos" panose="020B0004020202020204" pitchFamily="34" charset="0"/>
                <a:ea typeface="Arial" pitchFamily="34" charset="-122"/>
                <a:cs typeface="Arial" pitchFamily="34" charset="-120"/>
              </a:rPr>
              <a:t>Year 1 P&amp;L — Colocation Model</a:t>
            </a:r>
            <a:endParaRPr lang="en-US" spc="300" dirty="0">
              <a:solidFill>
                <a:schemeClr val="bg1">
                  <a:lumMod val="85000"/>
                </a:schemeClr>
              </a:solidFill>
              <a:latin typeface="Aptos" panose="020B0004020202020204" pitchFamily="34" charset="0"/>
            </a:endParaRPr>
          </a:p>
        </p:txBody>
      </p:sp>
      <p:sp>
        <p:nvSpPr>
          <p:cNvPr id="5" name="Shape 3"/>
          <p:cNvSpPr/>
          <p:nvPr/>
        </p:nvSpPr>
        <p:spPr>
          <a:xfrm>
            <a:off x="411480" y="782273"/>
            <a:ext cx="8321040" cy="274320"/>
          </a:xfrm>
          <a:prstGeom prst="rect">
            <a:avLst/>
          </a:prstGeom>
          <a:solidFill>
            <a:srgbClr val="0D1B2E"/>
          </a:solidFill>
          <a:ln w="12700">
            <a:solidFill>
              <a:srgbClr val="22D3EE"/>
            </a:solidFill>
            <a:prstDash val="solid"/>
          </a:ln>
        </p:spPr>
        <p:txBody>
          <a:bodyPr/>
          <a:lstStyle/>
          <a:p>
            <a:endParaRPr lang="en-GB"/>
          </a:p>
        </p:txBody>
      </p:sp>
      <p:sp>
        <p:nvSpPr>
          <p:cNvPr id="6" name="Text 4"/>
          <p:cNvSpPr/>
          <p:nvPr/>
        </p:nvSpPr>
        <p:spPr>
          <a:xfrm>
            <a:off x="548640" y="827993"/>
            <a:ext cx="1828800" cy="182880"/>
          </a:xfrm>
          <a:prstGeom prst="rect">
            <a:avLst/>
          </a:prstGeom>
          <a:noFill/>
          <a:ln/>
        </p:spPr>
        <p:txBody>
          <a:bodyPr wrap="square" rtlCol="0" anchor="ctr"/>
          <a:lstStyle/>
          <a:p>
            <a:pPr marL="0" indent="0">
              <a:buNone/>
            </a:pPr>
            <a:r>
              <a:rPr lang="en-US" sz="900" kern="0" spc="200" dirty="0">
                <a:solidFill>
                  <a:srgbClr val="22D3EE"/>
                </a:solidFill>
                <a:latin typeface="Arial" pitchFamily="34" charset="0"/>
                <a:ea typeface="Arial" pitchFamily="34" charset="-122"/>
                <a:cs typeface="Arial" pitchFamily="34" charset="-120"/>
              </a:rPr>
              <a:t>REVENUE</a:t>
            </a:r>
            <a:endParaRPr lang="en-US" sz="900" dirty="0"/>
          </a:p>
        </p:txBody>
      </p:sp>
      <p:sp>
        <p:nvSpPr>
          <p:cNvPr id="7" name="Shape 5"/>
          <p:cNvSpPr/>
          <p:nvPr/>
        </p:nvSpPr>
        <p:spPr>
          <a:xfrm>
            <a:off x="411480" y="1102313"/>
            <a:ext cx="8321040" cy="301752"/>
          </a:xfrm>
          <a:prstGeom prst="rect">
            <a:avLst/>
          </a:prstGeom>
          <a:solidFill>
            <a:srgbClr val="0D1B2E"/>
          </a:solidFill>
          <a:ln w="12700">
            <a:solidFill>
              <a:srgbClr val="1A2535"/>
            </a:solidFill>
            <a:prstDash val="solid"/>
          </a:ln>
        </p:spPr>
        <p:txBody>
          <a:bodyPr/>
          <a:lstStyle/>
          <a:p>
            <a:endParaRPr lang="en-GB"/>
          </a:p>
        </p:txBody>
      </p:sp>
      <p:sp>
        <p:nvSpPr>
          <p:cNvPr id="8" name="Text 6"/>
          <p:cNvSpPr/>
          <p:nvPr/>
        </p:nvSpPr>
        <p:spPr>
          <a:xfrm>
            <a:off x="548640" y="1148033"/>
            <a:ext cx="6858000" cy="210312"/>
          </a:xfrm>
          <a:prstGeom prst="rect">
            <a:avLst/>
          </a:prstGeom>
          <a:noFill/>
          <a:ln/>
        </p:spPr>
        <p:txBody>
          <a:bodyPr wrap="square" rtlCol="0" anchor="ctr"/>
          <a:lstStyle/>
          <a:p>
            <a:pPr marL="0" indent="0">
              <a:buNone/>
            </a:pPr>
            <a:r>
              <a:rPr lang="en-US" sz="1100" dirty="0">
                <a:solidFill>
                  <a:schemeClr val="bg1">
                    <a:lumMod val="85000"/>
                  </a:schemeClr>
                </a:solidFill>
                <a:latin typeface="Arial" pitchFamily="34" charset="0"/>
                <a:ea typeface="Arial" pitchFamily="34" charset="-122"/>
                <a:cs typeface="Arial" pitchFamily="34" charset="-120"/>
              </a:rPr>
              <a:t>Colocation IaaS (460 kW · $500/kW/mo · 80% occupancy · 4 × VR NVL72)</a:t>
            </a:r>
            <a:endParaRPr lang="en-US" sz="1100" dirty="0">
              <a:solidFill>
                <a:schemeClr val="bg1">
                  <a:lumMod val="85000"/>
                </a:schemeClr>
              </a:solidFill>
            </a:endParaRPr>
          </a:p>
        </p:txBody>
      </p:sp>
      <p:sp>
        <p:nvSpPr>
          <p:cNvPr id="9" name="Text 7"/>
          <p:cNvSpPr/>
          <p:nvPr/>
        </p:nvSpPr>
        <p:spPr>
          <a:xfrm>
            <a:off x="7315200" y="1148033"/>
            <a:ext cx="1280160" cy="210312"/>
          </a:xfrm>
          <a:prstGeom prst="rect">
            <a:avLst/>
          </a:prstGeom>
          <a:noFill/>
          <a:ln/>
        </p:spPr>
        <p:txBody>
          <a:bodyPr wrap="square" rtlCol="0" anchor="ctr"/>
          <a:lstStyle/>
          <a:p>
            <a:pPr marL="0" indent="0" algn="r">
              <a:buNone/>
            </a:pPr>
            <a:r>
              <a:rPr lang="en-US" sz="1100" b="1" dirty="0">
                <a:solidFill>
                  <a:srgbClr val="22D3EE"/>
                </a:solidFill>
                <a:latin typeface="Arial" pitchFamily="34" charset="0"/>
                <a:ea typeface="Arial" pitchFamily="34" charset="-122"/>
                <a:cs typeface="Arial" pitchFamily="34" charset="-120"/>
              </a:rPr>
              <a:t>€2.01M</a:t>
            </a:r>
            <a:endParaRPr lang="en-US" sz="1100" dirty="0"/>
          </a:p>
        </p:txBody>
      </p:sp>
      <p:sp>
        <p:nvSpPr>
          <p:cNvPr id="10" name="Shape 8"/>
          <p:cNvSpPr/>
          <p:nvPr/>
        </p:nvSpPr>
        <p:spPr>
          <a:xfrm>
            <a:off x="411480" y="1440641"/>
            <a:ext cx="8321040" cy="301752"/>
          </a:xfrm>
          <a:prstGeom prst="rect">
            <a:avLst/>
          </a:prstGeom>
          <a:solidFill>
            <a:srgbClr val="0A1220"/>
          </a:solidFill>
          <a:ln w="12700">
            <a:solidFill>
              <a:srgbClr val="1A2535"/>
            </a:solidFill>
            <a:prstDash val="solid"/>
          </a:ln>
        </p:spPr>
        <p:txBody>
          <a:bodyPr/>
          <a:lstStyle/>
          <a:p>
            <a:endParaRPr lang="en-GB"/>
          </a:p>
        </p:txBody>
      </p:sp>
      <p:sp>
        <p:nvSpPr>
          <p:cNvPr id="11" name="Text 9"/>
          <p:cNvSpPr/>
          <p:nvPr/>
        </p:nvSpPr>
        <p:spPr>
          <a:xfrm>
            <a:off x="548640" y="1486361"/>
            <a:ext cx="6858000" cy="210312"/>
          </a:xfrm>
          <a:prstGeom prst="rect">
            <a:avLst/>
          </a:prstGeom>
          <a:noFill/>
          <a:ln/>
        </p:spPr>
        <p:txBody>
          <a:bodyPr wrap="square" rtlCol="0" anchor="ctr"/>
          <a:lstStyle/>
          <a:p>
            <a:pPr marL="0" indent="0">
              <a:buNone/>
            </a:pPr>
            <a:r>
              <a:rPr lang="en-US" sz="1100" dirty="0">
                <a:solidFill>
                  <a:schemeClr val="bg1">
                    <a:lumMod val="85000"/>
                  </a:schemeClr>
                </a:solidFill>
                <a:latin typeface="Arial" pitchFamily="34" charset="0"/>
                <a:ea typeface="Arial" pitchFamily="34" charset="-122"/>
                <a:cs typeface="Arial" pitchFamily="34" charset="-120"/>
              </a:rPr>
              <a:t>BESS grid services + arbitrage (7MWh BYD Blade · conservative)</a:t>
            </a:r>
            <a:endParaRPr lang="en-US" sz="1100" dirty="0">
              <a:solidFill>
                <a:schemeClr val="bg1">
                  <a:lumMod val="85000"/>
                </a:schemeClr>
              </a:solidFill>
            </a:endParaRPr>
          </a:p>
        </p:txBody>
      </p:sp>
      <p:sp>
        <p:nvSpPr>
          <p:cNvPr id="12" name="Text 10"/>
          <p:cNvSpPr/>
          <p:nvPr/>
        </p:nvSpPr>
        <p:spPr>
          <a:xfrm>
            <a:off x="7315200" y="1486361"/>
            <a:ext cx="1280160" cy="210312"/>
          </a:xfrm>
          <a:prstGeom prst="rect">
            <a:avLst/>
          </a:prstGeom>
          <a:noFill/>
          <a:ln/>
        </p:spPr>
        <p:txBody>
          <a:bodyPr wrap="square" rtlCol="0" anchor="ctr"/>
          <a:lstStyle/>
          <a:p>
            <a:pPr marL="0" indent="0" algn="r">
              <a:buNone/>
            </a:pPr>
            <a:r>
              <a:rPr lang="en-US" sz="1100" b="1" dirty="0">
                <a:solidFill>
                  <a:srgbClr val="F0B429"/>
                </a:solidFill>
                <a:latin typeface="Arial" pitchFamily="34" charset="0"/>
                <a:ea typeface="Arial" pitchFamily="34" charset="-122"/>
                <a:cs typeface="Arial" pitchFamily="34" charset="-120"/>
              </a:rPr>
              <a:t>€350K</a:t>
            </a:r>
            <a:endParaRPr lang="en-US" sz="1100" dirty="0"/>
          </a:p>
        </p:txBody>
      </p:sp>
      <p:sp>
        <p:nvSpPr>
          <p:cNvPr id="13" name="Shape 11"/>
          <p:cNvSpPr/>
          <p:nvPr/>
        </p:nvSpPr>
        <p:spPr>
          <a:xfrm>
            <a:off x="411480" y="1778969"/>
            <a:ext cx="8321040" cy="301752"/>
          </a:xfrm>
          <a:prstGeom prst="rect">
            <a:avLst/>
          </a:prstGeom>
          <a:solidFill>
            <a:srgbClr val="0D1B2E"/>
          </a:solidFill>
          <a:ln w="12700">
            <a:solidFill>
              <a:srgbClr val="1A2535"/>
            </a:solidFill>
            <a:prstDash val="solid"/>
          </a:ln>
        </p:spPr>
        <p:txBody>
          <a:bodyPr/>
          <a:lstStyle/>
          <a:p>
            <a:endParaRPr lang="en-GB"/>
          </a:p>
        </p:txBody>
      </p:sp>
      <p:sp>
        <p:nvSpPr>
          <p:cNvPr id="14" name="Text 12"/>
          <p:cNvSpPr/>
          <p:nvPr/>
        </p:nvSpPr>
        <p:spPr>
          <a:xfrm>
            <a:off x="548640" y="1824689"/>
            <a:ext cx="6858000" cy="210312"/>
          </a:xfrm>
          <a:prstGeom prst="rect">
            <a:avLst/>
          </a:prstGeom>
          <a:noFill/>
          <a:ln/>
        </p:spPr>
        <p:txBody>
          <a:bodyPr wrap="square" rtlCol="0" anchor="ctr"/>
          <a:lstStyle/>
          <a:p>
            <a:pPr marL="0" indent="0">
              <a:buNone/>
            </a:pPr>
            <a:r>
              <a:rPr lang="en-US" sz="1100" dirty="0">
                <a:solidFill>
                  <a:schemeClr val="bg1">
                    <a:lumMod val="85000"/>
                  </a:schemeClr>
                </a:solidFill>
                <a:latin typeface="Arial" pitchFamily="34" charset="0"/>
                <a:ea typeface="Arial" pitchFamily="34" charset="-122"/>
                <a:cs typeface="Arial" pitchFamily="34" charset="-120"/>
              </a:rPr>
              <a:t>District heating (~260 homes, 2.6 GWh thermal)</a:t>
            </a:r>
            <a:endParaRPr lang="en-US" sz="1100" dirty="0">
              <a:solidFill>
                <a:schemeClr val="bg1">
                  <a:lumMod val="85000"/>
                </a:schemeClr>
              </a:solidFill>
            </a:endParaRPr>
          </a:p>
        </p:txBody>
      </p:sp>
      <p:sp>
        <p:nvSpPr>
          <p:cNvPr id="15" name="Text 13"/>
          <p:cNvSpPr/>
          <p:nvPr/>
        </p:nvSpPr>
        <p:spPr>
          <a:xfrm>
            <a:off x="7315200" y="1824689"/>
            <a:ext cx="1280160" cy="210312"/>
          </a:xfrm>
          <a:prstGeom prst="rect">
            <a:avLst/>
          </a:prstGeom>
          <a:noFill/>
          <a:ln/>
        </p:spPr>
        <p:txBody>
          <a:bodyPr wrap="square" rtlCol="0" anchor="ctr"/>
          <a:lstStyle/>
          <a:p>
            <a:pPr marL="0" indent="0" algn="r">
              <a:buNone/>
            </a:pPr>
            <a:r>
              <a:rPr lang="en-US" sz="1100" b="1" dirty="0">
                <a:solidFill>
                  <a:srgbClr val="22F6AF"/>
                </a:solidFill>
                <a:latin typeface="Arial" pitchFamily="34" charset="0"/>
                <a:ea typeface="Arial" pitchFamily="34" charset="-122"/>
                <a:cs typeface="Arial" pitchFamily="34" charset="-120"/>
              </a:rPr>
              <a:t>€102K</a:t>
            </a:r>
            <a:endParaRPr lang="en-US" sz="1100" dirty="0">
              <a:solidFill>
                <a:srgbClr val="22F6AF"/>
              </a:solidFill>
            </a:endParaRPr>
          </a:p>
        </p:txBody>
      </p:sp>
      <p:sp>
        <p:nvSpPr>
          <p:cNvPr id="16" name="Shape 14"/>
          <p:cNvSpPr/>
          <p:nvPr/>
        </p:nvSpPr>
        <p:spPr>
          <a:xfrm>
            <a:off x="411480" y="2117297"/>
            <a:ext cx="8321040" cy="301752"/>
          </a:xfrm>
          <a:prstGeom prst="rect">
            <a:avLst/>
          </a:prstGeom>
          <a:solidFill>
            <a:srgbClr val="0A1220"/>
          </a:solidFill>
          <a:ln w="12700">
            <a:solidFill>
              <a:srgbClr val="1A2535"/>
            </a:solidFill>
            <a:prstDash val="solid"/>
          </a:ln>
        </p:spPr>
        <p:txBody>
          <a:bodyPr/>
          <a:lstStyle/>
          <a:p>
            <a:endParaRPr lang="en-GB"/>
          </a:p>
        </p:txBody>
      </p:sp>
      <p:sp>
        <p:nvSpPr>
          <p:cNvPr id="17" name="Text 15"/>
          <p:cNvSpPr/>
          <p:nvPr/>
        </p:nvSpPr>
        <p:spPr>
          <a:xfrm>
            <a:off x="548640" y="2163017"/>
            <a:ext cx="6858000" cy="210312"/>
          </a:xfrm>
          <a:prstGeom prst="rect">
            <a:avLst/>
          </a:prstGeom>
          <a:noFill/>
          <a:ln/>
        </p:spPr>
        <p:txBody>
          <a:bodyPr wrap="square" rtlCol="0" anchor="ctr"/>
          <a:lstStyle/>
          <a:p>
            <a:pPr marL="0" indent="0">
              <a:buNone/>
            </a:pPr>
            <a:r>
              <a:rPr lang="en-US" sz="1100" dirty="0">
                <a:solidFill>
                  <a:schemeClr val="bg1">
                    <a:lumMod val="85000"/>
                  </a:schemeClr>
                </a:solidFill>
                <a:latin typeface="Arial" pitchFamily="34" charset="0"/>
                <a:ea typeface="Arial" pitchFamily="34" charset="-122"/>
                <a:cs typeface="Arial" pitchFamily="34" charset="-120"/>
              </a:rPr>
              <a:t>EU ETS carbon credits (2,088 t @ €50/t)</a:t>
            </a:r>
            <a:endParaRPr lang="en-US" sz="1100" dirty="0">
              <a:solidFill>
                <a:schemeClr val="bg1">
                  <a:lumMod val="85000"/>
                </a:schemeClr>
              </a:solidFill>
            </a:endParaRPr>
          </a:p>
        </p:txBody>
      </p:sp>
      <p:sp>
        <p:nvSpPr>
          <p:cNvPr id="18" name="Text 16"/>
          <p:cNvSpPr/>
          <p:nvPr/>
        </p:nvSpPr>
        <p:spPr>
          <a:xfrm>
            <a:off x="7315200" y="2163017"/>
            <a:ext cx="1280160" cy="210312"/>
          </a:xfrm>
          <a:prstGeom prst="rect">
            <a:avLst/>
          </a:prstGeom>
          <a:noFill/>
          <a:ln/>
        </p:spPr>
        <p:txBody>
          <a:bodyPr wrap="square" rtlCol="0" anchor="ctr"/>
          <a:lstStyle/>
          <a:p>
            <a:pPr marL="0" indent="0" algn="r">
              <a:buNone/>
            </a:pPr>
            <a:r>
              <a:rPr lang="en-US" sz="1100" b="1" dirty="0">
                <a:solidFill>
                  <a:srgbClr val="22F6AF"/>
                </a:solidFill>
                <a:latin typeface="Arial" pitchFamily="34" charset="0"/>
                <a:ea typeface="Arial" pitchFamily="34" charset="-122"/>
                <a:cs typeface="Arial" pitchFamily="34" charset="-120"/>
              </a:rPr>
              <a:t>€104K</a:t>
            </a:r>
            <a:endParaRPr lang="en-US" sz="1100" dirty="0">
              <a:solidFill>
                <a:srgbClr val="22F6AF"/>
              </a:solidFill>
            </a:endParaRPr>
          </a:p>
        </p:txBody>
      </p:sp>
      <p:sp>
        <p:nvSpPr>
          <p:cNvPr id="19" name="Shape 17"/>
          <p:cNvSpPr/>
          <p:nvPr/>
        </p:nvSpPr>
        <p:spPr>
          <a:xfrm>
            <a:off x="411480" y="2455625"/>
            <a:ext cx="8321040" cy="301752"/>
          </a:xfrm>
          <a:prstGeom prst="rect">
            <a:avLst/>
          </a:prstGeom>
          <a:solidFill>
            <a:srgbClr val="0D1B2E"/>
          </a:solidFill>
          <a:ln w="12700">
            <a:solidFill>
              <a:srgbClr val="1A2535"/>
            </a:solidFill>
            <a:prstDash val="solid"/>
          </a:ln>
        </p:spPr>
        <p:txBody>
          <a:bodyPr/>
          <a:lstStyle/>
          <a:p>
            <a:endParaRPr lang="en-GB"/>
          </a:p>
        </p:txBody>
      </p:sp>
      <p:sp>
        <p:nvSpPr>
          <p:cNvPr id="20" name="Text 18"/>
          <p:cNvSpPr/>
          <p:nvPr/>
        </p:nvSpPr>
        <p:spPr>
          <a:xfrm>
            <a:off x="548640" y="2501345"/>
            <a:ext cx="6858000" cy="210312"/>
          </a:xfrm>
          <a:prstGeom prst="rect">
            <a:avLst/>
          </a:prstGeom>
          <a:noFill/>
          <a:ln/>
        </p:spPr>
        <p:txBody>
          <a:bodyPr wrap="square" rtlCol="0" anchor="ctr"/>
          <a:lstStyle/>
          <a:p>
            <a:pPr marL="0" indent="0">
              <a:buNone/>
            </a:pPr>
            <a:r>
              <a:rPr lang="en-US" sz="1100" dirty="0">
                <a:solidFill>
                  <a:schemeClr val="bg1">
                    <a:lumMod val="85000"/>
                  </a:schemeClr>
                </a:solidFill>
                <a:latin typeface="Arial" pitchFamily="34" charset="0"/>
                <a:ea typeface="Arial" pitchFamily="34" charset="-122"/>
                <a:cs typeface="Arial" pitchFamily="34" charset="-120"/>
              </a:rPr>
              <a:t>Hospitality + tenancy + EV charging + IP licence (yr 1)</a:t>
            </a:r>
            <a:endParaRPr lang="en-US" sz="1100" dirty="0">
              <a:solidFill>
                <a:schemeClr val="bg1">
                  <a:lumMod val="85000"/>
                </a:schemeClr>
              </a:solidFill>
            </a:endParaRPr>
          </a:p>
        </p:txBody>
      </p:sp>
      <p:sp>
        <p:nvSpPr>
          <p:cNvPr id="21" name="Text 19"/>
          <p:cNvSpPr/>
          <p:nvPr/>
        </p:nvSpPr>
        <p:spPr>
          <a:xfrm>
            <a:off x="7315200" y="2501345"/>
            <a:ext cx="1280160" cy="210312"/>
          </a:xfrm>
          <a:prstGeom prst="rect">
            <a:avLst/>
          </a:prstGeom>
          <a:noFill/>
          <a:ln/>
        </p:spPr>
        <p:txBody>
          <a:bodyPr wrap="square" rtlCol="0" anchor="ctr"/>
          <a:lstStyle/>
          <a:p>
            <a:pPr marL="0" indent="0" algn="r">
              <a:buNone/>
            </a:pPr>
            <a:r>
              <a:rPr lang="en-US" sz="1100" b="1" dirty="0">
                <a:solidFill>
                  <a:srgbClr val="9CA3AF"/>
                </a:solidFill>
                <a:latin typeface="Arial" pitchFamily="34" charset="0"/>
                <a:ea typeface="Arial" pitchFamily="34" charset="-122"/>
                <a:cs typeface="Arial" pitchFamily="34" charset="-120"/>
              </a:rPr>
              <a:t>€390K</a:t>
            </a:r>
            <a:endParaRPr lang="en-US" sz="1100" dirty="0"/>
          </a:p>
        </p:txBody>
      </p:sp>
      <p:sp>
        <p:nvSpPr>
          <p:cNvPr id="22" name="Shape 20"/>
          <p:cNvSpPr/>
          <p:nvPr/>
        </p:nvSpPr>
        <p:spPr>
          <a:xfrm>
            <a:off x="411480" y="2821385"/>
            <a:ext cx="8321040" cy="347472"/>
          </a:xfrm>
          <a:prstGeom prst="rect">
            <a:avLst/>
          </a:prstGeom>
          <a:solidFill>
            <a:srgbClr val="0D1B2E"/>
          </a:solidFill>
          <a:ln w="12700">
            <a:solidFill>
              <a:srgbClr val="22D3EE"/>
            </a:solidFill>
            <a:prstDash val="solid"/>
          </a:ln>
        </p:spPr>
        <p:txBody>
          <a:bodyPr/>
          <a:lstStyle/>
          <a:p>
            <a:endParaRPr lang="en-GB"/>
          </a:p>
        </p:txBody>
      </p:sp>
      <p:sp>
        <p:nvSpPr>
          <p:cNvPr id="23" name="Text 21"/>
          <p:cNvSpPr/>
          <p:nvPr/>
        </p:nvSpPr>
        <p:spPr>
          <a:xfrm>
            <a:off x="548640" y="2876249"/>
            <a:ext cx="6400800" cy="237744"/>
          </a:xfrm>
          <a:prstGeom prst="rect">
            <a:avLst/>
          </a:prstGeom>
          <a:noFill/>
          <a:ln/>
        </p:spPr>
        <p:txBody>
          <a:bodyPr wrap="square" rtlCol="0" anchor="ctr"/>
          <a:lstStyle/>
          <a:p>
            <a:pPr marL="0" indent="0">
              <a:buNone/>
            </a:pPr>
            <a:r>
              <a:rPr lang="en-US" sz="1100" dirty="0">
                <a:solidFill>
                  <a:srgbClr val="9CA3AF"/>
                </a:solidFill>
                <a:latin typeface="Arial" pitchFamily="34" charset="0"/>
                <a:ea typeface="Arial" pitchFamily="34" charset="-122"/>
                <a:cs typeface="Arial" pitchFamily="34" charset="-120"/>
              </a:rPr>
              <a:t>TOTAL GROSS REVENUE</a:t>
            </a:r>
            <a:endParaRPr lang="en-US" sz="1100" dirty="0"/>
          </a:p>
        </p:txBody>
      </p:sp>
      <p:sp>
        <p:nvSpPr>
          <p:cNvPr id="24" name="Text 22"/>
          <p:cNvSpPr/>
          <p:nvPr/>
        </p:nvSpPr>
        <p:spPr>
          <a:xfrm>
            <a:off x="6949440" y="2848817"/>
            <a:ext cx="1645920" cy="301752"/>
          </a:xfrm>
          <a:prstGeom prst="rect">
            <a:avLst/>
          </a:prstGeom>
          <a:noFill/>
          <a:ln/>
        </p:spPr>
        <p:txBody>
          <a:bodyPr wrap="square" rtlCol="0" anchor="ctr"/>
          <a:lstStyle/>
          <a:p>
            <a:pPr marL="0" indent="0" algn="r">
              <a:buNone/>
            </a:pPr>
            <a:r>
              <a:rPr lang="en-US" sz="1600" b="1" dirty="0">
                <a:solidFill>
                  <a:srgbClr val="22D3EE"/>
                </a:solidFill>
                <a:latin typeface="Arial" pitchFamily="34" charset="0"/>
                <a:ea typeface="Arial" pitchFamily="34" charset="-122"/>
                <a:cs typeface="Arial" pitchFamily="34" charset="-120"/>
              </a:rPr>
              <a:t>€2.956M</a:t>
            </a:r>
            <a:endParaRPr lang="en-US" sz="1600" dirty="0"/>
          </a:p>
        </p:txBody>
      </p:sp>
      <p:sp>
        <p:nvSpPr>
          <p:cNvPr id="25" name="Shape 23"/>
          <p:cNvSpPr/>
          <p:nvPr/>
        </p:nvSpPr>
        <p:spPr>
          <a:xfrm>
            <a:off x="411480" y="3251153"/>
            <a:ext cx="8321040" cy="256032"/>
          </a:xfrm>
          <a:prstGeom prst="rect">
            <a:avLst/>
          </a:prstGeom>
          <a:solidFill>
            <a:srgbClr val="0D1B2E"/>
          </a:solidFill>
          <a:ln w="12700">
            <a:solidFill>
              <a:srgbClr val="E24B4A"/>
            </a:solidFill>
            <a:prstDash val="solid"/>
          </a:ln>
        </p:spPr>
        <p:txBody>
          <a:bodyPr/>
          <a:lstStyle/>
          <a:p>
            <a:endParaRPr lang="en-GB"/>
          </a:p>
        </p:txBody>
      </p:sp>
      <p:sp>
        <p:nvSpPr>
          <p:cNvPr id="26" name="Text 24"/>
          <p:cNvSpPr/>
          <p:nvPr/>
        </p:nvSpPr>
        <p:spPr>
          <a:xfrm>
            <a:off x="548640" y="3287729"/>
            <a:ext cx="1828800" cy="182880"/>
          </a:xfrm>
          <a:prstGeom prst="rect">
            <a:avLst/>
          </a:prstGeom>
          <a:noFill/>
          <a:ln/>
        </p:spPr>
        <p:txBody>
          <a:bodyPr wrap="square" rtlCol="0" anchor="ctr"/>
          <a:lstStyle/>
          <a:p>
            <a:pPr marL="0" indent="0">
              <a:buNone/>
            </a:pPr>
            <a:r>
              <a:rPr lang="en-US" sz="900" kern="0" spc="200" dirty="0">
                <a:solidFill>
                  <a:srgbClr val="E24B4A"/>
                </a:solidFill>
                <a:latin typeface="Arial" pitchFamily="34" charset="0"/>
                <a:ea typeface="Arial" pitchFamily="34" charset="-122"/>
                <a:cs typeface="Arial" pitchFamily="34" charset="-120"/>
              </a:rPr>
              <a:t>COSTS</a:t>
            </a:r>
            <a:endParaRPr lang="en-US" sz="900" dirty="0"/>
          </a:p>
        </p:txBody>
      </p:sp>
      <p:sp>
        <p:nvSpPr>
          <p:cNvPr id="27" name="Shape 25"/>
          <p:cNvSpPr/>
          <p:nvPr/>
        </p:nvSpPr>
        <p:spPr>
          <a:xfrm>
            <a:off x="411480" y="3552905"/>
            <a:ext cx="8321040" cy="274320"/>
          </a:xfrm>
          <a:prstGeom prst="rect">
            <a:avLst/>
          </a:prstGeom>
          <a:solidFill>
            <a:srgbClr val="0D1B2E"/>
          </a:solidFill>
          <a:ln w="12700">
            <a:solidFill>
              <a:srgbClr val="1A2535"/>
            </a:solidFill>
            <a:prstDash val="solid"/>
          </a:ln>
        </p:spPr>
        <p:txBody>
          <a:bodyPr/>
          <a:lstStyle/>
          <a:p>
            <a:endParaRPr lang="en-GB">
              <a:solidFill>
                <a:srgbClr val="22F6AF"/>
              </a:solidFill>
            </a:endParaRPr>
          </a:p>
        </p:txBody>
      </p:sp>
      <p:sp>
        <p:nvSpPr>
          <p:cNvPr id="28" name="Text 26"/>
          <p:cNvSpPr/>
          <p:nvPr/>
        </p:nvSpPr>
        <p:spPr>
          <a:xfrm>
            <a:off x="548640" y="3580000"/>
            <a:ext cx="6858000" cy="160000"/>
          </a:xfrm>
          <a:prstGeom prst="rect">
            <a:avLst/>
          </a:prstGeom>
          <a:noFill/>
          <a:ln/>
        </p:spPr>
        <p:txBody>
          <a:bodyPr wrap="square" rtlCol="0" anchor="ctr"/>
          <a:lstStyle/>
          <a:p>
            <a:pPr marL="0" indent="0">
              <a:buNone/>
            </a:pPr>
            <a:r>
              <a:rPr lang="en-US" sz="1100" dirty="0">
                <a:solidFill>
                  <a:schemeClr val="bg1">
                    <a:lumMod val="85000"/>
                  </a:schemeClr>
                </a:solidFill>
                <a:latin typeface="Arial" pitchFamily="34" charset="0"/>
                <a:ea typeface="Arial" pitchFamily="34" charset="-122"/>
                <a:cs typeface="Arial" pitchFamily="34" charset="-120"/>
              </a:rPr>
              <a:t>Energy + IT rack capex (pass-through / tenant-owned — zero net cost)</a:t>
            </a:r>
            <a:endParaRPr lang="en-US" sz="1100" dirty="0">
              <a:solidFill>
                <a:schemeClr val="bg1">
                  <a:lumMod val="85000"/>
                </a:schemeClr>
              </a:solidFill>
            </a:endParaRPr>
          </a:p>
        </p:txBody>
      </p:sp>
      <p:sp>
        <p:nvSpPr>
          <p:cNvPr id="29" name="Text 27"/>
          <p:cNvSpPr/>
          <p:nvPr/>
        </p:nvSpPr>
        <p:spPr>
          <a:xfrm>
            <a:off x="7315200" y="3580000"/>
            <a:ext cx="1280160" cy="160000"/>
          </a:xfrm>
          <a:prstGeom prst="rect">
            <a:avLst/>
          </a:prstGeom>
          <a:noFill/>
          <a:ln/>
        </p:spPr>
        <p:txBody>
          <a:bodyPr wrap="square" rtlCol="0" anchor="ctr"/>
          <a:lstStyle/>
          <a:p>
            <a:pPr marL="0" indent="0" algn="r">
              <a:buNone/>
            </a:pPr>
            <a:r>
              <a:rPr lang="en-US" sz="1100" b="1" dirty="0">
                <a:solidFill>
                  <a:srgbClr val="10B981"/>
                </a:solidFill>
                <a:latin typeface="Arial" pitchFamily="34" charset="0"/>
                <a:ea typeface="Arial" pitchFamily="34" charset="-122"/>
                <a:cs typeface="Arial" pitchFamily="34" charset="-120"/>
              </a:rPr>
              <a:t>€0</a:t>
            </a:r>
            <a:endParaRPr lang="en-US" sz="1100" dirty="0"/>
          </a:p>
        </p:txBody>
      </p:sp>
      <p:sp>
        <p:nvSpPr>
          <p:cNvPr id="30" name="Shape 28"/>
          <p:cNvSpPr/>
          <p:nvPr/>
        </p:nvSpPr>
        <p:spPr>
          <a:xfrm>
            <a:off x="411480" y="3854657"/>
            <a:ext cx="8321040" cy="274320"/>
          </a:xfrm>
          <a:prstGeom prst="rect">
            <a:avLst/>
          </a:prstGeom>
          <a:solidFill>
            <a:srgbClr val="0A1220"/>
          </a:solidFill>
          <a:ln w="12700">
            <a:solidFill>
              <a:srgbClr val="1A2535"/>
            </a:solidFill>
            <a:prstDash val="solid"/>
          </a:ln>
        </p:spPr>
        <p:txBody>
          <a:bodyPr/>
          <a:lstStyle/>
          <a:p>
            <a:endParaRPr lang="en-GB">
              <a:solidFill>
                <a:srgbClr val="22F6AF"/>
              </a:solidFill>
            </a:endParaRPr>
          </a:p>
        </p:txBody>
      </p:sp>
      <p:sp>
        <p:nvSpPr>
          <p:cNvPr id="33" name="Shape 31"/>
          <p:cNvSpPr/>
          <p:nvPr/>
        </p:nvSpPr>
        <p:spPr>
          <a:xfrm>
            <a:off x="411480" y="3910000"/>
            <a:ext cx="8321040" cy="310000"/>
          </a:xfrm>
          <a:prstGeom prst="rect">
            <a:avLst/>
          </a:prstGeom>
          <a:solidFill>
            <a:srgbClr val="0D1B2E"/>
          </a:solidFill>
          <a:ln w="12700">
            <a:solidFill>
              <a:srgbClr val="1A2535"/>
            </a:solidFill>
            <a:prstDash val="solid"/>
          </a:ln>
        </p:spPr>
        <p:txBody>
          <a:bodyPr/>
          <a:lstStyle/>
          <a:p>
            <a:endParaRPr lang="en-GB"/>
          </a:p>
        </p:txBody>
      </p:sp>
      <p:sp>
        <p:nvSpPr>
          <p:cNvPr id="34" name="Text 32"/>
          <p:cNvSpPr/>
          <p:nvPr/>
        </p:nvSpPr>
        <p:spPr>
          <a:xfrm>
            <a:off x="548640" y="3760000"/>
            <a:ext cx="6858000" cy="160000"/>
          </a:xfrm>
          <a:prstGeom prst="rect">
            <a:avLst/>
          </a:prstGeom>
          <a:noFill/>
          <a:ln/>
        </p:spPr>
        <p:txBody>
          <a:bodyPr wrap="square" rtlCol="0" anchor="ctr"/>
          <a:lstStyle/>
          <a:p>
            <a:pPr marL="0" indent="0">
              <a:buNone/>
            </a:pPr>
            <a:r>
              <a:rPr lang="en-US" sz="1100" dirty="0">
                <a:solidFill>
                  <a:schemeClr val="bg1">
                    <a:lumMod val="85000"/>
                  </a:schemeClr>
                </a:solidFill>
                <a:latin typeface="Arial" pitchFamily="34" charset="0"/>
                <a:ea typeface="Arial" pitchFamily="34" charset="-122"/>
                <a:cs typeface="Arial" pitchFamily="34" charset="-120"/>
              </a:rPr>
              <a:t>Node opex (maintenance, insurance, monitoring staff)</a:t>
            </a:r>
            <a:endParaRPr lang="en-US" sz="1100" dirty="0">
              <a:solidFill>
                <a:schemeClr val="bg1">
                  <a:lumMod val="85000"/>
                </a:schemeClr>
              </a:solidFill>
            </a:endParaRPr>
          </a:p>
        </p:txBody>
      </p:sp>
      <p:sp>
        <p:nvSpPr>
          <p:cNvPr id="35" name="Text 33"/>
          <p:cNvSpPr/>
          <p:nvPr/>
        </p:nvSpPr>
        <p:spPr>
          <a:xfrm>
            <a:off x="7315200" y="3760000"/>
            <a:ext cx="1280160" cy="160000"/>
          </a:xfrm>
          <a:prstGeom prst="rect">
            <a:avLst/>
          </a:prstGeom>
          <a:noFill/>
          <a:ln/>
        </p:spPr>
        <p:txBody>
          <a:bodyPr wrap="square" rtlCol="0" anchor="ctr"/>
          <a:lstStyle/>
          <a:p>
            <a:pPr marL="0" indent="0" algn="r">
              <a:buNone/>
            </a:pPr>
            <a:r>
              <a:rPr lang="en-US" sz="1100" b="1" dirty="0">
                <a:solidFill>
                  <a:srgbClr val="E24B4A"/>
                </a:solidFill>
                <a:latin typeface="Arial" pitchFamily="34" charset="0"/>
                <a:ea typeface="Arial" pitchFamily="34" charset="-122"/>
                <a:cs typeface="Arial" pitchFamily="34" charset="-120"/>
              </a:rPr>
              <a:t>€380K</a:t>
            </a:r>
            <a:endParaRPr lang="en-US" sz="1100" dirty="0"/>
          </a:p>
        </p:txBody>
      </p:sp>
      <p:sp>
        <p:nvSpPr>
          <p:cNvPr id="36" name="Shape 34"/>
          <p:cNvSpPr/>
          <p:nvPr/>
        </p:nvSpPr>
        <p:spPr>
          <a:xfrm>
            <a:off x="411480" y="3910000"/>
            <a:ext cx="8321040" cy="310000"/>
          </a:xfrm>
          <a:prstGeom prst="rect">
            <a:avLst/>
          </a:prstGeom>
          <a:solidFill>
            <a:srgbClr val="0D1B2E"/>
          </a:solidFill>
          <a:ln w="12700">
            <a:solidFill>
              <a:srgbClr val="F0B429"/>
            </a:solidFill>
            <a:prstDash val="solid"/>
          </a:ln>
        </p:spPr>
        <p:txBody>
          <a:bodyPr/>
          <a:lstStyle/>
          <a:p>
            <a:endParaRPr lang="en-GB"/>
          </a:p>
        </p:txBody>
      </p:sp>
      <p:sp>
        <p:nvSpPr>
          <p:cNvPr id="37" name="Text 35"/>
          <p:cNvSpPr/>
          <p:nvPr/>
        </p:nvSpPr>
        <p:spPr>
          <a:xfrm>
            <a:off x="548640" y="3970000"/>
            <a:ext cx="4572000" cy="200000"/>
          </a:xfrm>
          <a:prstGeom prst="rect">
            <a:avLst/>
          </a:prstGeom>
          <a:noFill/>
          <a:ln/>
        </p:spPr>
        <p:txBody>
          <a:bodyPr wrap="square" rtlCol="0" anchor="ctr"/>
          <a:lstStyle/>
          <a:p>
            <a:pPr marL="0" indent="0">
              <a:buNone/>
            </a:pPr>
            <a:r>
              <a:rPr lang="en-US" sz="1200" dirty="0">
                <a:solidFill>
                  <a:srgbClr val="9CA3AF"/>
                </a:solidFill>
                <a:latin typeface="Arial" pitchFamily="34" charset="0"/>
                <a:ea typeface="Arial" pitchFamily="34" charset="-122"/>
                <a:cs typeface="Arial" pitchFamily="34" charset="-120"/>
              </a:rPr>
              <a:t>EBITDA (pre-distribution)</a:t>
            </a:r>
            <a:endParaRPr lang="en-US" sz="1200" dirty="0"/>
          </a:p>
        </p:txBody>
      </p:sp>
      <p:sp>
        <p:nvSpPr>
          <p:cNvPr id="38" name="Text 36"/>
          <p:cNvSpPr/>
          <p:nvPr/>
        </p:nvSpPr>
        <p:spPr>
          <a:xfrm>
            <a:off x="6035040" y="3940000"/>
            <a:ext cx="1463040" cy="200000"/>
          </a:xfrm>
          <a:prstGeom prst="rect">
            <a:avLst/>
          </a:prstGeom>
          <a:noFill/>
          <a:ln/>
        </p:spPr>
        <p:txBody>
          <a:bodyPr wrap="square" rtlCol="0" anchor="ctr"/>
          <a:lstStyle/>
          <a:p>
            <a:pPr marL="0" indent="0" algn="r">
              <a:buNone/>
            </a:pPr>
            <a:r>
              <a:rPr lang="en-US" sz="1800" b="1" dirty="0">
                <a:solidFill>
                  <a:srgbClr val="F0B429"/>
                </a:solidFill>
                <a:latin typeface="Arial" pitchFamily="34" charset="0"/>
                <a:ea typeface="Arial" pitchFamily="34" charset="-122"/>
                <a:cs typeface="Arial" pitchFamily="34" charset="-120"/>
              </a:rPr>
              <a:t>€2.576M</a:t>
            </a:r>
            <a:endParaRPr lang="en-US" sz="1800" dirty="0"/>
          </a:p>
        </p:txBody>
      </p:sp>
      <p:sp>
        <p:nvSpPr>
          <p:cNvPr id="39" name="Text 37"/>
          <p:cNvSpPr/>
          <p:nvPr/>
        </p:nvSpPr>
        <p:spPr>
          <a:xfrm>
            <a:off x="7498080" y="3970000"/>
            <a:ext cx="1097280" cy="200000"/>
          </a:xfrm>
          <a:prstGeom prst="rect">
            <a:avLst/>
          </a:prstGeom>
          <a:noFill/>
          <a:ln/>
        </p:spPr>
        <p:txBody>
          <a:bodyPr wrap="square" rtlCol="0" anchor="ctr"/>
          <a:lstStyle/>
          <a:p>
            <a:pPr marL="0" indent="0" algn="r">
              <a:buNone/>
            </a:pPr>
            <a:r>
              <a:rPr lang="en-US" sz="1400" b="1" dirty="0">
                <a:solidFill>
                  <a:srgbClr val="22F6AF"/>
                </a:solidFill>
                <a:latin typeface="Arial" pitchFamily="34" charset="0"/>
                <a:ea typeface="Arial" pitchFamily="34" charset="-122"/>
                <a:cs typeface="Arial" pitchFamily="34" charset="-120"/>
              </a:rPr>
              <a:t>87.1%</a:t>
            </a:r>
            <a:endParaRPr lang="en-US" sz="1400" dirty="0">
              <a:solidFill>
                <a:srgbClr val="22F6AF"/>
              </a:solidFill>
            </a:endParaRPr>
          </a:p>
        </p:txBody>
      </p:sp>
      <p:sp>
        <p:nvSpPr>
          <p:cNvPr id="40" name="Shape 38"/>
          <p:cNvSpPr/>
          <p:nvPr/>
        </p:nvSpPr>
        <p:spPr>
          <a:xfrm>
            <a:off x="0" y="4911691"/>
            <a:ext cx="9144000" cy="251460"/>
          </a:xfrm>
          <a:prstGeom prst="rect">
            <a:avLst/>
          </a:prstGeom>
          <a:solidFill>
            <a:srgbClr val="0D1B2E"/>
          </a:solidFill>
          <a:ln w="12700">
            <a:solidFill>
              <a:srgbClr val="0D1B2E"/>
            </a:solidFill>
            <a:prstDash val="solid"/>
          </a:ln>
        </p:spPr>
        <p:txBody>
          <a:bodyPr/>
          <a:lstStyle/>
          <a:p>
            <a:endParaRPr lang="en-GB"/>
          </a:p>
        </p:txBody>
      </p:sp>
      <p:sp>
        <p:nvSpPr>
          <p:cNvPr id="41" name="Shape 39"/>
          <p:cNvSpPr/>
          <p:nvPr/>
        </p:nvSpPr>
        <p:spPr>
          <a:xfrm>
            <a:off x="0" y="4911691"/>
            <a:ext cx="9144000" cy="27432"/>
          </a:xfrm>
          <a:prstGeom prst="rect">
            <a:avLst/>
          </a:prstGeom>
          <a:solidFill>
            <a:srgbClr val="B87333"/>
          </a:solidFill>
          <a:ln w="12700">
            <a:solidFill>
              <a:srgbClr val="B87333"/>
            </a:solidFill>
            <a:prstDash val="solid"/>
          </a:ln>
        </p:spPr>
        <p:txBody>
          <a:bodyPr/>
          <a:lstStyle/>
          <a:p>
            <a:endParaRPr lang="en-GB"/>
          </a:p>
        </p:txBody>
      </p:sp>
      <p:sp>
        <p:nvSpPr>
          <p:cNvPr id="42" name="Text 40"/>
          <p:cNvSpPr/>
          <p:nvPr/>
        </p:nvSpPr>
        <p:spPr>
          <a:xfrm>
            <a:off x="274320" y="4911691"/>
            <a:ext cx="4572000" cy="228600"/>
          </a:xfrm>
          <a:prstGeom prst="rect">
            <a:avLst/>
          </a:prstGeom>
          <a:noFill/>
          <a:ln/>
        </p:spPr>
        <p:txBody>
          <a:bodyPr wrap="square" rtlCol="0" anchor="ctr"/>
          <a:lstStyle/>
          <a:p>
            <a:pPr marL="0" indent="0">
              <a:buNone/>
            </a:pPr>
            <a:r>
              <a:rPr lang="en-US" sz="800" dirty="0">
                <a:solidFill>
                  <a:srgbClr val="B87333"/>
                </a:solidFill>
                <a:latin typeface="Arial" pitchFamily="34" charset="0"/>
                <a:ea typeface="Arial" pitchFamily="34" charset="-122"/>
                <a:cs typeface="Arial" pitchFamily="34" charset="-120"/>
              </a:rPr>
              <a:t>UMPIREAL  ·  CONFIDENTIAL</a:t>
            </a:r>
            <a:endParaRPr lang="en-US" sz="800" dirty="0"/>
          </a:p>
        </p:txBody>
      </p:sp>
      <p:sp>
        <p:nvSpPr>
          <p:cNvPr id="43" name="Text 41"/>
          <p:cNvSpPr/>
          <p:nvPr/>
        </p:nvSpPr>
        <p:spPr>
          <a:xfrm>
            <a:off x="4716291" y="4911691"/>
            <a:ext cx="4251960" cy="228600"/>
          </a:xfrm>
          <a:prstGeom prst="rect">
            <a:avLst/>
          </a:prstGeom>
          <a:noFill/>
          <a:ln/>
        </p:spPr>
        <p:txBody>
          <a:bodyPr wrap="square" rtlCol="0" anchor="ctr"/>
          <a:lstStyle/>
          <a:p>
            <a:pPr marL="0" indent="0" algn="r">
              <a:buNone/>
            </a:pPr>
            <a:r>
              <a:rPr lang="en-US" sz="800" dirty="0">
                <a:solidFill>
                  <a:srgbClr val="9CA3AF"/>
                </a:solidFill>
                <a:latin typeface="Arial" pitchFamily="34" charset="0"/>
                <a:ea typeface="Arial" pitchFamily="34" charset="-122"/>
                <a:cs typeface="Arial" pitchFamily="34" charset="-120"/>
              </a:rPr>
              <a:t>06 — P&amp;L Summary</a:t>
            </a:r>
            <a:endParaRPr lang="en-US" sz="800" dirty="0"/>
          </a:p>
        </p:txBody>
      </p:sp>
      <p:sp>
        <p:nvSpPr>
          <p:cNvPr id="964" name="LabelNew_Ground"/>
          <p:cNvSpPr/>
          <p:nvPr/>
        </p:nvSpPr>
        <p:spPr>
          <a:xfrm>
            <a:off x="548640" y="4220000"/>
            <a:ext cx="6400000" cy="155000"/>
          </a:xfrm>
          <a:prstGeom prst="rect">
            <a:avLst/>
          </a:prstGeom>
          <a:noFill/>
          <a:ln/>
        </p:spPr>
        <p:txBody>
          <a:bodyPr wrap="square" rtlCol="0" anchor="ctr"/>
          <a:lstStyle/>
          <a:p>
            <a:pPr marL="0" indent="0">
              <a:buNone/>
            </a:pPr>
            <a:r>
              <a:rPr lang="en-US" sz="1000" dirty="0">
                <a:solidFill>
                  <a:schemeClr val="bg1">
                    <a:lumMod val="85000"/>
                  </a:schemeClr>
                </a:solidFill>
                <a:latin typeface="Arial" pitchFamily="34" charset="0"/>
              </a:rPr>
              <a:t>Ground rent to council (€250/m² × 770m²)</a:t>
            </a:r>
          </a:p>
        </p:txBody>
      </p:sp>
      <p:sp>
        <p:nvSpPr>
          <p:cNvPr id="8376" name="ValNew_−€193K"/>
          <p:cNvSpPr/>
          <p:nvPr/>
        </p:nvSpPr>
        <p:spPr>
          <a:xfrm>
            <a:off x="7315200" y="4220000"/>
            <a:ext cx="1280160" cy="155000"/>
          </a:xfrm>
          <a:prstGeom prst="rect">
            <a:avLst/>
          </a:prstGeom>
          <a:noFill/>
          <a:ln/>
        </p:spPr>
        <p:txBody>
          <a:bodyPr wrap="square" rtlCol="0" anchor="ctr"/>
          <a:lstStyle/>
          <a:p>
            <a:pPr marL="0" indent="0" algn="r">
              <a:buNone/>
            </a:pPr>
            <a:r>
              <a:rPr lang="en-US" sz="1000" b="1" dirty="0">
                <a:solidFill>
                  <a:srgbClr val="E24B4A"/>
                </a:solidFill>
                <a:latin typeface="Arial" pitchFamily="34" charset="0"/>
              </a:rPr>
              <a:t>−€193K</a:t>
            </a:r>
          </a:p>
        </p:txBody>
      </p:sp>
      <p:sp>
        <p:nvSpPr>
          <p:cNvPr id="9536" name="LabelNew_Commer"/>
          <p:cNvSpPr/>
          <p:nvPr/>
        </p:nvSpPr>
        <p:spPr>
          <a:xfrm>
            <a:off x="548640" y="4390000"/>
            <a:ext cx="6400000" cy="155000"/>
          </a:xfrm>
          <a:prstGeom prst="rect">
            <a:avLst/>
          </a:prstGeom>
          <a:noFill/>
          <a:ln/>
        </p:spPr>
        <p:txBody>
          <a:bodyPr wrap="square" rtlCol="0" anchor="ctr"/>
          <a:lstStyle/>
          <a:p>
            <a:pPr marL="0" indent="0">
              <a:buNone/>
            </a:pPr>
            <a:r>
              <a:rPr lang="en-US" sz="1000" dirty="0">
                <a:solidFill>
                  <a:schemeClr val="bg1">
                    <a:lumMod val="85000"/>
                  </a:schemeClr>
                </a:solidFill>
                <a:latin typeface="Arial" pitchFamily="34" charset="0"/>
              </a:rPr>
              <a:t>Commercial rates (council levy)</a:t>
            </a:r>
          </a:p>
        </p:txBody>
      </p:sp>
      <p:sp>
        <p:nvSpPr>
          <p:cNvPr id="8616" name="ValNew_−€150K"/>
          <p:cNvSpPr/>
          <p:nvPr/>
        </p:nvSpPr>
        <p:spPr>
          <a:xfrm>
            <a:off x="7315200" y="4390000"/>
            <a:ext cx="1280160" cy="155000"/>
          </a:xfrm>
          <a:prstGeom prst="rect">
            <a:avLst/>
          </a:prstGeom>
          <a:noFill/>
          <a:ln/>
        </p:spPr>
        <p:txBody>
          <a:bodyPr wrap="square" rtlCol="0" anchor="ctr"/>
          <a:lstStyle/>
          <a:p>
            <a:pPr marL="0" indent="0" algn="r">
              <a:buNone/>
            </a:pPr>
            <a:r>
              <a:rPr lang="en-US" sz="1000" b="1" dirty="0">
                <a:solidFill>
                  <a:srgbClr val="E24B4A"/>
                </a:solidFill>
                <a:latin typeface="Arial" pitchFamily="34" charset="0"/>
              </a:rPr>
              <a:t>−€150K</a:t>
            </a:r>
          </a:p>
        </p:txBody>
      </p:sp>
      <p:sp>
        <p:nvSpPr>
          <p:cNvPr id="9800" name="LabelNew_Net to"/>
          <p:cNvSpPr/>
          <p:nvPr/>
        </p:nvSpPr>
        <p:spPr>
          <a:xfrm>
            <a:off x="548640" y="4560000"/>
            <a:ext cx="6400000" cy="155000"/>
          </a:xfrm>
          <a:prstGeom prst="rect">
            <a:avLst/>
          </a:prstGeom>
          <a:noFill/>
          <a:ln/>
        </p:spPr>
        <p:txBody>
          <a:bodyPr wrap="square" rtlCol="0" anchor="ctr"/>
          <a:lstStyle/>
          <a:p>
            <a:pPr marL="0" indent="0">
              <a:buNone/>
            </a:pPr>
            <a:r>
              <a:rPr lang="en-US" sz="1000" dirty="0">
                <a:solidFill>
                  <a:schemeClr val="bg1">
                    <a:lumMod val="85000"/>
                  </a:schemeClr>
                </a:solidFill>
                <a:latin typeface="Arial" pitchFamily="34" charset="0"/>
              </a:rPr>
              <a:t>Net to Umpireal SPV</a:t>
            </a:r>
          </a:p>
        </p:txBody>
      </p:sp>
      <p:sp>
        <p:nvSpPr>
          <p:cNvPr id="8696" name="ValNew_€29.16"/>
          <p:cNvSpPr/>
          <p:nvPr/>
        </p:nvSpPr>
        <p:spPr>
          <a:xfrm>
            <a:off x="7315200" y="4560000"/>
            <a:ext cx="1280160" cy="155000"/>
          </a:xfrm>
          <a:prstGeom prst="rect">
            <a:avLst/>
          </a:prstGeom>
          <a:noFill/>
          <a:ln/>
        </p:spPr>
        <p:txBody>
          <a:bodyPr wrap="square" rtlCol="0" anchor="ctr"/>
          <a:lstStyle/>
          <a:p>
            <a:pPr marL="0" indent="0" algn="r">
              <a:buNone/>
            </a:pPr>
            <a:r>
              <a:rPr lang="en-US" sz="1000" b="1" dirty="0">
                <a:solidFill>
                  <a:srgbClr val="22F6AF"/>
                </a:solidFill>
                <a:latin typeface="Arial" pitchFamily="34" charset="0"/>
              </a:rPr>
              <a:t>€2.233M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11480" y="164592"/>
            <a:ext cx="54864" cy="384048"/>
          </a:xfrm>
          <a:prstGeom prst="rect">
            <a:avLst/>
          </a:prstGeom>
          <a:solidFill>
            <a:srgbClr val="B87333"/>
          </a:solidFill>
          <a:ln w="12700">
            <a:solidFill>
              <a:srgbClr val="B87333"/>
            </a:solidFill>
            <a:prstDash val="solid"/>
          </a:ln>
        </p:spPr>
        <p:txBody>
          <a:bodyPr/>
          <a:lstStyle/>
          <a:p>
            <a:endParaRPr lang="en-GB"/>
          </a:p>
        </p:txBody>
      </p:sp>
      <p:sp>
        <p:nvSpPr>
          <p:cNvPr id="3" name="Text 1"/>
          <p:cNvSpPr/>
          <p:nvPr/>
        </p:nvSpPr>
        <p:spPr>
          <a:xfrm>
            <a:off x="548640" y="155448"/>
            <a:ext cx="8229600" cy="411480"/>
          </a:xfrm>
          <a:prstGeom prst="rect">
            <a:avLst/>
          </a:prstGeom>
          <a:noFill/>
          <a:ln/>
        </p:spPr>
        <p:txBody>
          <a:bodyPr wrap="square" rtlCol="0" anchor="ctr"/>
          <a:lstStyle/>
          <a:p>
            <a:pPr marL="0" indent="0">
              <a:buNone/>
            </a:pPr>
            <a:r>
              <a:rPr lang="en-US" sz="1100" b="1" kern="0" spc="300" dirty="0">
                <a:solidFill>
                  <a:srgbClr val="B87333"/>
                </a:solidFill>
                <a:latin typeface="Arial" pitchFamily="34" charset="0"/>
                <a:ea typeface="Arial" pitchFamily="34" charset="-122"/>
                <a:cs typeface="Arial" pitchFamily="34" charset="-120"/>
              </a:rPr>
              <a:t>20-YEAR MODEL</a:t>
            </a:r>
            <a:endParaRPr lang="en-US" sz="1100" dirty="0"/>
          </a:p>
        </p:txBody>
      </p:sp>
      <p:sp>
        <p:nvSpPr>
          <p:cNvPr id="4" name="Text 2"/>
          <p:cNvSpPr/>
          <p:nvPr/>
        </p:nvSpPr>
        <p:spPr>
          <a:xfrm>
            <a:off x="411480" y="470243"/>
            <a:ext cx="8321040" cy="457200"/>
          </a:xfrm>
          <a:prstGeom prst="rect">
            <a:avLst/>
          </a:prstGeom>
          <a:noFill/>
          <a:ln/>
        </p:spPr>
        <p:txBody>
          <a:bodyPr wrap="square" rtlCol="0" anchor="ctr"/>
          <a:lstStyle/>
          <a:p>
            <a:pPr marL="0" indent="0">
              <a:buNone/>
            </a:pPr>
            <a:r>
              <a:rPr lang="en-US" sz="2000" b="1" spc="300" dirty="0">
                <a:solidFill>
                  <a:schemeClr val="bg1">
                    <a:lumMod val="85000"/>
                  </a:schemeClr>
                </a:solidFill>
                <a:latin typeface="Aptos" panose="020B0004020202020204" pitchFamily="34" charset="0"/>
                <a:ea typeface="Arial" pitchFamily="34" charset="-122"/>
                <a:cs typeface="Arial" pitchFamily="34" charset="-120"/>
              </a:rPr>
              <a:t>Three Upgrade Cycles. Compounding Returns.</a:t>
            </a:r>
            <a:endParaRPr lang="en-US" sz="2000" spc="300" dirty="0">
              <a:solidFill>
                <a:schemeClr val="bg1">
                  <a:lumMod val="85000"/>
                </a:schemeClr>
              </a:solidFill>
              <a:latin typeface="Aptos" panose="020B0004020202020204" pitchFamily="34" charset="0"/>
            </a:endParaRPr>
          </a:p>
        </p:txBody>
      </p:sp>
      <p:sp>
        <p:nvSpPr>
          <p:cNvPr id="5" name="Shape 3"/>
          <p:cNvSpPr/>
          <p:nvPr/>
        </p:nvSpPr>
        <p:spPr>
          <a:xfrm>
            <a:off x="411480" y="941956"/>
            <a:ext cx="2651760" cy="658368"/>
          </a:xfrm>
          <a:prstGeom prst="rect">
            <a:avLst/>
          </a:prstGeom>
          <a:solidFill>
            <a:srgbClr val="0D1B2E"/>
          </a:solidFill>
          <a:ln w="12700">
            <a:solidFill>
              <a:srgbClr val="F0B429"/>
            </a:solidFill>
            <a:prstDash val="solid"/>
          </a:ln>
        </p:spPr>
        <p:txBody>
          <a:bodyPr/>
          <a:lstStyle/>
          <a:p>
            <a:endParaRPr lang="en-GB"/>
          </a:p>
        </p:txBody>
      </p:sp>
      <p:sp>
        <p:nvSpPr>
          <p:cNvPr id="6" name="Text 4"/>
          <p:cNvSpPr/>
          <p:nvPr/>
        </p:nvSpPr>
        <p:spPr>
          <a:xfrm>
            <a:off x="548640" y="987676"/>
            <a:ext cx="2377440" cy="228600"/>
          </a:xfrm>
          <a:prstGeom prst="rect">
            <a:avLst/>
          </a:prstGeom>
          <a:noFill/>
          <a:ln/>
        </p:spPr>
        <p:txBody>
          <a:bodyPr wrap="square" rtlCol="0" anchor="ctr"/>
          <a:lstStyle/>
          <a:p>
            <a:pPr marL="0" indent="0">
              <a:buNone/>
            </a:pPr>
            <a:r>
              <a:rPr lang="en-US" sz="1000" b="1" dirty="0">
                <a:solidFill>
                  <a:srgbClr val="F0B429"/>
                </a:solidFill>
                <a:latin typeface="Arial" pitchFamily="34" charset="0"/>
                <a:ea typeface="Arial" pitchFamily="34" charset="-122"/>
                <a:cs typeface="Arial" pitchFamily="34" charset="-120"/>
              </a:rPr>
              <a:t>YEAR 3 — RUBIN ULTRA NVL576</a:t>
            </a:r>
            <a:endParaRPr lang="en-US" sz="1000" dirty="0"/>
          </a:p>
        </p:txBody>
      </p:sp>
      <p:sp>
        <p:nvSpPr>
          <p:cNvPr id="7" name="Text 5"/>
          <p:cNvSpPr/>
          <p:nvPr/>
        </p:nvSpPr>
        <p:spPr>
          <a:xfrm>
            <a:off x="548640" y="1216276"/>
            <a:ext cx="2377440" cy="320040"/>
          </a:xfrm>
          <a:prstGeom prst="rect">
            <a:avLst/>
          </a:prstGeom>
          <a:no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+25% colocation rate · tenant upgrades to Rubin Ultra · 600kW/rack · operator uplifts rent</a:t>
            </a:r>
            <a:endParaRPr lang="en-US" sz="900" dirty="0"/>
          </a:p>
        </p:txBody>
      </p:sp>
      <p:sp>
        <p:nvSpPr>
          <p:cNvPr id="8" name="Shape 6"/>
          <p:cNvSpPr/>
          <p:nvPr/>
        </p:nvSpPr>
        <p:spPr>
          <a:xfrm>
            <a:off x="3200400" y="941956"/>
            <a:ext cx="2651760" cy="658368"/>
          </a:xfrm>
          <a:prstGeom prst="rect">
            <a:avLst/>
          </a:prstGeom>
          <a:solidFill>
            <a:srgbClr val="0D1B2E"/>
          </a:solidFill>
          <a:ln w="12700">
            <a:solidFill>
              <a:srgbClr val="F0B429"/>
            </a:solidFill>
            <a:prstDash val="solid"/>
          </a:ln>
        </p:spPr>
        <p:txBody>
          <a:bodyPr/>
          <a:lstStyle/>
          <a:p>
            <a:endParaRPr lang="en-GB"/>
          </a:p>
        </p:txBody>
      </p:sp>
      <p:sp>
        <p:nvSpPr>
          <p:cNvPr id="9" name="Text 7"/>
          <p:cNvSpPr/>
          <p:nvPr/>
        </p:nvSpPr>
        <p:spPr>
          <a:xfrm>
            <a:off x="3337560" y="987676"/>
            <a:ext cx="2377440" cy="228600"/>
          </a:xfrm>
          <a:prstGeom prst="rect">
            <a:avLst/>
          </a:prstGeom>
          <a:noFill/>
          <a:ln/>
        </p:spPr>
        <p:txBody>
          <a:bodyPr wrap="square" rtlCol="0" anchor="ctr"/>
          <a:lstStyle/>
          <a:p>
            <a:pPr marL="0" indent="0">
              <a:buNone/>
            </a:pPr>
            <a:r>
              <a:rPr lang="en-US" sz="1000" b="1" dirty="0">
                <a:solidFill>
                  <a:srgbClr val="F0B429"/>
                </a:solidFill>
                <a:latin typeface="Arial" pitchFamily="34" charset="0"/>
                <a:ea typeface="Arial" pitchFamily="34" charset="-122"/>
                <a:cs typeface="Arial" pitchFamily="34" charset="-120"/>
              </a:rPr>
              <a:t>YEAR 7 — FEYNMAN GENERATION</a:t>
            </a:r>
            <a:endParaRPr lang="en-US" sz="1000" dirty="0"/>
          </a:p>
        </p:txBody>
      </p:sp>
      <p:sp>
        <p:nvSpPr>
          <p:cNvPr id="10" name="Text 8"/>
          <p:cNvSpPr/>
          <p:nvPr/>
        </p:nvSpPr>
        <p:spPr>
          <a:xfrm>
            <a:off x="3337560" y="1216276"/>
            <a:ext cx="2377440" cy="320040"/>
          </a:xfrm>
          <a:prstGeom prst="rect">
            <a:avLst/>
          </a:prstGeom>
          <a:no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+20% colocation rate · Feynman generation · same shell · new compute standard</a:t>
            </a:r>
            <a:endParaRPr lang="en-US" sz="900" dirty="0"/>
          </a:p>
        </p:txBody>
      </p:sp>
      <p:sp>
        <p:nvSpPr>
          <p:cNvPr id="11" name="Shape 9"/>
          <p:cNvSpPr/>
          <p:nvPr/>
        </p:nvSpPr>
        <p:spPr>
          <a:xfrm>
            <a:off x="5989320" y="941956"/>
            <a:ext cx="2651760" cy="658368"/>
          </a:xfrm>
          <a:prstGeom prst="rect">
            <a:avLst/>
          </a:prstGeom>
          <a:solidFill>
            <a:srgbClr val="0D1B2E"/>
          </a:solidFill>
          <a:ln w="12700">
            <a:solidFill>
              <a:srgbClr val="22D3EE"/>
            </a:solidFill>
            <a:prstDash val="solid"/>
          </a:ln>
        </p:spPr>
        <p:txBody>
          <a:bodyPr/>
          <a:lstStyle/>
          <a:p>
            <a:endParaRPr lang="en-GB"/>
          </a:p>
        </p:txBody>
      </p:sp>
      <p:sp>
        <p:nvSpPr>
          <p:cNvPr id="12" name="Text 10"/>
          <p:cNvSpPr/>
          <p:nvPr/>
        </p:nvSpPr>
        <p:spPr>
          <a:xfrm>
            <a:off x="6126480" y="987676"/>
            <a:ext cx="2377440" cy="228600"/>
          </a:xfrm>
          <a:prstGeom prst="rect">
            <a:avLst/>
          </a:prstGeom>
          <a:noFill/>
          <a:ln/>
        </p:spPr>
        <p:txBody>
          <a:bodyPr wrap="square" rtlCol="0" anchor="ctr"/>
          <a:lstStyle/>
          <a:p>
            <a:pPr marL="0" indent="0">
              <a:buNone/>
            </a:pPr>
            <a:r>
              <a:rPr lang="en-US" sz="1000" b="1" dirty="0">
                <a:solidFill>
                  <a:srgbClr val="22D3EE"/>
                </a:solidFill>
                <a:latin typeface="Arial" pitchFamily="34" charset="0"/>
                <a:ea typeface="Arial" pitchFamily="34" charset="-122"/>
                <a:cs typeface="Arial" pitchFamily="34" charset="-120"/>
              </a:rPr>
              <a:t>YEAR 12 — GEN 5 + BESS REFRESH</a:t>
            </a:r>
            <a:endParaRPr lang="en-US" sz="1000" dirty="0"/>
          </a:p>
        </p:txBody>
      </p:sp>
      <p:sp>
        <p:nvSpPr>
          <p:cNvPr id="13" name="Text 11"/>
          <p:cNvSpPr/>
          <p:nvPr/>
        </p:nvSpPr>
        <p:spPr>
          <a:xfrm>
            <a:off x="6126480" y="1216276"/>
            <a:ext cx="2377440" cy="320040"/>
          </a:xfrm>
          <a:prstGeom prst="rect">
            <a:avLst/>
          </a:prstGeom>
          <a:noFill/>
          <a:ln/>
        </p:spPr>
        <p:txBody>
          <a:bodyPr wrap="square" rtlCol="0" anchor="ctr"/>
          <a:lstStyle/>
          <a:p>
            <a:pPr marL="0" indent="0">
              <a:buNone/>
            </a:pPr>
            <a:r>
              <a:rPr lang="en-US" sz="900" dirty="0">
                <a:solidFill>
                  <a:srgbClr val="9CA3AF"/>
                </a:solidFill>
                <a:latin typeface="Arial" pitchFamily="34" charset="0"/>
                <a:ea typeface="Arial" pitchFamily="34" charset="-122"/>
                <a:cs typeface="Arial" pitchFamily="34" charset="-120"/>
              </a:rPr>
              <a:t>+20% rate · BESS modules €1.9M · enclosures/switchgear kept</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310547039"/>
              </p:ext>
            </p:extLst>
          </p:nvPr>
        </p:nvGraphicFramePr>
        <p:xfrm>
          <a:off x="411480" y="1691764"/>
          <a:ext cx="6675120" cy="2514600"/>
        </p:xfrm>
        <a:graphic>
          <a:graphicData uri="http://schemas.openxmlformats.org/drawingml/2006/table">
            <a:tbl>
              <a:tblPr/>
              <a:tblGrid>
                <a:gridCol w="320040">
                  <a:extLst>
                    <a:ext uri="{9D8B030D-6E8A-4147-A177-3AD203B41FA5}">
                      <a16:colId xmlns:a16="http://schemas.microsoft.com/office/drawing/2014/main" val="20000"/>
                    </a:ext>
                  </a:extLst>
                </a:gridCol>
                <a:gridCol w="896112">
                  <a:extLst>
                    <a:ext uri="{9D8B030D-6E8A-4147-A177-3AD203B41FA5}">
                      <a16:colId xmlns:a16="http://schemas.microsoft.com/office/drawing/2014/main" val="20001"/>
                    </a:ext>
                  </a:extLst>
                </a:gridCol>
                <a:gridCol w="804672">
                  <a:extLst>
                    <a:ext uri="{9D8B030D-6E8A-4147-A177-3AD203B41FA5}">
                      <a16:colId xmlns:a16="http://schemas.microsoft.com/office/drawing/2014/main" val="20002"/>
                    </a:ext>
                  </a:extLst>
                </a:gridCol>
                <a:gridCol w="841248">
                  <a:extLst>
                    <a:ext uri="{9D8B030D-6E8A-4147-A177-3AD203B41FA5}">
                      <a16:colId xmlns:a16="http://schemas.microsoft.com/office/drawing/2014/main" val="20003"/>
                    </a:ext>
                  </a:extLst>
                </a:gridCol>
                <a:gridCol w="713232">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804672">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832104">
                  <a:extLst>
                    <a:ext uri="{9D8B030D-6E8A-4147-A177-3AD203B41FA5}">
                      <a16:colId xmlns:a16="http://schemas.microsoft.com/office/drawing/2014/main" val="20008"/>
                    </a:ext>
                  </a:extLst>
                </a:gridCol>
              </a:tblGrid>
              <a:tr h="251460">
                <a:tc>
                  <a:txBody>
                    <a:bodyPr/>
                    <a:lstStyle/>
                    <a:p>
                      <a:pPr marL="0" indent="0">
                        <a:buNone/>
                      </a:pPr>
                      <a:r>
                        <a:rPr lang="en-US" sz="900" b="1" dirty="0">
                          <a:solidFill>
                            <a:srgbClr val="B87333"/>
                          </a:solidFill>
                          <a:latin typeface="Arial" pitchFamily="34" charset="0"/>
                          <a:ea typeface="Arial" pitchFamily="34" charset="-122"/>
                          <a:cs typeface="Arial" pitchFamily="34" charset="-120"/>
                        </a:rPr>
                        <a:t>Yr</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50D1A"/>
                    </a:solidFill>
                  </a:tcPr>
                </a:tc>
                <a:tc>
                  <a:txBody>
                    <a:bodyPr/>
                    <a:lstStyle/>
                    <a:p>
                      <a:pPr marL="0" indent="0">
                        <a:buNone/>
                      </a:pPr>
                      <a:r>
                        <a:rPr lang="en-US" sz="900" b="1" dirty="0">
                          <a:solidFill>
                            <a:srgbClr val="B87333"/>
                          </a:solidFill>
                          <a:latin typeface="Arial" pitchFamily="34" charset="0"/>
                          <a:ea typeface="Arial" pitchFamily="34" charset="-122"/>
                          <a:cs typeface="Arial" pitchFamily="34" charset="-120"/>
                        </a:rPr>
                        <a:t>Colo Rev</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50D1A"/>
                    </a:solidFill>
                  </a:tcPr>
                </a:tc>
                <a:tc>
                  <a:txBody>
                    <a:bodyPr/>
                    <a:lstStyle/>
                    <a:p>
                      <a:pPr marL="0" indent="0">
                        <a:buNone/>
                      </a:pPr>
                      <a:r>
                        <a:rPr lang="en-US" sz="900" b="1" dirty="0">
                          <a:solidFill>
                            <a:srgbClr val="B87333"/>
                          </a:solidFill>
                          <a:latin typeface="Arial" pitchFamily="34" charset="0"/>
                          <a:ea typeface="Arial" pitchFamily="34" charset="-122"/>
                          <a:cs typeface="Arial" pitchFamily="34" charset="-120"/>
                        </a:rPr>
                        <a:t>Ancillary</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50D1A"/>
                    </a:solidFill>
                  </a:tcPr>
                </a:tc>
                <a:tc>
                  <a:txBody>
                    <a:bodyPr/>
                    <a:lstStyle/>
                    <a:p>
                      <a:pPr marL="0" indent="0">
                        <a:buNone/>
                      </a:pPr>
                      <a:r>
                        <a:rPr lang="en-US" sz="900" b="1" dirty="0">
                          <a:solidFill>
                            <a:srgbClr val="B87333"/>
                          </a:solidFill>
                          <a:latin typeface="Arial" pitchFamily="34" charset="0"/>
                          <a:ea typeface="Arial" pitchFamily="34" charset="-122"/>
                          <a:cs typeface="Arial" pitchFamily="34" charset="-120"/>
                        </a:rPr>
                        <a:t>Total Rev</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50D1A"/>
                    </a:solidFill>
                  </a:tcPr>
                </a:tc>
                <a:tc>
                  <a:txBody>
                    <a:bodyPr/>
                    <a:lstStyle/>
                    <a:p>
                      <a:pPr marL="0" indent="0">
                        <a:buNone/>
                      </a:pPr>
                      <a:r>
                        <a:rPr lang="en-US" sz="900" b="1" dirty="0">
                          <a:solidFill>
                            <a:srgbClr val="B87333"/>
                          </a:solidFill>
                          <a:latin typeface="Arial" pitchFamily="34" charset="0"/>
                          <a:ea typeface="Arial" pitchFamily="34" charset="-122"/>
                          <a:cs typeface="Arial" pitchFamily="34" charset="-120"/>
                        </a:rPr>
                        <a:t>Opex</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50D1A"/>
                    </a:solidFill>
                  </a:tcPr>
                </a:tc>
                <a:tc>
                  <a:txBody>
                    <a:bodyPr/>
                    <a:lstStyle/>
                    <a:p>
                      <a:pPr marL="0" indent="0">
                        <a:buNone/>
                      </a:pPr>
                      <a:r>
                        <a:rPr lang="en-US" sz="900" b="1" dirty="0">
                          <a:solidFill>
                            <a:srgbClr val="B87333"/>
                          </a:solidFill>
                          <a:latin typeface="Arial" pitchFamily="34" charset="0"/>
                          <a:ea typeface="Arial" pitchFamily="34" charset="-122"/>
                          <a:cs typeface="Arial" pitchFamily="34" charset="-120"/>
                        </a:rPr>
                        <a:t>BESS Rep.</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50D1A"/>
                    </a:solidFill>
                  </a:tcPr>
                </a:tc>
                <a:tc>
                  <a:txBody>
                    <a:bodyPr/>
                    <a:lstStyle/>
                    <a:p>
                      <a:pPr marL="0" indent="0">
                        <a:buNone/>
                      </a:pPr>
                      <a:r>
                        <a:rPr lang="en-US" sz="900" b="1" dirty="0">
                          <a:solidFill>
                            <a:srgbClr val="B87333"/>
                          </a:solidFill>
                          <a:latin typeface="Arial" pitchFamily="34" charset="0"/>
                          <a:ea typeface="Arial" pitchFamily="34" charset="-122"/>
                          <a:cs typeface="Arial" pitchFamily="34" charset="-120"/>
                        </a:rPr>
                        <a:t>EBITDA</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50D1A"/>
                    </a:solidFill>
                  </a:tcPr>
                </a:tc>
                <a:tc>
                  <a:txBody>
                    <a:bodyPr/>
                    <a:lstStyle/>
                    <a:p>
                      <a:pPr marL="0" indent="0">
                        <a:buNone/>
                      </a:pPr>
                      <a:r>
                        <a:rPr lang="en-US" sz="900" b="1" dirty="0">
                          <a:solidFill>
                            <a:srgbClr val="B87333"/>
                          </a:solidFill>
                          <a:latin typeface="Arial" pitchFamily="34" charset="0"/>
                          <a:ea typeface="Arial" pitchFamily="34" charset="-122"/>
                          <a:cs typeface="Arial" pitchFamily="34" charset="-120"/>
                        </a:rPr>
                        <a:t>Margin</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50D1A"/>
                    </a:solidFill>
                  </a:tcPr>
                </a:tc>
                <a:tc>
                  <a:txBody>
                    <a:bodyPr/>
                    <a:lstStyle/>
                    <a:p>
                      <a:pPr marL="0" indent="0">
                        <a:buNone/>
                      </a:pPr>
                      <a:r>
                        <a:rPr lang="en-US" sz="900" b="1" dirty="0">
                          <a:solidFill>
                            <a:srgbClr val="B87333"/>
                          </a:solidFill>
                          <a:latin typeface="Arial" pitchFamily="34" charset="0"/>
                          <a:ea typeface="Arial" pitchFamily="34" charset="-122"/>
                          <a:cs typeface="Arial" pitchFamily="34" charset="-120"/>
                        </a:rPr>
                        <a:t>Cumulative</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50D1A"/>
                    </a:solidFill>
                  </a:tcPr>
                </a:tc>
                <a:extLst>
                  <a:ext uri="{0D108BD9-81ED-4DB2-BD59-A6C34878D82A}">
                    <a16:rowId xmlns:a16="http://schemas.microsoft.com/office/drawing/2014/main" val="10000"/>
                  </a:ext>
                </a:extLst>
              </a:tr>
              <a:tr h="251460">
                <a:tc>
                  <a:txBody>
                    <a:bodyPr/>
                    <a:lstStyle/>
                    <a:p>
                      <a:pPr marL="0" indent="0">
                        <a:buNone/>
                      </a:pPr>
                      <a:r>
                        <a:rPr lang="en-US" sz="900" dirty="0">
                          <a:solidFill>
                            <a:srgbClr val="D4956A"/>
                          </a:solidFill>
                          <a:latin typeface="Arial" pitchFamily="34" charset="0"/>
                          <a:ea typeface="Arial" pitchFamily="34" charset="-122"/>
                          <a:cs typeface="Arial" pitchFamily="34" charset="-120"/>
                        </a:rPr>
                        <a:t>1</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€2.01M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€0.56M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€2.57M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24B4A"/>
                          </a:solidFill>
                          <a:latin typeface="Arial" pitchFamily="34" charset="0"/>
                          <a:ea typeface="Arial" pitchFamily="34" charset="-122"/>
                          <a:cs typeface="Arial" pitchFamily="34" charset="-120"/>
                        </a:rPr>
                        <a:t>€0.55M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10B981"/>
                          </a:solidFill>
                          <a:latin typeface="Arial" pitchFamily="34" charset="0"/>
                          <a:ea typeface="Arial" pitchFamily="34" charset="-122"/>
                          <a:cs typeface="Arial" pitchFamily="34" charset="-120"/>
                        </a:rPr>
                        <a:t>€2.58M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85%</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22D3EE"/>
                          </a:solidFill>
                          <a:latin typeface="Arial" pitchFamily="34" charset="0"/>
                          <a:ea typeface="Arial" pitchFamily="34" charset="-122"/>
                          <a:cs typeface="Arial" pitchFamily="34" charset="-120"/>
                        </a:rPr>
                        <a:t>€2M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extLst>
                  <a:ext uri="{0D108BD9-81ED-4DB2-BD59-A6C34878D82A}">
                    <a16:rowId xmlns:a16="http://schemas.microsoft.com/office/drawing/2014/main" val="10001"/>
                  </a:ext>
                </a:extLst>
              </a:tr>
              <a:tr h="251460">
                <a:tc>
                  <a:txBody>
                    <a:bodyPr/>
                    <a:lstStyle/>
                    <a:p>
                      <a:pPr marL="0" indent="0">
                        <a:buNone/>
                      </a:pPr>
                      <a:r>
                        <a:rPr lang="en-US" sz="900" dirty="0">
                          <a:solidFill>
                            <a:srgbClr val="D4956A"/>
                          </a:solidFill>
                          <a:latin typeface="Arial" pitchFamily="34" charset="0"/>
                          <a:ea typeface="Arial" pitchFamily="34" charset="-122"/>
                          <a:cs typeface="Arial" pitchFamily="34" charset="-120"/>
                        </a:rPr>
                        <a:t>2</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€2.07M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€0.58M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€2.65M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24B4A"/>
                          </a:solidFill>
                          <a:latin typeface="Arial" pitchFamily="34" charset="0"/>
                          <a:ea typeface="Arial" pitchFamily="34" charset="-122"/>
                          <a:cs typeface="Arial" pitchFamily="34" charset="-120"/>
                        </a:rPr>
                        <a:t>€0.39M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10B981"/>
                          </a:solidFill>
                          <a:latin typeface="Arial" pitchFamily="34" charset="0"/>
                          <a:ea typeface="Arial" pitchFamily="34" charset="-122"/>
                          <a:cs typeface="Arial" pitchFamily="34" charset="-120"/>
                        </a:rPr>
                        <a:t>€2.26M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85%</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22D3EE"/>
                          </a:solidFill>
                          <a:latin typeface="Arial" pitchFamily="34" charset="0"/>
                          <a:ea typeface="Arial" pitchFamily="34" charset="-122"/>
                          <a:cs typeface="Arial" pitchFamily="34" charset="-120"/>
                        </a:rPr>
                        <a:t>€5M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extLst>
                  <a:ext uri="{0D108BD9-81ED-4DB2-BD59-A6C34878D82A}">
                    <a16:rowId xmlns:a16="http://schemas.microsoft.com/office/drawing/2014/main" val="10002"/>
                  </a:ext>
                </a:extLst>
              </a:tr>
              <a:tr h="251460">
                <a:tc>
                  <a:txBody>
                    <a:bodyPr/>
                    <a:lstStyle/>
                    <a:p>
                      <a:pPr marL="0" indent="0">
                        <a:buNone/>
                      </a:pPr>
                      <a:r>
                        <a:rPr lang="en-US" sz="900" dirty="0">
                          <a:solidFill>
                            <a:srgbClr val="D4956A"/>
                          </a:solidFill>
                          <a:latin typeface="Arial" pitchFamily="34" charset="0"/>
                          <a:ea typeface="Arial" pitchFamily="34" charset="-122"/>
                          <a:cs typeface="Arial" pitchFamily="34" charset="-120"/>
                        </a:rPr>
                        <a:t>3</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€4.14M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€0.60M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€4.74M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24B4A"/>
                          </a:solidFill>
                          <a:latin typeface="Arial" pitchFamily="34" charset="0"/>
                          <a:ea typeface="Arial" pitchFamily="34" charset="-122"/>
                          <a:cs typeface="Arial" pitchFamily="34" charset="-120"/>
                        </a:rPr>
                        <a:t>€0.42M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10B981"/>
                          </a:solidFill>
                          <a:latin typeface="Arial" pitchFamily="34" charset="0"/>
                          <a:ea typeface="Arial" pitchFamily="34" charset="-122"/>
                          <a:cs typeface="Arial" pitchFamily="34" charset="-120"/>
                        </a:rPr>
                        <a:t>€4.32M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95%</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22D3EE"/>
                          </a:solidFill>
                          <a:latin typeface="Arial" pitchFamily="34" charset="0"/>
                          <a:ea typeface="Arial" pitchFamily="34" charset="-122"/>
                          <a:cs typeface="Arial" pitchFamily="34" charset="-120"/>
                        </a:rPr>
                        <a:t>€11M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extLst>
                  <a:ext uri="{0D108BD9-81ED-4DB2-BD59-A6C34878D82A}">
                    <a16:rowId xmlns:a16="http://schemas.microsoft.com/office/drawing/2014/main" val="10003"/>
                  </a:ext>
                </a:extLst>
              </a:tr>
              <a:tr h="251460">
                <a:tc>
                  <a:txBody>
                    <a:bodyPr/>
                    <a:lstStyle/>
                    <a:p>
                      <a:pPr marL="0" indent="0">
                        <a:buNone/>
                      </a:pPr>
                      <a:r>
                        <a:rPr lang="en-US" sz="900" dirty="0">
                          <a:solidFill>
                            <a:srgbClr val="D4956A"/>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€8.28M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€0.64M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€8.92M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24B4A"/>
                          </a:solidFill>
                          <a:latin typeface="Arial" pitchFamily="34" charset="0"/>
                          <a:ea typeface="Arial" pitchFamily="34" charset="-122"/>
                          <a:cs typeface="Arial" pitchFamily="34" charset="-120"/>
                        </a:rPr>
                        <a:t>€0.48M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10B981"/>
                          </a:solidFill>
                          <a:latin typeface="Arial" pitchFamily="34" charset="0"/>
                          <a:ea typeface="Arial" pitchFamily="34" charset="-122"/>
                          <a:cs typeface="Arial" pitchFamily="34" charset="-120"/>
                        </a:rPr>
                        <a:t>€8.44M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95%</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22D3EE"/>
                          </a:solidFill>
                          <a:latin typeface="Arial" pitchFamily="34" charset="0"/>
                          <a:ea typeface="Arial" pitchFamily="34" charset="-122"/>
                          <a:cs typeface="Arial" pitchFamily="34" charset="-120"/>
                        </a:rPr>
                        <a:t>€29M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extLst>
                  <a:ext uri="{0D108BD9-81ED-4DB2-BD59-A6C34878D82A}">
                    <a16:rowId xmlns:a16="http://schemas.microsoft.com/office/drawing/2014/main" val="10004"/>
                  </a:ext>
                </a:extLst>
              </a:tr>
              <a:tr h="251460">
                <a:tc>
                  <a:txBody>
                    <a:bodyPr/>
                    <a:lstStyle/>
                    <a:p>
                      <a:pPr marL="0" indent="0">
                        <a:buNone/>
                      </a:pPr>
                      <a:r>
                        <a:rPr lang="en-US" sz="900" dirty="0">
                          <a:solidFill>
                            <a:srgbClr val="D4956A"/>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€9.94M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€0.68M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€10.62M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24B4A"/>
                          </a:solidFill>
                          <a:latin typeface="Arial" pitchFamily="34" charset="0"/>
                          <a:ea typeface="Arial" pitchFamily="34" charset="-122"/>
                          <a:cs typeface="Arial" pitchFamily="34" charset="-120"/>
                        </a:rPr>
                        <a:t>€0.51M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10B981"/>
                          </a:solidFill>
                          <a:latin typeface="Arial" pitchFamily="34" charset="0"/>
                          <a:ea typeface="Arial" pitchFamily="34" charset="-122"/>
                          <a:cs typeface="Arial" pitchFamily="34" charset="-120"/>
                        </a:rPr>
                        <a:t>€10.11M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95%</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22D3EE"/>
                          </a:solidFill>
                          <a:latin typeface="Arial" pitchFamily="34" charset="0"/>
                          <a:ea typeface="Arial" pitchFamily="34" charset="-122"/>
                          <a:cs typeface="Arial" pitchFamily="34" charset="-120"/>
                        </a:rPr>
                        <a:t>€48M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extLst>
                  <a:ext uri="{0D108BD9-81ED-4DB2-BD59-A6C34878D82A}">
                    <a16:rowId xmlns:a16="http://schemas.microsoft.com/office/drawing/2014/main" val="10005"/>
                  </a:ext>
                </a:extLst>
              </a:tr>
              <a:tr h="251460">
                <a:tc>
                  <a:txBody>
                    <a:bodyPr/>
                    <a:lstStyle/>
                    <a:p>
                      <a:pPr marL="0" indent="0">
                        <a:buNone/>
                      </a:pPr>
                      <a:r>
                        <a:rPr lang="en-US" sz="900" dirty="0">
                          <a:solidFill>
                            <a:srgbClr val="D4956A"/>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€19.9M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€0.74M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€20.6M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24B4A"/>
                          </a:solidFill>
                          <a:latin typeface="Arial" pitchFamily="34" charset="0"/>
                          <a:ea typeface="Arial" pitchFamily="34" charset="-122"/>
                          <a:cs typeface="Arial" pitchFamily="34" charset="-120"/>
                        </a:rPr>
                        <a:t>€0.55M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10B981"/>
                          </a:solidFill>
                          <a:latin typeface="Arial" pitchFamily="34" charset="0"/>
                          <a:ea typeface="Arial" pitchFamily="34" charset="-122"/>
                          <a:cs typeface="Arial" pitchFamily="34" charset="-120"/>
                        </a:rPr>
                        <a:t>€20.1M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95%</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22D3EE"/>
                          </a:solidFill>
                          <a:latin typeface="Arial" pitchFamily="34" charset="0"/>
                          <a:ea typeface="Arial" pitchFamily="34" charset="-122"/>
                          <a:cs typeface="Arial" pitchFamily="34" charset="-120"/>
                        </a:rPr>
                        <a:t>€93M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extLst>
                  <a:ext uri="{0D108BD9-81ED-4DB2-BD59-A6C34878D82A}">
                    <a16:rowId xmlns:a16="http://schemas.microsoft.com/office/drawing/2014/main" val="10006"/>
                  </a:ext>
                </a:extLst>
              </a:tr>
              <a:tr h="251460">
                <a:tc>
                  <a:txBody>
                    <a:bodyPr/>
                    <a:lstStyle/>
                    <a:p>
                      <a:pPr marL="0" indent="0">
                        <a:buNone/>
                      </a:pPr>
                      <a:r>
                        <a:rPr lang="en-US" sz="900" dirty="0">
                          <a:solidFill>
                            <a:srgbClr val="D4956A"/>
                          </a:solidFill>
                          <a:latin typeface="Arial" pitchFamily="34" charset="0"/>
                          <a:ea typeface="Arial" pitchFamily="34" charset="-122"/>
                          <a:cs typeface="Arial" pitchFamily="34" charset="-120"/>
                        </a:rPr>
                        <a:t>12</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€20.5M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€0.79M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€21.3M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24B4A"/>
                          </a:solidFill>
                          <a:latin typeface="Arial" pitchFamily="34" charset="0"/>
                          <a:ea typeface="Arial" pitchFamily="34" charset="-122"/>
                          <a:cs typeface="Arial" pitchFamily="34" charset="-120"/>
                        </a:rPr>
                        <a:t>€0.58M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24B4A"/>
                          </a:solidFill>
                          <a:latin typeface="Arial" pitchFamily="34" charset="0"/>
                          <a:ea typeface="Arial" pitchFamily="34" charset="-122"/>
                          <a:cs typeface="Arial" pitchFamily="34" charset="-120"/>
                        </a:rPr>
                        <a:t>€1.9M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10B981"/>
                          </a:solidFill>
                          <a:latin typeface="Arial" pitchFamily="34" charset="0"/>
                          <a:ea typeface="Arial" pitchFamily="34" charset="-122"/>
                          <a:cs typeface="Arial" pitchFamily="34" charset="-120"/>
                        </a:rPr>
                        <a:t>€18.8M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88%</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22D3EE"/>
                          </a:solidFill>
                          <a:latin typeface="Arial" pitchFamily="34" charset="0"/>
                          <a:ea typeface="Arial" pitchFamily="34" charset="-122"/>
                          <a:cs typeface="Arial" pitchFamily="34" charset="-120"/>
                        </a:rPr>
                        <a:t>€134M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extLst>
                  <a:ext uri="{0D108BD9-81ED-4DB2-BD59-A6C34878D82A}">
                    <a16:rowId xmlns:a16="http://schemas.microsoft.com/office/drawing/2014/main" val="10007"/>
                  </a:ext>
                </a:extLst>
              </a:tr>
              <a:tr h="251460">
                <a:tc>
                  <a:txBody>
                    <a:bodyPr/>
                    <a:lstStyle/>
                    <a:p>
                      <a:pPr marL="0" indent="0">
                        <a:buNone/>
                      </a:pPr>
                      <a:r>
                        <a:rPr lang="en-US" sz="900" dirty="0">
                          <a:solidFill>
                            <a:srgbClr val="D4956A"/>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€24.6M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€0.86M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€25.5M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24B4A"/>
                          </a:solidFill>
                          <a:latin typeface="Arial" pitchFamily="34" charset="0"/>
                          <a:ea typeface="Arial" pitchFamily="34" charset="-122"/>
                          <a:cs typeface="Arial" pitchFamily="34" charset="-120"/>
                        </a:rPr>
                        <a:t>€0.64M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10B981"/>
                          </a:solidFill>
                          <a:latin typeface="Arial" pitchFamily="34" charset="0"/>
                          <a:ea typeface="Arial" pitchFamily="34" charset="-122"/>
                          <a:cs typeface="Arial" pitchFamily="34" charset="-120"/>
                        </a:rPr>
                        <a:t>€24.8M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97%</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22D3EE"/>
                          </a:solidFill>
                          <a:latin typeface="Arial" pitchFamily="34" charset="0"/>
                          <a:ea typeface="Arial" pitchFamily="34" charset="-122"/>
                          <a:cs typeface="Arial" pitchFamily="34" charset="-120"/>
                        </a:rPr>
                        <a:t>€203M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extLst>
                  <a:ext uri="{0D108BD9-81ED-4DB2-BD59-A6C34878D82A}">
                    <a16:rowId xmlns:a16="http://schemas.microsoft.com/office/drawing/2014/main" val="10008"/>
                  </a:ext>
                </a:extLst>
              </a:tr>
              <a:tr h="251460">
                <a:tc>
                  <a:txBody>
                    <a:bodyPr/>
                    <a:lstStyle/>
                    <a:p>
                      <a:pPr marL="0" indent="0">
                        <a:buNone/>
                      </a:pPr>
                      <a:r>
                        <a:rPr lang="en-US" sz="900" dirty="0">
                          <a:solidFill>
                            <a:srgbClr val="D4956A"/>
                          </a:solidFill>
                          <a:latin typeface="Arial" pitchFamily="34" charset="0"/>
                          <a:ea typeface="Arial" pitchFamily="34" charset="-122"/>
                          <a:cs typeface="Arial" pitchFamily="34" charset="-120"/>
                        </a:rPr>
                        <a:t>20</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€26.0M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€1.00M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€27.0M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24B4A"/>
                          </a:solidFill>
                          <a:latin typeface="Arial" pitchFamily="34" charset="0"/>
                          <a:ea typeface="Arial" pitchFamily="34" charset="-122"/>
                          <a:cs typeface="Arial" pitchFamily="34" charset="-120"/>
                        </a:rPr>
                        <a:t>€0.74M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10B981"/>
                          </a:solidFill>
                          <a:latin typeface="Arial" pitchFamily="34" charset="0"/>
                          <a:ea typeface="Arial" pitchFamily="34" charset="-122"/>
                          <a:cs typeface="Arial" pitchFamily="34" charset="-120"/>
                        </a:rPr>
                        <a:t>€28.8M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97%</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22D3EE"/>
                          </a:solidFill>
                          <a:latin typeface="Arial" pitchFamily="34" charset="0"/>
                          <a:ea typeface="Arial" pitchFamily="34" charset="-122"/>
                          <a:cs typeface="Arial" pitchFamily="34" charset="-120"/>
                        </a:rPr>
                        <a:t>~€240M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extLst>
                  <a:ext uri="{0D108BD9-81ED-4DB2-BD59-A6C34878D82A}">
                    <a16:rowId xmlns:a16="http://schemas.microsoft.com/office/drawing/2014/main" val="10009"/>
                  </a:ext>
                </a:extLst>
              </a:tr>
            </a:tbl>
          </a:graphicData>
        </a:graphic>
      </p:graphicFrame>
      <p:sp>
        <p:nvSpPr>
          <p:cNvPr id="15" name="Shape 12"/>
          <p:cNvSpPr/>
          <p:nvPr/>
        </p:nvSpPr>
        <p:spPr>
          <a:xfrm>
            <a:off x="411480" y="4188747"/>
            <a:ext cx="1965960" cy="548640"/>
          </a:xfrm>
          <a:prstGeom prst="rect">
            <a:avLst/>
          </a:prstGeom>
          <a:solidFill>
            <a:srgbClr val="08111E"/>
          </a:solidFill>
          <a:ln w="12700">
            <a:solidFill>
              <a:srgbClr val="22F6AF"/>
            </a:solidFill>
            <a:prstDash val="solid"/>
          </a:ln>
        </p:spPr>
        <p:txBody>
          <a:bodyPr/>
          <a:lstStyle/>
          <a:p>
            <a:endParaRPr lang="en-GB">
              <a:solidFill>
                <a:srgbClr val="22F6AF"/>
              </a:solidFill>
            </a:endParaRPr>
          </a:p>
        </p:txBody>
      </p:sp>
      <p:sp>
        <p:nvSpPr>
          <p:cNvPr id="16" name="Text 13"/>
          <p:cNvSpPr/>
          <p:nvPr/>
        </p:nvSpPr>
        <p:spPr>
          <a:xfrm>
            <a:off x="530352" y="4309213"/>
            <a:ext cx="1737360" cy="182880"/>
          </a:xfrm>
          <a:prstGeom prst="rect">
            <a:avLst/>
          </a:prstGeom>
          <a:solidFill>
            <a:srgbClr val="08111E"/>
          </a:solidFill>
          <a:ln>
            <a:solidFill>
              <a:srgbClr val="22F6AF"/>
            </a:solidFill>
          </a:ln>
        </p:spPr>
        <p:txBody>
          <a:bodyPr wrap="square" rtlCol="0" anchor="ctr"/>
          <a:lstStyle/>
          <a:p>
            <a:pPr marL="0" indent="0">
              <a:buNone/>
            </a:pPr>
            <a:r>
              <a:rPr lang="en-US" sz="850" dirty="0">
                <a:solidFill>
                  <a:schemeClr val="bg1">
                    <a:lumMod val="85000"/>
                  </a:schemeClr>
                </a:solidFill>
                <a:latin typeface="Arial" pitchFamily="34" charset="0"/>
                <a:ea typeface="Arial" pitchFamily="34" charset="-122"/>
                <a:cs typeface="Arial" pitchFamily="34" charset="-120"/>
              </a:rPr>
              <a:t>Yr 1 EBITDA</a:t>
            </a:r>
            <a:endParaRPr lang="en-US" sz="850" dirty="0">
              <a:solidFill>
                <a:schemeClr val="bg1">
                  <a:lumMod val="85000"/>
                </a:schemeClr>
              </a:solidFill>
            </a:endParaRPr>
          </a:p>
        </p:txBody>
      </p:sp>
      <p:sp>
        <p:nvSpPr>
          <p:cNvPr id="17" name="Text 14"/>
          <p:cNvSpPr/>
          <p:nvPr/>
        </p:nvSpPr>
        <p:spPr>
          <a:xfrm>
            <a:off x="530352" y="4482949"/>
            <a:ext cx="1737360" cy="274320"/>
          </a:xfrm>
          <a:prstGeom prst="rect">
            <a:avLst/>
          </a:prstGeom>
          <a:solidFill>
            <a:srgbClr val="08111E"/>
          </a:solidFill>
          <a:ln>
            <a:solidFill>
              <a:srgbClr val="22F6AF"/>
            </a:solidFill>
          </a:ln>
        </p:spPr>
        <p:txBody>
          <a:bodyPr wrap="square" rtlCol="0" anchor="ctr"/>
          <a:lstStyle/>
          <a:p>
            <a:pPr marL="0" indent="0">
              <a:buNone/>
            </a:pPr>
            <a:r>
              <a:rPr lang="en-US" sz="1500" b="1" dirty="0">
                <a:solidFill>
                  <a:srgbClr val="22F6AF"/>
                </a:solidFill>
                <a:latin typeface="Arial" pitchFamily="34" charset="0"/>
                <a:ea typeface="Arial" pitchFamily="34" charset="-122"/>
                <a:cs typeface="Arial" pitchFamily="34" charset="-120"/>
              </a:rPr>
              <a:t>€2.58M</a:t>
            </a:r>
            <a:endParaRPr lang="en-US" sz="1500" dirty="0">
              <a:solidFill>
                <a:srgbClr val="22F6AF"/>
              </a:solidFill>
            </a:endParaRPr>
          </a:p>
        </p:txBody>
      </p:sp>
      <p:sp>
        <p:nvSpPr>
          <p:cNvPr id="18" name="Shape 15"/>
          <p:cNvSpPr/>
          <p:nvPr/>
        </p:nvSpPr>
        <p:spPr>
          <a:xfrm>
            <a:off x="2514600" y="4188747"/>
            <a:ext cx="1965960" cy="548640"/>
          </a:xfrm>
          <a:prstGeom prst="rect">
            <a:avLst/>
          </a:prstGeom>
          <a:solidFill>
            <a:srgbClr val="08111E"/>
          </a:solidFill>
          <a:ln w="12700">
            <a:solidFill>
              <a:srgbClr val="22F6AF"/>
            </a:solidFill>
            <a:prstDash val="solid"/>
          </a:ln>
        </p:spPr>
        <p:txBody>
          <a:bodyPr/>
          <a:lstStyle/>
          <a:p>
            <a:endParaRPr lang="en-GB">
              <a:solidFill>
                <a:srgbClr val="22F6AF"/>
              </a:solidFill>
            </a:endParaRPr>
          </a:p>
        </p:txBody>
      </p:sp>
      <p:sp>
        <p:nvSpPr>
          <p:cNvPr id="19" name="Text 16"/>
          <p:cNvSpPr/>
          <p:nvPr/>
        </p:nvSpPr>
        <p:spPr>
          <a:xfrm>
            <a:off x="2633472" y="4309213"/>
            <a:ext cx="1737360" cy="182880"/>
          </a:xfrm>
          <a:prstGeom prst="rect">
            <a:avLst/>
          </a:prstGeom>
          <a:solidFill>
            <a:srgbClr val="08111E"/>
          </a:solidFill>
          <a:ln>
            <a:solidFill>
              <a:srgbClr val="22F6AF"/>
            </a:solidFill>
          </a:ln>
        </p:spPr>
        <p:txBody>
          <a:bodyPr wrap="square" rtlCol="0" anchor="ctr"/>
          <a:lstStyle/>
          <a:p>
            <a:pPr marL="0" indent="0">
              <a:buNone/>
            </a:pPr>
            <a:r>
              <a:rPr lang="en-US" sz="850" dirty="0">
                <a:solidFill>
                  <a:schemeClr val="bg1">
                    <a:lumMod val="85000"/>
                  </a:schemeClr>
                </a:solidFill>
                <a:latin typeface="Arial" pitchFamily="34" charset="0"/>
                <a:ea typeface="Arial" pitchFamily="34" charset="-122"/>
                <a:cs typeface="Arial" pitchFamily="34" charset="-120"/>
              </a:rPr>
              <a:t>Yr 20 EBITDA</a:t>
            </a:r>
            <a:endParaRPr lang="en-US" sz="850" dirty="0">
              <a:solidFill>
                <a:schemeClr val="bg1">
                  <a:lumMod val="85000"/>
                </a:schemeClr>
              </a:solidFill>
            </a:endParaRPr>
          </a:p>
        </p:txBody>
      </p:sp>
      <p:sp>
        <p:nvSpPr>
          <p:cNvPr id="20" name="Text 17"/>
          <p:cNvSpPr/>
          <p:nvPr/>
        </p:nvSpPr>
        <p:spPr>
          <a:xfrm>
            <a:off x="2633472" y="4482949"/>
            <a:ext cx="1737360" cy="274320"/>
          </a:xfrm>
          <a:prstGeom prst="rect">
            <a:avLst/>
          </a:prstGeom>
          <a:solidFill>
            <a:srgbClr val="08111E"/>
          </a:solidFill>
          <a:ln>
            <a:solidFill>
              <a:srgbClr val="22F6AF"/>
            </a:solidFill>
          </a:ln>
        </p:spPr>
        <p:txBody>
          <a:bodyPr wrap="square" rtlCol="0" anchor="ctr"/>
          <a:lstStyle/>
          <a:p>
            <a:pPr marL="0" indent="0">
              <a:buNone/>
            </a:pPr>
            <a:r>
              <a:rPr lang="en-US" sz="1500" b="1" dirty="0">
                <a:solidFill>
                  <a:srgbClr val="22F6AF"/>
                </a:solidFill>
                <a:latin typeface="Arial" pitchFamily="34" charset="0"/>
                <a:ea typeface="Arial" pitchFamily="34" charset="-122"/>
                <a:cs typeface="Arial" pitchFamily="34" charset="-120"/>
              </a:rPr>
              <a:t>€28.8M</a:t>
            </a:r>
            <a:endParaRPr lang="en-US" sz="1500" dirty="0">
              <a:solidFill>
                <a:srgbClr val="22F6AF"/>
              </a:solidFill>
            </a:endParaRPr>
          </a:p>
        </p:txBody>
      </p:sp>
      <p:sp>
        <p:nvSpPr>
          <p:cNvPr id="21" name="Shape 18"/>
          <p:cNvSpPr/>
          <p:nvPr/>
        </p:nvSpPr>
        <p:spPr>
          <a:xfrm>
            <a:off x="4617720" y="4188747"/>
            <a:ext cx="1965960" cy="548640"/>
          </a:xfrm>
          <a:prstGeom prst="rect">
            <a:avLst/>
          </a:prstGeom>
          <a:solidFill>
            <a:srgbClr val="08111E"/>
          </a:solidFill>
          <a:ln w="12700">
            <a:solidFill>
              <a:srgbClr val="F0B429"/>
            </a:solidFill>
            <a:prstDash val="solid"/>
          </a:ln>
        </p:spPr>
        <p:txBody>
          <a:bodyPr/>
          <a:lstStyle/>
          <a:p>
            <a:endParaRPr lang="en-GB"/>
          </a:p>
        </p:txBody>
      </p:sp>
      <p:sp>
        <p:nvSpPr>
          <p:cNvPr id="22" name="Text 19"/>
          <p:cNvSpPr/>
          <p:nvPr/>
        </p:nvSpPr>
        <p:spPr>
          <a:xfrm>
            <a:off x="4736592" y="4309213"/>
            <a:ext cx="1737360" cy="182880"/>
          </a:xfrm>
          <a:prstGeom prst="rect">
            <a:avLst/>
          </a:prstGeom>
          <a:solidFill>
            <a:srgbClr val="08111E"/>
          </a:solidFill>
          <a:ln>
            <a:solidFill>
              <a:srgbClr val="FFD619"/>
            </a:solidFill>
          </a:ln>
        </p:spPr>
        <p:txBody>
          <a:bodyPr wrap="square" rtlCol="0" anchor="ctr"/>
          <a:lstStyle/>
          <a:p>
            <a:pPr marL="0" indent="0">
              <a:buNone/>
            </a:pPr>
            <a:r>
              <a:rPr lang="en-US" sz="850" dirty="0">
                <a:solidFill>
                  <a:schemeClr val="bg1">
                    <a:lumMod val="85000"/>
                  </a:schemeClr>
                </a:solidFill>
                <a:latin typeface="Arial" pitchFamily="34" charset="0"/>
                <a:ea typeface="Arial" pitchFamily="34" charset="-122"/>
                <a:cs typeface="Arial" pitchFamily="34" charset="-120"/>
              </a:rPr>
              <a:t>Cumulative 20yr</a:t>
            </a:r>
            <a:endParaRPr lang="en-US" sz="850" dirty="0">
              <a:solidFill>
                <a:schemeClr val="bg1">
                  <a:lumMod val="85000"/>
                </a:schemeClr>
              </a:solidFill>
            </a:endParaRPr>
          </a:p>
        </p:txBody>
      </p:sp>
      <p:sp>
        <p:nvSpPr>
          <p:cNvPr id="23" name="Text 20"/>
          <p:cNvSpPr/>
          <p:nvPr/>
        </p:nvSpPr>
        <p:spPr>
          <a:xfrm>
            <a:off x="4736592" y="4482949"/>
            <a:ext cx="1737360" cy="274320"/>
          </a:xfrm>
          <a:prstGeom prst="rect">
            <a:avLst/>
          </a:prstGeom>
          <a:solidFill>
            <a:srgbClr val="08111E"/>
          </a:solidFill>
          <a:ln>
            <a:solidFill>
              <a:srgbClr val="FFD619"/>
            </a:solidFill>
          </a:ln>
        </p:spPr>
        <p:txBody>
          <a:bodyPr wrap="square" rtlCol="0" anchor="ctr"/>
          <a:lstStyle/>
          <a:p>
            <a:pPr marL="0" indent="0">
              <a:buNone/>
            </a:pPr>
            <a:r>
              <a:rPr lang="en-US" sz="1500" b="1" dirty="0">
                <a:solidFill>
                  <a:srgbClr val="F0B429"/>
                </a:solidFill>
                <a:latin typeface="Arial" pitchFamily="34" charset="0"/>
                <a:ea typeface="Arial" pitchFamily="34" charset="-122"/>
                <a:cs typeface="Arial" pitchFamily="34" charset="-120"/>
              </a:rPr>
              <a:t>~€240M</a:t>
            </a:r>
            <a:endParaRPr lang="en-US" sz="1500" dirty="0"/>
          </a:p>
        </p:txBody>
      </p:sp>
      <p:sp>
        <p:nvSpPr>
          <p:cNvPr id="24" name="Shape 21"/>
          <p:cNvSpPr/>
          <p:nvPr/>
        </p:nvSpPr>
        <p:spPr>
          <a:xfrm>
            <a:off x="6720840" y="4188747"/>
            <a:ext cx="1965960" cy="548640"/>
          </a:xfrm>
          <a:prstGeom prst="rect">
            <a:avLst/>
          </a:prstGeom>
          <a:solidFill>
            <a:srgbClr val="08111E"/>
          </a:solidFill>
          <a:ln w="12700">
            <a:solidFill>
              <a:srgbClr val="F0B429"/>
            </a:solidFill>
            <a:prstDash val="solid"/>
          </a:ln>
        </p:spPr>
        <p:txBody>
          <a:bodyPr/>
          <a:lstStyle/>
          <a:p>
            <a:endParaRPr lang="en-GB"/>
          </a:p>
        </p:txBody>
      </p:sp>
      <p:sp>
        <p:nvSpPr>
          <p:cNvPr id="25" name="Text 22"/>
          <p:cNvSpPr/>
          <p:nvPr/>
        </p:nvSpPr>
        <p:spPr>
          <a:xfrm>
            <a:off x="6839712" y="4309213"/>
            <a:ext cx="1737360" cy="182880"/>
          </a:xfrm>
          <a:prstGeom prst="rect">
            <a:avLst/>
          </a:prstGeom>
          <a:solidFill>
            <a:srgbClr val="08111E"/>
          </a:solidFill>
          <a:ln>
            <a:solidFill>
              <a:srgbClr val="FFD619"/>
            </a:solidFill>
          </a:ln>
        </p:spPr>
        <p:txBody>
          <a:bodyPr wrap="square" rtlCol="0" anchor="ctr"/>
          <a:lstStyle/>
          <a:p>
            <a:pPr marL="0" indent="0">
              <a:buNone/>
            </a:pPr>
            <a:r>
              <a:rPr lang="en-US" sz="850" dirty="0">
                <a:solidFill>
                  <a:schemeClr val="bg1">
                    <a:lumMod val="85000"/>
                  </a:schemeClr>
                </a:solidFill>
                <a:latin typeface="Arial" pitchFamily="34" charset="0"/>
                <a:ea typeface="Arial" pitchFamily="34" charset="-122"/>
                <a:cs typeface="Arial" pitchFamily="34" charset="-120"/>
              </a:rPr>
              <a:t>MOIC on node</a:t>
            </a:r>
            <a:endParaRPr lang="en-US" sz="850" dirty="0">
              <a:solidFill>
                <a:schemeClr val="bg1">
                  <a:lumMod val="85000"/>
                </a:schemeClr>
              </a:solidFill>
            </a:endParaRPr>
          </a:p>
        </p:txBody>
      </p:sp>
      <p:sp>
        <p:nvSpPr>
          <p:cNvPr id="26" name="Text 23"/>
          <p:cNvSpPr/>
          <p:nvPr/>
        </p:nvSpPr>
        <p:spPr>
          <a:xfrm>
            <a:off x="6839712" y="4482949"/>
            <a:ext cx="1737360" cy="274320"/>
          </a:xfrm>
          <a:prstGeom prst="rect">
            <a:avLst/>
          </a:prstGeom>
          <a:solidFill>
            <a:srgbClr val="08111E"/>
          </a:solidFill>
          <a:ln>
            <a:solidFill>
              <a:srgbClr val="FFD619"/>
            </a:solidFill>
          </a:ln>
        </p:spPr>
        <p:txBody>
          <a:bodyPr wrap="square" rtlCol="0" anchor="ctr"/>
          <a:lstStyle/>
          <a:p>
            <a:pPr marL="0" indent="0">
              <a:buNone/>
            </a:pPr>
            <a:r>
              <a:rPr lang="en-US" sz="1500" b="1" dirty="0">
                <a:solidFill>
                  <a:srgbClr val="F0B429"/>
                </a:solidFill>
                <a:latin typeface="Arial" pitchFamily="34" charset="0"/>
                <a:ea typeface="Arial" pitchFamily="34" charset="-122"/>
                <a:cs typeface="Arial" pitchFamily="34" charset="-120"/>
              </a:rPr>
              <a:t>~24×</a:t>
            </a:r>
            <a:endParaRPr lang="en-US" sz="1500" dirty="0"/>
          </a:p>
        </p:txBody>
      </p:sp>
      <p:sp>
        <p:nvSpPr>
          <p:cNvPr id="27" name="Text 24"/>
          <p:cNvSpPr/>
          <p:nvPr/>
        </p:nvSpPr>
        <p:spPr>
          <a:xfrm>
            <a:off x="411480" y="5120640"/>
            <a:ext cx="2743200" cy="182880"/>
          </a:xfrm>
          <a:prstGeom prst="rect">
            <a:avLst/>
          </a:prstGeom>
          <a:noFill/>
          <a:ln/>
        </p:spPr>
        <p:txBody>
          <a:bodyPr wrap="square" rtlCol="0" anchor="ctr"/>
          <a:lstStyle/>
          <a:p>
            <a:pPr marL="0" indent="0">
              <a:buNone/>
            </a:pPr>
            <a:r>
              <a:rPr lang="en-US" sz="800" i="1" dirty="0">
                <a:solidFill>
                  <a:srgbClr val="9CA3AF"/>
                </a:solidFill>
                <a:latin typeface="Arial" pitchFamily="34" charset="0"/>
                <a:ea typeface="Arial" pitchFamily="34" charset="-122"/>
                <a:cs typeface="Arial" pitchFamily="34" charset="-120"/>
              </a:rPr>
              <a:t>★ = rack upgrade year</a:t>
            </a:r>
            <a:endParaRPr lang="en-US" sz="800" dirty="0"/>
          </a:p>
        </p:txBody>
      </p:sp>
      <p:sp>
        <p:nvSpPr>
          <p:cNvPr id="28" name="Shape 25"/>
          <p:cNvSpPr/>
          <p:nvPr/>
        </p:nvSpPr>
        <p:spPr>
          <a:xfrm>
            <a:off x="0" y="4892040"/>
            <a:ext cx="9144000" cy="251460"/>
          </a:xfrm>
          <a:prstGeom prst="rect">
            <a:avLst/>
          </a:prstGeom>
          <a:solidFill>
            <a:srgbClr val="0D1B2E"/>
          </a:solidFill>
          <a:ln w="12700">
            <a:solidFill>
              <a:srgbClr val="0D1B2E"/>
            </a:solidFill>
            <a:prstDash val="solid"/>
          </a:ln>
        </p:spPr>
        <p:txBody>
          <a:bodyPr/>
          <a:lstStyle/>
          <a:p>
            <a:endParaRPr lang="en-GB"/>
          </a:p>
        </p:txBody>
      </p:sp>
      <p:sp>
        <p:nvSpPr>
          <p:cNvPr id="29" name="Shape 26"/>
          <p:cNvSpPr/>
          <p:nvPr/>
        </p:nvSpPr>
        <p:spPr>
          <a:xfrm>
            <a:off x="0" y="4892040"/>
            <a:ext cx="9144000" cy="27432"/>
          </a:xfrm>
          <a:prstGeom prst="rect">
            <a:avLst/>
          </a:prstGeom>
          <a:solidFill>
            <a:srgbClr val="B87333"/>
          </a:solidFill>
          <a:ln w="12700">
            <a:solidFill>
              <a:srgbClr val="B87333"/>
            </a:solidFill>
            <a:prstDash val="solid"/>
          </a:ln>
        </p:spPr>
        <p:txBody>
          <a:bodyPr/>
          <a:lstStyle/>
          <a:p>
            <a:endParaRPr lang="en-GB"/>
          </a:p>
        </p:txBody>
      </p:sp>
      <p:sp>
        <p:nvSpPr>
          <p:cNvPr id="30" name="Text 27"/>
          <p:cNvSpPr/>
          <p:nvPr/>
        </p:nvSpPr>
        <p:spPr>
          <a:xfrm>
            <a:off x="320040" y="4901184"/>
            <a:ext cx="4572000" cy="228600"/>
          </a:xfrm>
          <a:prstGeom prst="rect">
            <a:avLst/>
          </a:prstGeom>
          <a:noFill/>
          <a:ln/>
        </p:spPr>
        <p:txBody>
          <a:bodyPr wrap="square" rtlCol="0" anchor="ctr"/>
          <a:lstStyle/>
          <a:p>
            <a:pPr marL="0" indent="0">
              <a:buNone/>
            </a:pPr>
            <a:r>
              <a:rPr lang="en-US" sz="800" dirty="0">
                <a:solidFill>
                  <a:srgbClr val="B87333"/>
                </a:solidFill>
                <a:latin typeface="Arial" pitchFamily="34" charset="0"/>
                <a:ea typeface="Arial" pitchFamily="34" charset="-122"/>
                <a:cs typeface="Arial" pitchFamily="34" charset="-120"/>
              </a:rPr>
              <a:t>UMPIREAL  ·  CONFIDENTIAL</a:t>
            </a:r>
            <a:endParaRPr lang="en-US" sz="800" dirty="0"/>
          </a:p>
        </p:txBody>
      </p:sp>
      <p:sp>
        <p:nvSpPr>
          <p:cNvPr id="31" name="Text 28"/>
          <p:cNvSpPr/>
          <p:nvPr/>
        </p:nvSpPr>
        <p:spPr>
          <a:xfrm>
            <a:off x="4572000" y="4901184"/>
            <a:ext cx="4251960" cy="228600"/>
          </a:xfrm>
          <a:prstGeom prst="rect">
            <a:avLst/>
          </a:prstGeom>
          <a:noFill/>
          <a:ln/>
        </p:spPr>
        <p:txBody>
          <a:bodyPr wrap="square" rtlCol="0" anchor="ctr"/>
          <a:lstStyle/>
          <a:p>
            <a:pPr marL="0" indent="0" algn="r">
              <a:buNone/>
            </a:pPr>
            <a:r>
              <a:rPr lang="en-US" sz="800" dirty="0">
                <a:solidFill>
                  <a:srgbClr val="9CA3AF"/>
                </a:solidFill>
                <a:latin typeface="Arial" pitchFamily="34" charset="0"/>
                <a:ea typeface="Arial" pitchFamily="34" charset="-122"/>
                <a:cs typeface="Arial" pitchFamily="34" charset="-120"/>
              </a:rPr>
              <a:t>07 — 20-Year Model</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11480" y="164592"/>
            <a:ext cx="54864" cy="384048"/>
          </a:xfrm>
          <a:prstGeom prst="rect">
            <a:avLst/>
          </a:prstGeom>
          <a:solidFill>
            <a:srgbClr val="B87333"/>
          </a:solidFill>
          <a:ln w="12700">
            <a:solidFill>
              <a:srgbClr val="B87333"/>
            </a:solidFill>
            <a:prstDash val="solid"/>
          </a:ln>
        </p:spPr>
        <p:txBody>
          <a:bodyPr/>
          <a:lstStyle/>
          <a:p>
            <a:endParaRPr lang="en-GB"/>
          </a:p>
        </p:txBody>
      </p:sp>
      <p:sp>
        <p:nvSpPr>
          <p:cNvPr id="3" name="Text 1"/>
          <p:cNvSpPr/>
          <p:nvPr/>
        </p:nvSpPr>
        <p:spPr>
          <a:xfrm>
            <a:off x="548640" y="155448"/>
            <a:ext cx="8229600" cy="411480"/>
          </a:xfrm>
          <a:prstGeom prst="rect">
            <a:avLst/>
          </a:prstGeom>
          <a:noFill/>
          <a:ln/>
        </p:spPr>
        <p:txBody>
          <a:bodyPr wrap="square" rtlCol="0" anchor="ctr"/>
          <a:lstStyle/>
          <a:p>
            <a:pPr marL="0" indent="0">
              <a:buNone/>
            </a:pPr>
            <a:r>
              <a:rPr lang="en-US" sz="1100" b="1" kern="0" spc="300" dirty="0">
                <a:solidFill>
                  <a:srgbClr val="B87333"/>
                </a:solidFill>
                <a:latin typeface="Arial" pitchFamily="34" charset="0"/>
                <a:ea typeface="Arial" pitchFamily="34" charset="-122"/>
                <a:cs typeface="Arial" pitchFamily="34" charset="-120"/>
              </a:rPr>
              <a:t>DEPRECIATION</a:t>
            </a:r>
            <a:endParaRPr lang="en-US" sz="1100" dirty="0"/>
          </a:p>
        </p:txBody>
      </p:sp>
      <p:sp>
        <p:nvSpPr>
          <p:cNvPr id="4" name="Text 2"/>
          <p:cNvSpPr/>
          <p:nvPr/>
        </p:nvSpPr>
        <p:spPr>
          <a:xfrm>
            <a:off x="-178224" y="279437"/>
            <a:ext cx="9445584" cy="502920"/>
          </a:xfrm>
          <a:prstGeom prst="rect">
            <a:avLst/>
          </a:prstGeom>
          <a:noFill/>
          <a:ln/>
        </p:spPr>
        <p:txBody>
          <a:bodyPr wrap="square" rtlCol="0" anchor="ctr"/>
          <a:lstStyle/>
          <a:p>
            <a:pPr marL="0" indent="0" algn="ctr">
              <a:buNone/>
            </a:pPr>
            <a:r>
              <a:rPr lang="en-US" spc="300" dirty="0">
                <a:solidFill>
                  <a:schemeClr val="bg1">
                    <a:lumMod val="85000"/>
                  </a:schemeClr>
                </a:solidFill>
                <a:latin typeface="Aptos" panose="020B0004020202020204" pitchFamily="34" charset="0"/>
                <a:ea typeface="Arial" pitchFamily="34" charset="-122"/>
                <a:cs typeface="Arial" pitchFamily="34" charset="-120"/>
              </a:rPr>
              <a:t>The Shell Is Permanent. </a:t>
            </a:r>
          </a:p>
          <a:p>
            <a:pPr marL="0" indent="0" algn="ctr">
              <a:buNone/>
            </a:pPr>
            <a:r>
              <a:rPr lang="en-US" spc="300" dirty="0">
                <a:solidFill>
                  <a:schemeClr val="bg1">
                    <a:lumMod val="85000"/>
                  </a:schemeClr>
                </a:solidFill>
                <a:latin typeface="Aptos" panose="020B0004020202020204" pitchFamily="34" charset="0"/>
                <a:ea typeface="Arial" pitchFamily="34" charset="-122"/>
                <a:cs typeface="Arial" pitchFamily="34" charset="-120"/>
              </a:rPr>
              <a:t>The Technology Is a Subscription.</a:t>
            </a:r>
            <a:endParaRPr lang="en-US" spc="300" dirty="0">
              <a:solidFill>
                <a:schemeClr val="bg1">
                  <a:lumMod val="85000"/>
                </a:schemeClr>
              </a:solidFill>
              <a:latin typeface="Aptos" panose="020B0004020202020204" pitchFamily="34" charset="0"/>
            </a:endParaRPr>
          </a:p>
        </p:txBody>
      </p:sp>
      <p:graphicFrame>
        <p:nvGraphicFramePr>
          <p:cNvPr id="10" name="Table 0"/>
          <p:cNvGraphicFramePr>
            <a:graphicFrameLocks noGrp="1"/>
          </p:cNvGraphicFramePr>
          <p:nvPr>
            <p:extLst>
              <p:ext uri="{D42A27DB-BD31-4B8C-83A1-F6EECF244321}">
                <p14:modId xmlns:p14="http://schemas.microsoft.com/office/powerpoint/2010/main" val="3338048311"/>
              </p:ext>
            </p:extLst>
          </p:nvPr>
        </p:nvGraphicFramePr>
        <p:xfrm>
          <a:off x="411480" y="987384"/>
          <a:ext cx="8321040" cy="2583180"/>
        </p:xfrm>
        <a:graphic>
          <a:graphicData uri="http://schemas.openxmlformats.org/drawingml/2006/table">
            <a:tbl>
              <a:tblPr/>
              <a:tblGrid>
                <a:gridCol w="2011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3246120">
                  <a:extLst>
                    <a:ext uri="{9D8B030D-6E8A-4147-A177-3AD203B41FA5}">
                      <a16:colId xmlns:a16="http://schemas.microsoft.com/office/drawing/2014/main" val="20005"/>
                    </a:ext>
                  </a:extLst>
                </a:gridCol>
              </a:tblGrid>
              <a:tr h="297180">
                <a:tc>
                  <a:txBody>
                    <a:bodyPr/>
                    <a:lstStyle/>
                    <a:p>
                      <a:pPr marL="0" indent="0">
                        <a:buNone/>
                      </a:pPr>
                      <a:r>
                        <a:rPr lang="en-US" sz="900" b="1" dirty="0">
                          <a:solidFill>
                            <a:srgbClr val="B87333"/>
                          </a:solidFill>
                          <a:latin typeface="Arial" pitchFamily="34" charset="0"/>
                          <a:ea typeface="Arial" pitchFamily="34" charset="-122"/>
                          <a:cs typeface="Arial" pitchFamily="34" charset="-120"/>
                        </a:rPr>
                        <a:t>Asset</a:t>
                      </a:r>
                      <a:endParaRPr lang="en-US" sz="900" dirty="0">
                        <a:latin typeface="Arial" charset="0"/>
                        <a:ea typeface="Arial" charset="0"/>
                        <a:cs typeface="Arial" charset="0"/>
                      </a:endParaRPr>
                    </a:p>
                  </a:txBody>
                  <a:tcPr>
                    <a:lnL w="12700" cap="flat" cmpd="sng" algn="ctr">
                      <a:solidFill>
                        <a:srgbClr val="FFD619"/>
                      </a:solidFill>
                      <a:prstDash val="solid"/>
                      <a:round/>
                      <a:headEnd type="none" w="med" len="med"/>
                      <a:tailEnd type="none" w="med" len="med"/>
                    </a:lnL>
                    <a:lnR w="3810" cap="flat" cmpd="sng" algn="ctr">
                      <a:solidFill>
                        <a:srgbClr val="1A2535"/>
                      </a:solidFill>
                      <a:prstDash val="solid"/>
                      <a:round/>
                      <a:headEnd type="none" w="med" len="med"/>
                      <a:tailEnd type="none" w="med" len="med"/>
                    </a:lnR>
                    <a:lnT w="12700" cap="flat" cmpd="sng" algn="ctr">
                      <a:solidFill>
                        <a:srgbClr val="FFD619"/>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50D1A"/>
                    </a:solidFill>
                  </a:tcPr>
                </a:tc>
                <a:tc>
                  <a:txBody>
                    <a:bodyPr/>
                    <a:lstStyle/>
                    <a:p>
                      <a:pPr marL="0" indent="0">
                        <a:buNone/>
                      </a:pPr>
                      <a:r>
                        <a:rPr lang="en-US" sz="900" b="1" dirty="0">
                          <a:solidFill>
                            <a:srgbClr val="B87333"/>
                          </a:solidFill>
                          <a:latin typeface="Arial" pitchFamily="34" charset="0"/>
                          <a:ea typeface="Arial" pitchFamily="34" charset="-122"/>
                          <a:cs typeface="Arial" pitchFamily="34" charset="-120"/>
                        </a:rPr>
                        <a:t>Cost</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12700" cap="flat" cmpd="sng" algn="ctr">
                      <a:solidFill>
                        <a:srgbClr val="FFD619"/>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50D1A"/>
                    </a:solidFill>
                  </a:tcPr>
                </a:tc>
                <a:tc>
                  <a:txBody>
                    <a:bodyPr/>
                    <a:lstStyle/>
                    <a:p>
                      <a:pPr marL="0" indent="0">
                        <a:buNone/>
                      </a:pPr>
                      <a:r>
                        <a:rPr lang="en-US" sz="900" b="1" dirty="0">
                          <a:solidFill>
                            <a:srgbClr val="B87333"/>
                          </a:solidFill>
                          <a:latin typeface="Arial" pitchFamily="34" charset="0"/>
                          <a:ea typeface="Arial" pitchFamily="34" charset="-122"/>
                          <a:cs typeface="Arial" pitchFamily="34" charset="-120"/>
                        </a:rPr>
                        <a:t>Life</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12700" cap="flat" cmpd="sng" algn="ctr">
                      <a:solidFill>
                        <a:srgbClr val="FFD619"/>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50D1A"/>
                    </a:solidFill>
                  </a:tcPr>
                </a:tc>
                <a:tc>
                  <a:txBody>
                    <a:bodyPr/>
                    <a:lstStyle/>
                    <a:p>
                      <a:pPr marL="0" indent="0">
                        <a:buNone/>
                      </a:pPr>
                      <a:r>
                        <a:rPr lang="en-US" sz="900" b="1" dirty="0">
                          <a:solidFill>
                            <a:srgbClr val="B87333"/>
                          </a:solidFill>
                          <a:latin typeface="Arial" pitchFamily="34" charset="0"/>
                          <a:ea typeface="Arial" pitchFamily="34" charset="-122"/>
                          <a:cs typeface="Arial" pitchFamily="34" charset="-120"/>
                        </a:rPr>
                        <a:t>Annual Depr.</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12700" cap="flat" cmpd="sng" algn="ctr">
                      <a:solidFill>
                        <a:srgbClr val="FFD619"/>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50D1A"/>
                    </a:solidFill>
                  </a:tcPr>
                </a:tc>
                <a:tc>
                  <a:txBody>
                    <a:bodyPr/>
                    <a:lstStyle/>
                    <a:p>
                      <a:pPr marL="0" indent="0">
                        <a:buNone/>
                      </a:pPr>
                      <a:r>
                        <a:rPr lang="en-US" sz="900" b="1" dirty="0">
                          <a:solidFill>
                            <a:srgbClr val="B87333"/>
                          </a:solidFill>
                          <a:latin typeface="Arial" pitchFamily="34" charset="0"/>
                          <a:ea typeface="Arial" pitchFamily="34" charset="-122"/>
                          <a:cs typeface="Arial" pitchFamily="34" charset="-120"/>
                        </a:rPr>
                        <a:t>Risk</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12700" cap="flat" cmpd="sng" algn="ctr">
                      <a:solidFill>
                        <a:srgbClr val="FFD619"/>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50D1A"/>
                    </a:solidFill>
                  </a:tcPr>
                </a:tc>
                <a:tc>
                  <a:txBody>
                    <a:bodyPr/>
                    <a:lstStyle/>
                    <a:p>
                      <a:pPr marL="0" indent="0">
                        <a:buNone/>
                      </a:pPr>
                      <a:r>
                        <a:rPr lang="en-US" sz="900" b="1" dirty="0">
                          <a:solidFill>
                            <a:srgbClr val="B87333"/>
                          </a:solidFill>
                          <a:latin typeface="Arial" pitchFamily="34" charset="0"/>
                          <a:ea typeface="Arial" pitchFamily="34" charset="-122"/>
                          <a:cs typeface="Arial" pitchFamily="34" charset="-120"/>
                        </a:rPr>
                        <a:t>Cycle</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12700" cap="flat" cmpd="sng" algn="ctr">
                      <a:solidFill>
                        <a:srgbClr val="FFD619"/>
                      </a:solidFill>
                      <a:prstDash val="solid"/>
                      <a:round/>
                      <a:headEnd type="none" w="med" len="med"/>
                      <a:tailEnd type="none" w="med" len="med"/>
                    </a:lnR>
                    <a:lnT w="12700" cap="flat" cmpd="sng" algn="ctr">
                      <a:solidFill>
                        <a:srgbClr val="FFD619"/>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50D1A"/>
                    </a:solidFill>
                  </a:tcPr>
                </a:tc>
                <a:extLst>
                  <a:ext uri="{0D108BD9-81ED-4DB2-BD59-A6C34878D82A}">
                    <a16:rowId xmlns:a16="http://schemas.microsoft.com/office/drawing/2014/main" val="10000"/>
                  </a:ext>
                </a:extLst>
              </a:tr>
              <a:tr h="297180">
                <a:tc>
                  <a:txBody>
                    <a:bodyPr/>
                    <a:lstStyle/>
                    <a:p>
                      <a:pPr marL="0" indent="0">
                        <a:buNone/>
                      </a:pPr>
                      <a:r>
                        <a:rPr lang="en-US" sz="900" dirty="0">
                          <a:solidFill>
                            <a:schemeClr val="bg1">
                              <a:lumMod val="85000"/>
                            </a:schemeClr>
                          </a:solidFill>
                          <a:latin typeface="Arial" pitchFamily="34" charset="0"/>
                          <a:ea typeface="Arial" pitchFamily="34" charset="-122"/>
                          <a:cs typeface="Arial" pitchFamily="34" charset="-120"/>
                        </a:rPr>
                        <a:t>Precast shell + structural civils</a:t>
                      </a:r>
                      <a:endParaRPr lang="en-US" sz="900" dirty="0">
                        <a:solidFill>
                          <a:schemeClr val="bg1">
                            <a:lumMod val="85000"/>
                          </a:schemeClr>
                        </a:solidFill>
                        <a:latin typeface="Arial" charset="0"/>
                        <a:ea typeface="Arial" charset="0"/>
                        <a:cs typeface="Arial" charset="0"/>
                      </a:endParaRPr>
                    </a:p>
                  </a:txBody>
                  <a:tcPr>
                    <a:lnL w="12700" cap="flat" cmpd="sng" algn="ctr">
                      <a:solidFill>
                        <a:srgbClr val="FFD619"/>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chemeClr val="bg1">
                              <a:lumMod val="85000"/>
                            </a:schemeClr>
                          </a:solidFill>
                          <a:latin typeface="Arial" pitchFamily="34" charset="0"/>
                          <a:ea typeface="Arial" pitchFamily="34" charset="-122"/>
                          <a:cs typeface="Arial" pitchFamily="34" charset="-120"/>
                        </a:rPr>
                        <a:t>€2.1M</a:t>
                      </a:r>
                      <a:endParaRPr lang="en-US" sz="900" dirty="0">
                        <a:solidFill>
                          <a:schemeClr val="bg1">
                            <a:lumMod val="85000"/>
                          </a:schemeClr>
                        </a:solidFill>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chemeClr val="bg1">
                              <a:lumMod val="85000"/>
                            </a:schemeClr>
                          </a:solidFill>
                          <a:latin typeface="Arial" pitchFamily="34" charset="0"/>
                          <a:ea typeface="Arial" pitchFamily="34" charset="-122"/>
                          <a:cs typeface="Arial" pitchFamily="34" charset="-120"/>
                        </a:rPr>
                        <a:t>120 yrs</a:t>
                      </a:r>
                      <a:endParaRPr lang="en-US" sz="900" dirty="0">
                        <a:solidFill>
                          <a:schemeClr val="bg1">
                            <a:lumMod val="85000"/>
                          </a:schemeClr>
                        </a:solidFill>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22F6AF"/>
                          </a:solidFill>
                          <a:latin typeface="Arial" pitchFamily="34" charset="0"/>
                          <a:ea typeface="Arial" pitchFamily="34" charset="-122"/>
                          <a:cs typeface="Arial" pitchFamily="34" charset="-120"/>
                        </a:rPr>
                        <a:t>€9,600/yr</a:t>
                      </a:r>
                      <a:endParaRPr lang="en-US" sz="900" dirty="0">
                        <a:solidFill>
                          <a:srgbClr val="22F6AF"/>
                        </a:solidFill>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22F6AF"/>
                          </a:solidFill>
                          <a:latin typeface="Arial" pitchFamily="34" charset="0"/>
                          <a:ea typeface="Arial" pitchFamily="34" charset="-122"/>
                          <a:cs typeface="Arial" pitchFamily="34" charset="-120"/>
                        </a:rPr>
                        <a:t>Negligible</a:t>
                      </a:r>
                      <a:endParaRPr lang="en-US" sz="900" dirty="0">
                        <a:solidFill>
                          <a:srgbClr val="22F6AF"/>
                        </a:solidFill>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Never — design life outlasts all technology</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12700" cap="flat" cmpd="sng" algn="ctr">
                      <a:solidFill>
                        <a:srgbClr val="FFD619"/>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extLst>
                  <a:ext uri="{0D108BD9-81ED-4DB2-BD59-A6C34878D82A}">
                    <a16:rowId xmlns:a16="http://schemas.microsoft.com/office/drawing/2014/main" val="10001"/>
                  </a:ext>
                </a:extLst>
              </a:tr>
              <a:tr h="297180">
                <a:tc>
                  <a:txBody>
                    <a:bodyPr/>
                    <a:lstStyle/>
                    <a:p>
                      <a:pPr marL="0" indent="0">
                        <a:buNone/>
                      </a:pPr>
                      <a:r>
                        <a:rPr lang="en-US" sz="900" dirty="0">
                          <a:solidFill>
                            <a:schemeClr val="bg1">
                              <a:lumMod val="85000"/>
                            </a:schemeClr>
                          </a:solidFill>
                          <a:latin typeface="Arial" pitchFamily="34" charset="0"/>
                          <a:ea typeface="Arial" pitchFamily="34" charset="-122"/>
                          <a:cs typeface="Arial" pitchFamily="34" charset="-120"/>
                        </a:rPr>
                        <a:t>Above-ground road works</a:t>
                      </a:r>
                      <a:endParaRPr lang="en-US" sz="900" dirty="0">
                        <a:solidFill>
                          <a:schemeClr val="bg1">
                            <a:lumMod val="85000"/>
                          </a:schemeClr>
                        </a:solidFill>
                        <a:latin typeface="Arial" charset="0"/>
                        <a:ea typeface="Arial" charset="0"/>
                        <a:cs typeface="Arial" charset="0"/>
                      </a:endParaRPr>
                    </a:p>
                  </a:txBody>
                  <a:tcPr>
                    <a:lnL w="12700" cap="flat" cmpd="sng" algn="ctr">
                      <a:solidFill>
                        <a:srgbClr val="FFD619"/>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chemeClr val="bg1">
                              <a:lumMod val="85000"/>
                            </a:schemeClr>
                          </a:solidFill>
                          <a:latin typeface="Arial" pitchFamily="34" charset="0"/>
                          <a:ea typeface="Arial" pitchFamily="34" charset="-122"/>
                          <a:cs typeface="Arial" pitchFamily="34" charset="-120"/>
                        </a:rPr>
                        <a:t>€0.8M</a:t>
                      </a:r>
                      <a:endParaRPr lang="en-US" sz="900" dirty="0">
                        <a:solidFill>
                          <a:schemeClr val="bg1">
                            <a:lumMod val="85000"/>
                          </a:schemeClr>
                        </a:solidFill>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chemeClr val="bg1">
                              <a:lumMod val="85000"/>
                            </a:schemeClr>
                          </a:solidFill>
                          <a:latin typeface="Arial" pitchFamily="34" charset="0"/>
                          <a:ea typeface="Arial" pitchFamily="34" charset="-122"/>
                          <a:cs typeface="Arial" pitchFamily="34" charset="-120"/>
                        </a:rPr>
                        <a:t>30 yrs</a:t>
                      </a:r>
                      <a:endParaRPr lang="en-US" sz="900" dirty="0">
                        <a:solidFill>
                          <a:schemeClr val="bg1">
                            <a:lumMod val="85000"/>
                          </a:schemeClr>
                        </a:solidFill>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22F6AF"/>
                          </a:solidFill>
                          <a:latin typeface="Arial" pitchFamily="34" charset="0"/>
                          <a:ea typeface="Arial" pitchFamily="34" charset="-122"/>
                          <a:cs typeface="Arial" pitchFamily="34" charset="-120"/>
                        </a:rPr>
                        <a:t>€47,000/yr</a:t>
                      </a:r>
                      <a:endParaRPr lang="en-US" sz="900" dirty="0">
                        <a:solidFill>
                          <a:srgbClr val="22F6AF"/>
                        </a:solidFill>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22F6AF"/>
                          </a:solidFill>
                          <a:latin typeface="Arial" pitchFamily="34" charset="0"/>
                          <a:ea typeface="Arial" pitchFamily="34" charset="-122"/>
                          <a:cs typeface="Arial" pitchFamily="34" charset="-120"/>
                        </a:rPr>
                        <a:t>Very low</a:t>
                      </a:r>
                      <a:endParaRPr lang="en-US" sz="900" dirty="0">
                        <a:solidFill>
                          <a:srgbClr val="22F6AF"/>
                        </a:solidFill>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Yr 30 — standard road maintenance cycle</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12700" cap="flat" cmpd="sng" algn="ctr">
                      <a:solidFill>
                        <a:srgbClr val="FFD619"/>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extLst>
                  <a:ext uri="{0D108BD9-81ED-4DB2-BD59-A6C34878D82A}">
                    <a16:rowId xmlns:a16="http://schemas.microsoft.com/office/drawing/2014/main" val="10002"/>
                  </a:ext>
                </a:extLst>
              </a:tr>
              <a:tr h="297180">
                <a:tc>
                  <a:txBody>
                    <a:bodyPr/>
                    <a:lstStyle/>
                    <a:p>
                      <a:pPr marL="0" indent="0">
                        <a:buNone/>
                      </a:pPr>
                      <a:r>
                        <a:rPr lang="en-US" sz="900" dirty="0">
                          <a:solidFill>
                            <a:srgbClr val="E5E0D8"/>
                          </a:solidFill>
                          <a:latin typeface="Arial" pitchFamily="34" charset="0"/>
                          <a:ea typeface="Arial" pitchFamily="34" charset="-122"/>
                          <a:cs typeface="Arial" pitchFamily="34" charset="-120"/>
                        </a:rPr>
                        <a:t>Data room fitout</a:t>
                      </a:r>
                      <a:endParaRPr lang="en-US" sz="900" dirty="0">
                        <a:latin typeface="Arial" charset="0"/>
                        <a:ea typeface="Arial" charset="0"/>
                        <a:cs typeface="Arial" charset="0"/>
                      </a:endParaRPr>
                    </a:p>
                  </a:txBody>
                  <a:tcPr>
                    <a:lnL w="12700" cap="flat" cmpd="sng" algn="ctr">
                      <a:solidFill>
                        <a:srgbClr val="FFD619"/>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€1.0M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20 yrs</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1220"/>
                    </a:solidFill>
                  </a:tcPr>
                </a:tc>
                <a:tc>
                  <a:txBody>
                    <a:bodyPr/>
                    <a:lstStyle/>
                    <a:p>
                      <a:pPr marL="0" indent="0">
                        <a:buNone/>
                      </a:pPr>
                      <a:r>
                        <a:rPr lang="en-US" sz="900" dirty="0">
                          <a:solidFill>
                            <a:srgbClr val="D4956A"/>
                          </a:solidFill>
                          <a:latin typeface="Arial" pitchFamily="34" charset="0"/>
                          <a:ea typeface="Arial" pitchFamily="34" charset="-122"/>
                          <a:cs typeface="Arial" pitchFamily="34" charset="-120"/>
                        </a:rPr>
                        <a:t>€50,000/yr</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1220"/>
                    </a:solidFill>
                  </a:tcPr>
                </a:tc>
                <a:tc>
                  <a:txBody>
                    <a:bodyPr/>
                    <a:lstStyle/>
                    <a:p>
                      <a:pPr marL="0" indent="0">
                        <a:buNone/>
                      </a:pPr>
                      <a:r>
                        <a:rPr lang="en-US" sz="900" dirty="0">
                          <a:solidFill>
                            <a:srgbClr val="D4956A"/>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Yr 20 — outlasts 5+ rack generations</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12700" cap="flat" cmpd="sng" algn="ctr">
                      <a:solidFill>
                        <a:srgbClr val="FFD619"/>
                      </a:solidFill>
                      <a:prstDash val="solid"/>
                      <a:round/>
                      <a:headEnd type="none" w="med" len="med"/>
                      <a:tailEnd type="none" w="med" len="med"/>
                    </a:lnR>
                    <a:lnT w="3810" cap="flat" cmpd="sng" algn="ctr">
                      <a:solidFill>
                        <a:srgbClr val="1A2535"/>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A1220"/>
                    </a:solidFill>
                  </a:tcPr>
                </a:tc>
                <a:extLst>
                  <a:ext uri="{0D108BD9-81ED-4DB2-BD59-A6C34878D82A}">
                    <a16:rowId xmlns:a16="http://schemas.microsoft.com/office/drawing/2014/main" val="10003"/>
                  </a:ext>
                </a:extLst>
              </a:tr>
              <a:tr h="297180">
                <a:tc>
                  <a:txBody>
                    <a:bodyPr/>
                    <a:lstStyle/>
                    <a:p>
                      <a:pPr marL="0" indent="0">
                        <a:buNone/>
                      </a:pPr>
                      <a:r>
                        <a:rPr lang="en-US" sz="900" dirty="0">
                          <a:solidFill>
                            <a:srgbClr val="E5E0D8"/>
                          </a:solidFill>
                          <a:latin typeface="Arial" pitchFamily="34" charset="0"/>
                          <a:ea typeface="Arial" pitchFamily="34" charset="-122"/>
                          <a:cs typeface="Arial" pitchFamily="34" charset="-120"/>
                        </a:rPr>
                        <a:t>BESS — 7MWh BYD Blade LFP (2 rooms)</a:t>
                      </a:r>
                      <a:endParaRPr lang="en-US" sz="900" dirty="0">
                        <a:latin typeface="Arial" charset="0"/>
                        <a:ea typeface="Arial" charset="0"/>
                        <a:cs typeface="Arial" charset="0"/>
                      </a:endParaRPr>
                    </a:p>
                  </a:txBody>
                  <a:tcPr>
                    <a:lnL w="12700" cap="flat" cmpd="sng" algn="ctr">
                      <a:solidFill>
                        <a:srgbClr val="FFD619"/>
                      </a:solidFill>
                      <a:prstDash val="solid"/>
                      <a:round/>
                      <a:headEnd type="none" w="med" len="med"/>
                      <a:tailEnd type="none" w="med" len="med"/>
                    </a:lnL>
                    <a:lnR w="3810" cap="flat" cmpd="sng" algn="ctr">
                      <a:solidFill>
                        <a:srgbClr val="1A2535"/>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€1.9M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12 yrs</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D1B2E"/>
                    </a:solidFill>
                  </a:tcPr>
                </a:tc>
                <a:tc>
                  <a:txBody>
                    <a:bodyPr/>
                    <a:lstStyle/>
                    <a:p>
                      <a:pPr marL="0" indent="0">
                        <a:buNone/>
                      </a:pPr>
                      <a:r>
                        <a:rPr lang="en-US" sz="900" dirty="0">
                          <a:solidFill>
                            <a:srgbClr val="F0B429"/>
                          </a:solidFill>
                          <a:latin typeface="Arial" pitchFamily="34" charset="0"/>
                          <a:ea typeface="Arial" pitchFamily="34" charset="-122"/>
                          <a:cs typeface="Arial" pitchFamily="34" charset="-120"/>
                        </a:rPr>
                        <a:t>€158,000/yr</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D1B2E"/>
                    </a:solidFill>
                  </a:tcPr>
                </a:tc>
                <a:tc>
                  <a:txBody>
                    <a:bodyPr/>
                    <a:lstStyle/>
                    <a:p>
                      <a:pPr marL="0" indent="0">
                        <a:buNone/>
                      </a:pPr>
                      <a:r>
                        <a:rPr lang="en-US" sz="900" dirty="0">
                          <a:solidFill>
                            <a:srgbClr val="F0B429"/>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Yr 12 — modules €1.9M, keep enclosures &amp; switchgear</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12700" cap="flat" cmpd="sng" algn="ctr">
                      <a:solidFill>
                        <a:srgbClr val="FFD619"/>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D1B2E"/>
                    </a:solidFill>
                  </a:tcPr>
                </a:tc>
                <a:extLst>
                  <a:ext uri="{0D108BD9-81ED-4DB2-BD59-A6C34878D82A}">
                    <a16:rowId xmlns:a16="http://schemas.microsoft.com/office/drawing/2014/main" val="10004"/>
                  </a:ext>
                </a:extLst>
              </a:tr>
              <a:tr h="297180">
                <a:tc>
                  <a:txBody>
                    <a:bodyPr/>
                    <a:lstStyle/>
                    <a:p>
                      <a:pPr marL="0" indent="0">
                        <a:buNone/>
                      </a:pPr>
                      <a:r>
                        <a:rPr lang="en-US" sz="900" dirty="0">
                          <a:solidFill>
                            <a:srgbClr val="E5E0D8"/>
                          </a:solidFill>
                          <a:latin typeface="Arial" pitchFamily="34" charset="0"/>
                          <a:ea typeface="Arial" pitchFamily="34" charset="-122"/>
                          <a:cs typeface="Arial" pitchFamily="34" charset="-120"/>
                        </a:rPr>
                        <a:t>Cooling + district heating</a:t>
                      </a:r>
                      <a:endParaRPr lang="en-US" sz="900" dirty="0">
                        <a:latin typeface="Arial" charset="0"/>
                        <a:ea typeface="Arial" charset="0"/>
                        <a:cs typeface="Arial" charset="0"/>
                      </a:endParaRPr>
                    </a:p>
                  </a:txBody>
                  <a:tcPr>
                    <a:lnL w="12700" cap="flat" cmpd="sng" algn="ctr">
                      <a:solidFill>
                        <a:srgbClr val="FFD619"/>
                      </a:solidFill>
                      <a:prstDash val="solid"/>
                      <a:round/>
                      <a:headEnd type="none" w="med" len="med"/>
                      <a:tailEnd type="none" w="med" len="med"/>
                    </a:lnL>
                    <a:lnR w="3810" cap="flat" cmpd="sng" algn="ctr">
                      <a:solidFill>
                        <a:srgbClr val="1A2535"/>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€0.7M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20 yrs</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D4956A"/>
                          </a:solidFill>
                          <a:latin typeface="Arial" pitchFamily="34" charset="0"/>
                          <a:ea typeface="Arial" pitchFamily="34" charset="-122"/>
                          <a:cs typeface="Arial" pitchFamily="34" charset="-120"/>
                        </a:rPr>
                        <a:t>€35,000/yr</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D4956A"/>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Yr 20 — alongside data room fitout</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12700" cap="flat" cmpd="sng" algn="ctr">
                      <a:solidFill>
                        <a:srgbClr val="FFD619"/>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A1220"/>
                    </a:solidFill>
                  </a:tcPr>
                </a:tc>
                <a:extLst>
                  <a:ext uri="{0D108BD9-81ED-4DB2-BD59-A6C34878D82A}">
                    <a16:rowId xmlns:a16="http://schemas.microsoft.com/office/drawing/2014/main" val="10005"/>
                  </a:ext>
                </a:extLst>
              </a:tr>
              <a:tr h="297180">
                <a:tc>
                  <a:txBody>
                    <a:bodyPr/>
                    <a:lstStyle/>
                    <a:p>
                      <a:pPr marL="0" indent="0">
                        <a:buNone/>
                      </a:pPr>
                      <a:r>
                        <a:rPr lang="en-US" sz="900" dirty="0">
                          <a:solidFill>
                            <a:srgbClr val="E5E0D8"/>
                          </a:solidFill>
                          <a:latin typeface="Arial" pitchFamily="34" charset="0"/>
                          <a:ea typeface="Arial" pitchFamily="34" charset="-122"/>
                          <a:cs typeface="Arial" pitchFamily="34" charset="-120"/>
                        </a:rPr>
                        <a:t>Monitoring + security</a:t>
                      </a:r>
                      <a:endParaRPr lang="en-US" sz="900" dirty="0">
                        <a:latin typeface="Arial" charset="0"/>
                        <a:ea typeface="Arial" charset="0"/>
                        <a:cs typeface="Arial" charset="0"/>
                      </a:endParaRPr>
                    </a:p>
                  </a:txBody>
                  <a:tcPr>
                    <a:lnL w="12700" cap="flat" cmpd="sng" algn="ctr">
                      <a:solidFill>
                        <a:srgbClr val="FFD619"/>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€0.9M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10 yrs</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9CA3AF"/>
                          </a:solidFill>
                          <a:latin typeface="Arial" pitchFamily="34" charset="0"/>
                          <a:ea typeface="Arial" pitchFamily="34" charset="-122"/>
                          <a:cs typeface="Arial" pitchFamily="34" charset="-120"/>
                        </a:rPr>
                        <a:t>€90,000/yr</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9CA3AF"/>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Yr 10 — technology refresh €0.30M</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12700" cap="flat" cmpd="sng" algn="ctr">
                      <a:solidFill>
                        <a:srgbClr val="FFD619"/>
                      </a:solidFill>
                      <a:prstDash val="solid"/>
                      <a:round/>
                      <a:headEnd type="none" w="med" len="med"/>
                      <a:tailEnd type="none" w="med" len="med"/>
                    </a:lnR>
                    <a:lnT w="3810" cap="flat" cmpd="sng" algn="ctr">
                      <a:solidFill>
                        <a:srgbClr val="1A2535"/>
                      </a:solidFill>
                      <a:prstDash val="solid"/>
                      <a:round/>
                      <a:headEnd type="none" w="med" len="med"/>
                      <a:tailEnd type="none" w="med" len="med"/>
                    </a:lnT>
                    <a:lnB w="3810" cap="flat" cmpd="sng" algn="ctr">
                      <a:solidFill>
                        <a:srgbClr val="1A2535"/>
                      </a:solidFill>
                      <a:prstDash val="solid"/>
                      <a:round/>
                      <a:headEnd type="none" w="med" len="med"/>
                      <a:tailEnd type="none" w="med" len="med"/>
                    </a:lnB>
                    <a:solidFill>
                      <a:srgbClr val="0D1B2E"/>
                    </a:solidFill>
                  </a:tcPr>
                </a:tc>
                <a:extLst>
                  <a:ext uri="{0D108BD9-81ED-4DB2-BD59-A6C34878D82A}">
                    <a16:rowId xmlns:a16="http://schemas.microsoft.com/office/drawing/2014/main" val="10006"/>
                  </a:ext>
                </a:extLst>
              </a:tr>
              <a:tr h="297180">
                <a:tc>
                  <a:txBody>
                    <a:bodyPr/>
                    <a:lstStyle/>
                    <a:p>
                      <a:pPr marL="0" indent="0">
                        <a:buNone/>
                      </a:pPr>
                      <a:r>
                        <a:rPr lang="en-US" sz="900" dirty="0">
                          <a:solidFill>
                            <a:srgbClr val="E5E0D8"/>
                          </a:solidFill>
                          <a:latin typeface="Arial" pitchFamily="34" charset="0"/>
                          <a:ea typeface="Arial" pitchFamily="34" charset="-122"/>
                          <a:cs typeface="Arial" pitchFamily="34" charset="-120"/>
                        </a:rPr>
                        <a:t>IT racks VR NVL72 (Vera Rubin)</a:t>
                      </a:r>
                      <a:endParaRPr lang="en-US" sz="900" dirty="0">
                        <a:latin typeface="Arial" charset="0"/>
                        <a:ea typeface="Arial" charset="0"/>
                        <a:cs typeface="Arial" charset="0"/>
                      </a:endParaRPr>
                    </a:p>
                  </a:txBody>
                  <a:tcPr>
                    <a:lnL w="12700" cap="flat" cmpd="sng" algn="ctr">
                      <a:solidFill>
                        <a:srgbClr val="FFD619"/>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12700" cap="flat" cmpd="sng" algn="ctr">
                      <a:solidFill>
                        <a:srgbClr val="FFD619"/>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€0 to operator</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12700" cap="flat" cmpd="sng" algn="ctr">
                      <a:solidFill>
                        <a:srgbClr val="FFD619"/>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3–4 yrs</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12700" cap="flat" cmpd="sng" algn="ctr">
                      <a:solidFill>
                        <a:srgbClr val="FFD619"/>
                      </a:solidFill>
                      <a:prstDash val="solid"/>
                      <a:round/>
                      <a:headEnd type="none" w="med" len="med"/>
                      <a:tailEnd type="none" w="med" len="med"/>
                    </a:lnB>
                    <a:solidFill>
                      <a:srgbClr val="0A1220"/>
                    </a:solidFill>
                  </a:tcPr>
                </a:tc>
                <a:tc>
                  <a:txBody>
                    <a:bodyPr/>
                    <a:lstStyle/>
                    <a:p>
                      <a:pPr marL="0" indent="0">
                        <a:buNone/>
                      </a:pPr>
                      <a:r>
                        <a:rPr lang="en-US" sz="900" dirty="0">
                          <a:solidFill>
                            <a:srgbClr val="22F6AF"/>
                          </a:solidFill>
                          <a:latin typeface="Arial" pitchFamily="34" charset="0"/>
                          <a:ea typeface="Arial" pitchFamily="34" charset="-122"/>
                          <a:cs typeface="Arial" pitchFamily="34" charset="-120"/>
                        </a:rPr>
                        <a:t>€0 to operator</a:t>
                      </a:r>
                      <a:endParaRPr lang="en-US" sz="900" dirty="0">
                        <a:solidFill>
                          <a:srgbClr val="22F6AF"/>
                        </a:solidFill>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12700" cap="flat" cmpd="sng" algn="ctr">
                      <a:solidFill>
                        <a:srgbClr val="FFD619"/>
                      </a:solidFill>
                      <a:prstDash val="solid"/>
                      <a:round/>
                      <a:headEnd type="none" w="med" len="med"/>
                      <a:tailEnd type="none" w="med" len="med"/>
                    </a:lnB>
                    <a:solidFill>
                      <a:srgbClr val="0A1220"/>
                    </a:solidFill>
                  </a:tcPr>
                </a:tc>
                <a:tc>
                  <a:txBody>
                    <a:bodyPr/>
                    <a:lstStyle/>
                    <a:p>
                      <a:pPr marL="0" indent="0">
                        <a:buNone/>
                      </a:pPr>
                      <a:r>
                        <a:rPr lang="en-US" sz="900" dirty="0">
                          <a:solidFill>
                            <a:srgbClr val="22F6AF"/>
                          </a:solidFill>
                          <a:latin typeface="Arial" pitchFamily="34" charset="0"/>
                          <a:ea typeface="Arial" pitchFamily="34" charset="-122"/>
                          <a:cs typeface="Arial" pitchFamily="34" charset="-120"/>
                        </a:rPr>
                        <a:t>Zero</a:t>
                      </a:r>
                      <a:endParaRPr lang="en-US" sz="900" dirty="0">
                        <a:solidFill>
                          <a:srgbClr val="22F6AF"/>
                        </a:solidFill>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3810" cap="flat" cmpd="sng" algn="ctr">
                      <a:solidFill>
                        <a:srgbClr val="1A2535"/>
                      </a:solidFill>
                      <a:prstDash val="solid"/>
                      <a:round/>
                      <a:headEnd type="none" w="med" len="med"/>
                      <a:tailEnd type="none" w="med" len="med"/>
                    </a:lnR>
                    <a:lnT w="3810" cap="flat" cmpd="sng" algn="ctr">
                      <a:solidFill>
                        <a:srgbClr val="1A2535"/>
                      </a:solidFill>
                      <a:prstDash val="solid"/>
                      <a:round/>
                      <a:headEnd type="none" w="med" len="med"/>
                      <a:tailEnd type="none" w="med" len="med"/>
                    </a:lnT>
                    <a:lnB w="12700" cap="flat" cmpd="sng" algn="ctr">
                      <a:solidFill>
                        <a:srgbClr val="FFD619"/>
                      </a:solidFill>
                      <a:prstDash val="solid"/>
                      <a:round/>
                      <a:headEnd type="none" w="med" len="med"/>
                      <a:tailEnd type="none" w="med" len="med"/>
                    </a:lnB>
                    <a:solidFill>
                      <a:srgbClr val="0A1220"/>
                    </a:solidFill>
                  </a:tcPr>
                </a:tc>
                <a:tc>
                  <a:txBody>
                    <a:bodyPr/>
                    <a:lstStyle/>
                    <a:p>
                      <a:pPr marL="0" indent="0">
                        <a:buNone/>
                      </a:pPr>
                      <a:r>
                        <a:rPr lang="en-US" sz="900" dirty="0">
                          <a:solidFill>
                            <a:srgbClr val="E5E0D8"/>
                          </a:solidFill>
                          <a:latin typeface="Arial" pitchFamily="34" charset="0"/>
                          <a:ea typeface="Arial" pitchFamily="34" charset="-122"/>
                          <a:cs typeface="Arial" pitchFamily="34" charset="-120"/>
                        </a:rPr>
                        <a:t>Tenant owns, depreciates and replaces</a:t>
                      </a:r>
                      <a:endParaRPr lang="en-US" sz="900" dirty="0">
                        <a:latin typeface="Arial" charset="0"/>
                        <a:ea typeface="Arial" charset="0"/>
                        <a:cs typeface="Arial" charset="0"/>
                      </a:endParaRPr>
                    </a:p>
                  </a:txBody>
                  <a:tcPr>
                    <a:lnL w="3810" cap="flat" cmpd="sng" algn="ctr">
                      <a:solidFill>
                        <a:srgbClr val="1A2535"/>
                      </a:solidFill>
                      <a:prstDash val="solid"/>
                      <a:round/>
                      <a:headEnd type="none" w="med" len="med"/>
                      <a:tailEnd type="none" w="med" len="med"/>
                    </a:lnL>
                    <a:lnR w="12700" cap="flat" cmpd="sng" algn="ctr">
                      <a:solidFill>
                        <a:srgbClr val="FFD619"/>
                      </a:solidFill>
                      <a:prstDash val="solid"/>
                      <a:round/>
                      <a:headEnd type="none" w="med" len="med"/>
                      <a:tailEnd type="none" w="med" len="med"/>
                    </a:lnR>
                    <a:lnT w="3810" cap="flat" cmpd="sng" algn="ctr">
                      <a:solidFill>
                        <a:srgbClr val="1A2535"/>
                      </a:solidFill>
                      <a:prstDash val="solid"/>
                      <a:round/>
                      <a:headEnd type="none" w="med" len="med"/>
                      <a:tailEnd type="none" w="med" len="med"/>
                    </a:lnT>
                    <a:lnB w="12700" cap="flat" cmpd="sng" algn="ctr">
                      <a:solidFill>
                        <a:srgbClr val="FFD619"/>
                      </a:solidFill>
                      <a:prstDash val="solid"/>
                      <a:round/>
                      <a:headEnd type="none" w="med" len="med"/>
                      <a:tailEnd type="none" w="med" len="med"/>
                    </a:lnB>
                    <a:solidFill>
                      <a:srgbClr val="0A1220"/>
                    </a:solidFill>
                  </a:tcPr>
                </a:tc>
                <a:extLst>
                  <a:ext uri="{0D108BD9-81ED-4DB2-BD59-A6C34878D82A}">
                    <a16:rowId xmlns:a16="http://schemas.microsoft.com/office/drawing/2014/main" val="10007"/>
                  </a:ext>
                </a:extLst>
              </a:tr>
            </a:tbl>
          </a:graphicData>
        </a:graphic>
      </p:graphicFrame>
      <p:sp>
        <p:nvSpPr>
          <p:cNvPr id="6" name="Shape 3"/>
          <p:cNvSpPr/>
          <p:nvPr/>
        </p:nvSpPr>
        <p:spPr>
          <a:xfrm>
            <a:off x="411480" y="3554762"/>
            <a:ext cx="8321040" cy="384048"/>
          </a:xfrm>
          <a:prstGeom prst="rect">
            <a:avLst/>
          </a:prstGeom>
          <a:solidFill>
            <a:srgbClr val="0D1B2E"/>
          </a:solidFill>
          <a:ln w="12700">
            <a:solidFill>
              <a:srgbClr val="F0B429"/>
            </a:solidFill>
            <a:prstDash val="solid"/>
          </a:ln>
        </p:spPr>
        <p:txBody>
          <a:bodyPr/>
          <a:lstStyle/>
          <a:p>
            <a:endParaRPr lang="en-GB"/>
          </a:p>
        </p:txBody>
      </p:sp>
      <p:sp>
        <p:nvSpPr>
          <p:cNvPr id="7" name="Text 4"/>
          <p:cNvSpPr/>
          <p:nvPr/>
        </p:nvSpPr>
        <p:spPr>
          <a:xfrm>
            <a:off x="548640" y="3616524"/>
            <a:ext cx="5486400" cy="256032"/>
          </a:xfrm>
          <a:prstGeom prst="rect">
            <a:avLst/>
          </a:prstGeom>
          <a:noFill/>
          <a:ln/>
        </p:spPr>
        <p:txBody>
          <a:bodyPr wrap="square" rtlCol="0" anchor="ctr"/>
          <a:lstStyle/>
          <a:p>
            <a:pPr marL="0" indent="0">
              <a:buNone/>
            </a:pPr>
            <a:r>
              <a:rPr lang="en-US" sz="1000" dirty="0">
                <a:solidFill>
                  <a:srgbClr val="9CA3AF"/>
                </a:solidFill>
                <a:latin typeface="Arial" pitchFamily="34" charset="0"/>
                <a:ea typeface="Arial" pitchFamily="34" charset="-122"/>
                <a:cs typeface="Arial" pitchFamily="34" charset="-120"/>
              </a:rPr>
              <a:t>BLENDED OPERATOR DEPRECIATION (years 1–5)</a:t>
            </a:r>
            <a:endParaRPr lang="en-US" sz="1000" dirty="0"/>
          </a:p>
        </p:txBody>
      </p:sp>
      <p:sp>
        <p:nvSpPr>
          <p:cNvPr id="8" name="Text 5"/>
          <p:cNvSpPr/>
          <p:nvPr/>
        </p:nvSpPr>
        <p:spPr>
          <a:xfrm>
            <a:off x="5943600" y="3598236"/>
            <a:ext cx="2651760" cy="310896"/>
          </a:xfrm>
          <a:prstGeom prst="rect">
            <a:avLst/>
          </a:prstGeom>
          <a:noFill/>
          <a:ln/>
        </p:spPr>
        <p:txBody>
          <a:bodyPr wrap="square" rtlCol="0" anchor="ctr"/>
          <a:lstStyle/>
          <a:p>
            <a:pPr marL="0" indent="0" algn="r">
              <a:buNone/>
            </a:pPr>
            <a:r>
              <a:rPr lang="en-US" sz="1600" b="1" dirty="0">
                <a:solidFill>
                  <a:srgbClr val="F0B429"/>
                </a:solidFill>
                <a:latin typeface="Arial" pitchFamily="34" charset="0"/>
                <a:ea typeface="Arial" pitchFamily="34" charset="-122"/>
                <a:cs typeface="Arial" pitchFamily="34" charset="-120"/>
              </a:rPr>
              <a:t>~€503K/yr</a:t>
            </a:r>
            <a:endParaRPr lang="en-US" sz="1600" dirty="0"/>
          </a:p>
        </p:txBody>
      </p:sp>
      <p:sp>
        <p:nvSpPr>
          <p:cNvPr id="9" name="Text 6"/>
          <p:cNvSpPr/>
          <p:nvPr/>
        </p:nvSpPr>
        <p:spPr>
          <a:xfrm>
            <a:off x="411480" y="3931752"/>
            <a:ext cx="8321040" cy="384048"/>
          </a:xfrm>
          <a:prstGeom prst="rect">
            <a:avLst/>
          </a:prstGeom>
          <a:noFill/>
          <a:ln/>
        </p:spPr>
        <p:txBody>
          <a:bodyPr wrap="square" rtlCol="0" anchor="ctr"/>
          <a:lstStyle/>
          <a:p>
            <a:pPr marL="0" indent="0">
              <a:buNone/>
            </a:pPr>
            <a:r>
              <a:rPr lang="en-US" sz="1000" dirty="0">
                <a:solidFill>
                  <a:schemeClr val="bg1">
                    <a:lumMod val="85000"/>
                  </a:schemeClr>
                </a:solidFill>
                <a:latin typeface="Arial" pitchFamily="34" charset="0"/>
                <a:ea typeface="Arial" pitchFamily="34" charset="-122"/>
                <a:cs typeface="Arial" pitchFamily="34" charset="-120"/>
              </a:rPr>
              <a:t>5.4% of capex/yr — extraordinarily low for an asset generating 95%+ EBITDA margins. After year 5, blended depreciation drops to ~€413K/yr as soft costs fully amortise.</a:t>
            </a:r>
            <a:endParaRPr lang="en-US" sz="1000" dirty="0">
              <a:solidFill>
                <a:schemeClr val="bg1">
                  <a:lumMod val="85000"/>
                </a:schemeClr>
              </a:solidFill>
            </a:endParaRPr>
          </a:p>
        </p:txBody>
      </p:sp>
      <p:sp>
        <p:nvSpPr>
          <p:cNvPr id="5" name="Shape 7"/>
          <p:cNvSpPr/>
          <p:nvPr/>
        </p:nvSpPr>
        <p:spPr>
          <a:xfrm>
            <a:off x="411480" y="4370664"/>
            <a:ext cx="8321040" cy="475488"/>
          </a:xfrm>
          <a:prstGeom prst="rect">
            <a:avLst/>
          </a:prstGeom>
          <a:solidFill>
            <a:srgbClr val="0D1B2E"/>
          </a:solidFill>
          <a:ln w="12700">
            <a:solidFill>
              <a:srgbClr val="22D3EE"/>
            </a:solidFill>
            <a:prstDash val="solid"/>
          </a:ln>
        </p:spPr>
        <p:txBody>
          <a:bodyPr/>
          <a:lstStyle/>
          <a:p>
            <a:endParaRPr lang="en-GB"/>
          </a:p>
        </p:txBody>
      </p:sp>
      <p:sp>
        <p:nvSpPr>
          <p:cNvPr id="11" name="Shape 8"/>
          <p:cNvSpPr/>
          <p:nvPr/>
        </p:nvSpPr>
        <p:spPr>
          <a:xfrm>
            <a:off x="411480" y="4370664"/>
            <a:ext cx="54864" cy="475488"/>
          </a:xfrm>
          <a:prstGeom prst="rect">
            <a:avLst/>
          </a:prstGeom>
          <a:solidFill>
            <a:srgbClr val="22D3EE"/>
          </a:solidFill>
          <a:ln w="12700">
            <a:solidFill>
              <a:srgbClr val="22D3EE"/>
            </a:solidFill>
            <a:prstDash val="solid"/>
          </a:ln>
        </p:spPr>
        <p:txBody>
          <a:bodyPr/>
          <a:lstStyle/>
          <a:p>
            <a:endParaRPr lang="en-GB"/>
          </a:p>
        </p:txBody>
      </p:sp>
      <p:sp>
        <p:nvSpPr>
          <p:cNvPr id="12" name="Text 9"/>
          <p:cNvSpPr/>
          <p:nvPr/>
        </p:nvSpPr>
        <p:spPr>
          <a:xfrm>
            <a:off x="566928" y="4407240"/>
            <a:ext cx="7955280" cy="402336"/>
          </a:xfrm>
          <a:prstGeom prst="rect">
            <a:avLst/>
          </a:prstGeom>
          <a:noFill/>
          <a:ln/>
        </p:spPr>
        <p:txBody>
          <a:bodyPr wrap="square" rtlCol="0" anchor="ctr"/>
          <a:lstStyle/>
          <a:p>
            <a:pPr marL="0" indent="0">
              <a:buNone/>
            </a:pPr>
            <a:r>
              <a:rPr lang="en-US" sz="900" b="1" kern="0" spc="100" dirty="0">
                <a:solidFill>
                  <a:srgbClr val="22D3EE"/>
                </a:solidFill>
                <a:latin typeface="Arial" pitchFamily="34" charset="0"/>
                <a:ea typeface="Arial" pitchFamily="34" charset="-122"/>
                <a:cs typeface="Arial" pitchFamily="34" charset="-120"/>
              </a:rPr>
              <a:t>VR NVL72 STRUCTURAL ADVANTAGE  </a:t>
            </a:r>
            <a:r>
              <a:rPr lang="en-US" sz="900" dirty="0">
                <a:solidFill>
                  <a:schemeClr val="bg1">
                    <a:lumMod val="85000"/>
                  </a:schemeClr>
                </a:solidFill>
                <a:latin typeface="Arial" pitchFamily="34" charset="0"/>
                <a:ea typeface="Arial" pitchFamily="34" charset="-122"/>
                <a:cs typeface="Arial" pitchFamily="34" charset="-120"/>
              </a:rPr>
              <a:t>Each VR NVL72 rack uses the same Oberon rack architecture as GB300 — same footprint, same 1,875 kg/m² floor load, now with direct liquid cooling. The Umpireal precast slab-on-grade shell supports this load natively. 80% reduction in rack airflow vs GB300 means lower ventilation infrastructure cost. The building improves with every compute generation — the shell never needs modification.</a:t>
            </a:r>
            <a:endParaRPr lang="en-US" sz="900" dirty="0">
              <a:solidFill>
                <a:schemeClr val="bg1">
                  <a:lumMod val="85000"/>
                </a:schemeClr>
              </a:solidFill>
            </a:endParaRPr>
          </a:p>
        </p:txBody>
      </p:sp>
      <p:sp>
        <p:nvSpPr>
          <p:cNvPr id="13" name="Shape 10"/>
          <p:cNvSpPr/>
          <p:nvPr/>
        </p:nvSpPr>
        <p:spPr>
          <a:xfrm>
            <a:off x="0" y="4892040"/>
            <a:ext cx="9144000" cy="251460"/>
          </a:xfrm>
          <a:prstGeom prst="rect">
            <a:avLst/>
          </a:prstGeom>
          <a:solidFill>
            <a:srgbClr val="0D1B2E"/>
          </a:solidFill>
          <a:ln w="12700">
            <a:solidFill>
              <a:srgbClr val="0D1B2E"/>
            </a:solidFill>
            <a:prstDash val="solid"/>
          </a:ln>
        </p:spPr>
        <p:txBody>
          <a:bodyPr/>
          <a:lstStyle/>
          <a:p>
            <a:endParaRPr lang="en-GB"/>
          </a:p>
        </p:txBody>
      </p:sp>
      <p:sp>
        <p:nvSpPr>
          <p:cNvPr id="14" name="Shape 11"/>
          <p:cNvSpPr/>
          <p:nvPr/>
        </p:nvSpPr>
        <p:spPr>
          <a:xfrm>
            <a:off x="0" y="4892040"/>
            <a:ext cx="9144000" cy="27432"/>
          </a:xfrm>
          <a:prstGeom prst="rect">
            <a:avLst/>
          </a:prstGeom>
          <a:solidFill>
            <a:srgbClr val="B87333"/>
          </a:solidFill>
          <a:ln w="12700">
            <a:solidFill>
              <a:srgbClr val="B87333"/>
            </a:solidFill>
            <a:prstDash val="solid"/>
          </a:ln>
        </p:spPr>
        <p:txBody>
          <a:bodyPr/>
          <a:lstStyle/>
          <a:p>
            <a:endParaRPr lang="en-GB"/>
          </a:p>
        </p:txBody>
      </p:sp>
      <p:sp>
        <p:nvSpPr>
          <p:cNvPr id="15" name="Text 12"/>
          <p:cNvSpPr/>
          <p:nvPr/>
        </p:nvSpPr>
        <p:spPr>
          <a:xfrm>
            <a:off x="320040" y="4901184"/>
            <a:ext cx="4572000" cy="228600"/>
          </a:xfrm>
          <a:prstGeom prst="rect">
            <a:avLst/>
          </a:prstGeom>
          <a:noFill/>
          <a:ln/>
        </p:spPr>
        <p:txBody>
          <a:bodyPr wrap="square" rtlCol="0" anchor="ctr"/>
          <a:lstStyle/>
          <a:p>
            <a:pPr marL="0" indent="0">
              <a:buNone/>
            </a:pPr>
            <a:r>
              <a:rPr lang="en-US" sz="800" dirty="0">
                <a:solidFill>
                  <a:srgbClr val="B87333"/>
                </a:solidFill>
                <a:latin typeface="Arial" pitchFamily="34" charset="0"/>
                <a:ea typeface="Arial" pitchFamily="34" charset="-122"/>
                <a:cs typeface="Arial" pitchFamily="34" charset="-120"/>
              </a:rPr>
              <a:t>UMPIREAL  ·  CONFIDENTIAL</a:t>
            </a:r>
            <a:endParaRPr lang="en-US" sz="800" dirty="0"/>
          </a:p>
        </p:txBody>
      </p:sp>
      <p:sp>
        <p:nvSpPr>
          <p:cNvPr id="16" name="Text 13"/>
          <p:cNvSpPr/>
          <p:nvPr/>
        </p:nvSpPr>
        <p:spPr>
          <a:xfrm>
            <a:off x="4572000" y="4901184"/>
            <a:ext cx="4251960" cy="228600"/>
          </a:xfrm>
          <a:prstGeom prst="rect">
            <a:avLst/>
          </a:prstGeom>
          <a:noFill/>
          <a:ln/>
        </p:spPr>
        <p:txBody>
          <a:bodyPr wrap="square" rtlCol="0" anchor="ctr"/>
          <a:lstStyle/>
          <a:p>
            <a:pPr marL="0" indent="0" algn="r">
              <a:buNone/>
            </a:pPr>
            <a:r>
              <a:rPr lang="en-US" sz="800" dirty="0">
                <a:solidFill>
                  <a:srgbClr val="9CA3AF"/>
                </a:solidFill>
                <a:latin typeface="Arial" pitchFamily="34" charset="0"/>
                <a:ea typeface="Arial" pitchFamily="34" charset="-122"/>
                <a:cs typeface="Arial" pitchFamily="34" charset="-120"/>
              </a:rPr>
              <a:t>08 — Depreciation</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169CA-F134-E04C-3206-598159B28A32}"/>
            </a:ext>
          </a:extLst>
        </p:cNvPr>
        <p:cNvGrpSpPr/>
        <p:nvPr/>
      </p:nvGrpSpPr>
      <p:grpSpPr>
        <a:xfrm>
          <a:off x="0" y="0"/>
          <a:ext cx="0" cy="0"/>
          <a:chOff x="0" y="0"/>
          <a:chExt cx="0" cy="0"/>
        </a:xfrm>
      </p:grpSpPr>
      <p:sp>
        <p:nvSpPr>
          <p:cNvPr id="100" name="Shape 0"/>
          <p:cNvSpPr/>
          <p:nvPr/>
        </p:nvSpPr>
        <p:spPr>
          <a:xfrm>
            <a:off x="411480" y="164592"/>
            <a:ext cx="54864" cy="384048"/>
          </a:xfrm>
          <a:prstGeom prst="rect">
            <a:avLst/>
          </a:prstGeom>
          <a:solidFill>
            <a:schemeClr val="bg2">
              <a:lumMod val="90000"/>
            </a:schemeClr>
          </a:solidFill>
          <a:ln w="12700">
            <a:solidFill>
              <a:schemeClr val="bg1">
                <a:lumMod val="85000"/>
              </a:schemeClr>
            </a:solidFill>
            <a:prstDash val="solid"/>
          </a:ln>
        </p:spPr>
        <p:txBody>
          <a:bodyPr/>
          <a:lstStyle/>
          <a:p>
            <a:endParaRPr lang="en-GB"/>
          </a:p>
        </p:txBody>
      </p:sp>
      <p:sp>
        <p:nvSpPr>
          <p:cNvPr id="101" name="Text 1"/>
          <p:cNvSpPr/>
          <p:nvPr/>
        </p:nvSpPr>
        <p:spPr>
          <a:xfrm>
            <a:off x="548640" y="155448"/>
            <a:ext cx="8229600" cy="411480"/>
          </a:xfrm>
          <a:prstGeom prst="rect">
            <a:avLst/>
          </a:prstGeom>
          <a:noFill/>
          <a:ln/>
        </p:spPr>
        <p:txBody>
          <a:bodyPr wrap="square" rtlCol="0" anchor="ctr"/>
          <a:lstStyle/>
          <a:p>
            <a:pPr marL="0" indent="0">
              <a:buNone/>
            </a:pPr>
            <a:r>
              <a:rPr lang="en-US" sz="1100" b="1" kern="0" spc="300" dirty="0">
                <a:solidFill>
                  <a:schemeClr val="bg2">
                    <a:lumMod val="90000"/>
                  </a:schemeClr>
                </a:solidFill>
                <a:latin typeface="Arial" pitchFamily="34" charset="0"/>
                <a:ea typeface="Arial" pitchFamily="34" charset="-122"/>
                <a:cs typeface="Arial" pitchFamily="34" charset="-120"/>
              </a:rPr>
              <a:t>STRUCTURAL VALIDATION</a:t>
            </a:r>
            <a:endParaRPr lang="en-US" sz="1100" dirty="0">
              <a:solidFill>
                <a:schemeClr val="bg2">
                  <a:lumMod val="90000"/>
                </a:schemeClr>
              </a:solidFill>
            </a:endParaRPr>
          </a:p>
        </p:txBody>
      </p:sp>
      <p:sp>
        <p:nvSpPr>
          <p:cNvPr id="102" name="Text 2"/>
          <p:cNvSpPr/>
          <p:nvPr/>
        </p:nvSpPr>
        <p:spPr>
          <a:xfrm>
            <a:off x="411480" y="491719"/>
            <a:ext cx="8321040" cy="502920"/>
          </a:xfrm>
          <a:prstGeom prst="rect">
            <a:avLst/>
          </a:prstGeom>
          <a:noFill/>
          <a:ln/>
        </p:spPr>
        <p:txBody>
          <a:bodyPr wrap="square" rtlCol="0" anchor="ctr"/>
          <a:lstStyle/>
          <a:p>
            <a:pPr marL="0" indent="0">
              <a:buNone/>
            </a:pPr>
            <a:r>
              <a:rPr lang="en-US" sz="2000" spc="300" dirty="0">
                <a:solidFill>
                  <a:schemeClr val="bg1">
                    <a:lumMod val="85000"/>
                  </a:schemeClr>
                </a:solidFill>
                <a:latin typeface="Aptos" panose="020B0004020202020204" pitchFamily="34" charset="0"/>
                <a:ea typeface="Arial" pitchFamily="34" charset="-122"/>
                <a:cs typeface="Arial" pitchFamily="34" charset="-120"/>
              </a:rPr>
              <a:t>BS 8004 Compensated Foundation Analysis</a:t>
            </a:r>
            <a:endParaRPr lang="en-US" sz="2000" spc="300" dirty="0">
              <a:solidFill>
                <a:schemeClr val="bg1">
                  <a:lumMod val="85000"/>
                </a:schemeClr>
              </a:solidFill>
              <a:latin typeface="Aptos" panose="020B0004020202020204" pitchFamily="34" charset="0"/>
            </a:endParaRPr>
          </a:p>
        </p:txBody>
      </p:sp>
      <p:graphicFrame>
        <p:nvGraphicFramePr>
          <p:cNvPr id="4" name="Table 3">
            <a:extLst>
              <a:ext uri="{FF2B5EF4-FFF2-40B4-BE49-F238E27FC236}">
                <a16:creationId xmlns:a16="http://schemas.microsoft.com/office/drawing/2014/main" id="{4CD4D628-A278-9949-2E94-3B72CDC62BF5}"/>
              </a:ext>
            </a:extLst>
          </p:cNvPr>
          <p:cNvGraphicFramePr>
            <a:graphicFrameLocks noGrp="1"/>
          </p:cNvGraphicFramePr>
          <p:nvPr>
            <p:extLst>
              <p:ext uri="{D42A27DB-BD31-4B8C-83A1-F6EECF244321}">
                <p14:modId xmlns:p14="http://schemas.microsoft.com/office/powerpoint/2010/main" val="445343941"/>
              </p:ext>
            </p:extLst>
          </p:nvPr>
        </p:nvGraphicFramePr>
        <p:xfrm>
          <a:off x="411480" y="860000"/>
          <a:ext cx="8045115" cy="3964752"/>
        </p:xfrm>
        <a:graphic>
          <a:graphicData uri="http://schemas.openxmlformats.org/drawingml/2006/table">
            <a:tbl>
              <a:tblPr/>
              <a:tblGrid>
                <a:gridCol w="4183463">
                  <a:extLst>
                    <a:ext uri="{9D8B030D-6E8A-4147-A177-3AD203B41FA5}">
                      <a16:colId xmlns:a16="http://schemas.microsoft.com/office/drawing/2014/main" val="1208751893"/>
                    </a:ext>
                  </a:extLst>
                </a:gridCol>
                <a:gridCol w="1930826">
                  <a:extLst>
                    <a:ext uri="{9D8B030D-6E8A-4147-A177-3AD203B41FA5}">
                      <a16:colId xmlns:a16="http://schemas.microsoft.com/office/drawing/2014/main" val="2828523215"/>
                    </a:ext>
                  </a:extLst>
                </a:gridCol>
                <a:gridCol w="1930826">
                  <a:extLst>
                    <a:ext uri="{9D8B030D-6E8A-4147-A177-3AD203B41FA5}">
                      <a16:colId xmlns:a16="http://schemas.microsoft.com/office/drawing/2014/main" val="826843835"/>
                    </a:ext>
                  </a:extLst>
                </a:gridCol>
              </a:tblGrid>
              <a:tr h="190144">
                <a:tc>
                  <a:txBody>
                    <a:bodyPr/>
                    <a:lstStyle/>
                    <a:p>
                      <a:pPr algn="l">
                        <a:buNone/>
                      </a:pPr>
                      <a:r>
                        <a:rPr lang="en-GB" sz="1000" b="1">
                          <a:solidFill>
                            <a:srgbClr val="BD84FC"/>
                          </a:solidFill>
                          <a:effectLst/>
                          <a:latin typeface="Arial"/>
                        </a:rPr>
                        <a:t>Component</a:t>
                      </a:r>
                    </a:p>
                  </a:txBody>
                  <a:tcPr marL="23958" marR="23958" marT="13976" marB="13976" anchor="ctr">
                    <a:lnL w="12700" cap="flat" cmpd="sng" algn="ctr">
                      <a:solidFill>
                        <a:srgbClr val="FDCC9C"/>
                      </a:solidFill>
                      <a:prstDash val="solid"/>
                      <a:round/>
                      <a:headEnd type="none" w="med" len="med"/>
                      <a:tailEnd type="none" w="med" len="med"/>
                    </a:lnL>
                    <a:lnT w="12700" cap="flat" cmpd="sng" algn="ctr">
                      <a:solidFill>
                        <a:srgbClr val="FDCC9C"/>
                      </a:solidFill>
                      <a:prstDash val="solid"/>
                      <a:round/>
                      <a:headEnd type="none" w="med" len="med"/>
                      <a:tailEnd type="none" w="med" len="med"/>
                    </a:lnT>
                    <a:solidFill>
                      <a:srgbClr val="0D1B2E"/>
                    </a:solidFill>
                  </a:tcPr>
                </a:tc>
                <a:tc>
                  <a:txBody>
                    <a:bodyPr/>
                    <a:lstStyle/>
                    <a:p>
                      <a:pPr algn="l">
                        <a:buNone/>
                      </a:pPr>
                      <a:r>
                        <a:rPr lang="en-GB" sz="1000" b="1">
                          <a:solidFill>
                            <a:srgbClr val="BD84FC"/>
                          </a:solidFill>
                          <a:effectLst/>
                          <a:latin typeface="Arial"/>
                        </a:rPr>
                        <a:t>Basis</a:t>
                      </a:r>
                    </a:p>
                  </a:txBody>
                  <a:tcPr marL="23958" marR="23958" marT="13976" marB="13976" anchor="ctr">
                    <a:lnT w="12700" cap="flat" cmpd="sng" algn="ctr">
                      <a:solidFill>
                        <a:srgbClr val="FDCC9C"/>
                      </a:solidFill>
                      <a:prstDash val="solid"/>
                      <a:round/>
                      <a:headEnd type="none" w="med" len="med"/>
                      <a:tailEnd type="none" w="med" len="med"/>
                    </a:lnT>
                    <a:solidFill>
                      <a:srgbClr val="0D1B2E"/>
                    </a:solidFill>
                  </a:tcPr>
                </a:tc>
                <a:tc>
                  <a:txBody>
                    <a:bodyPr/>
                    <a:lstStyle/>
                    <a:p>
                      <a:pPr algn="r">
                        <a:buNone/>
                      </a:pPr>
                      <a:r>
                        <a:rPr lang="en-GB" sz="1000" b="1">
                          <a:solidFill>
                            <a:srgbClr val="BD84FC"/>
                          </a:solidFill>
                          <a:effectLst/>
                          <a:latin typeface="Arial"/>
                        </a:rPr>
                        <a:t>kN/m²</a:t>
                      </a:r>
                    </a:p>
                  </a:txBody>
                  <a:tcPr marL="23958" marR="23958" marT="13976" marB="13976" anchor="ctr">
                    <a:lnR w="12700" cap="flat" cmpd="sng" algn="ctr">
                      <a:solidFill>
                        <a:srgbClr val="FDCC9C"/>
                      </a:solidFill>
                      <a:prstDash val="solid"/>
                      <a:round/>
                      <a:headEnd type="none" w="med" len="med"/>
                      <a:tailEnd type="none" w="med" len="med"/>
                    </a:lnR>
                    <a:lnT w="12700" cap="flat" cmpd="sng" algn="ctr">
                      <a:solidFill>
                        <a:srgbClr val="FDCC9C"/>
                      </a:solidFill>
                      <a:prstDash val="solid"/>
                      <a:round/>
                      <a:headEnd type="none" w="med" len="med"/>
                      <a:tailEnd type="none" w="med" len="med"/>
                    </a:lnT>
                    <a:solidFill>
                      <a:srgbClr val="0D1B2E"/>
                    </a:solidFill>
                  </a:tcPr>
                </a:tc>
                <a:extLst>
                  <a:ext uri="{0D108BD9-81ED-4DB2-BD59-A6C34878D82A}">
                    <a16:rowId xmlns:a16="http://schemas.microsoft.com/office/drawing/2014/main" val="2119176585"/>
                  </a:ext>
                </a:extLst>
              </a:tr>
              <a:tr h="190144">
                <a:tc gridSpan="3">
                  <a:txBody>
                    <a:bodyPr/>
                    <a:lstStyle/>
                    <a:p>
                      <a:pPr algn="r" fontAlgn="ctr">
                        <a:buNone/>
                      </a:pPr>
                      <a:r>
                        <a:rPr lang="en-GB" sz="900" b="0" cap="all" dirty="0">
                          <a:solidFill>
                            <a:srgbClr val="BD84FC"/>
                          </a:solidFill>
                          <a:effectLst/>
                          <a:latin typeface="Arial"/>
                        </a:rPr>
                        <a:t>Section 1 — Gross loads at base (77 m² floor area)</a:t>
                      </a:r>
                    </a:p>
                  </a:txBody>
                  <a:tcPr marL="23958" marR="23958" marT="19965" marB="11979"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solidFill>
                      <a:srgbClr val="0D1B2E"/>
                    </a:solidFill>
                  </a:tcPr>
                </a:tc>
                <a:tc hMerge="1">
                  <a:txBody>
                    <a:bodyPr/>
                    <a:lstStyle/>
                    <a:p>
                      <a:endParaRPr lang="en-GB"/>
                    </a:p>
                  </a:txBody>
                  <a:tcPr>
                    <a:solidFill>
                      <a:srgbClr val="0D1520"/>
                    </a:solidFill>
                  </a:tcPr>
                </a:tc>
                <a:tc hMerge="1">
                  <a:txBody>
                    <a:bodyPr/>
                    <a:lstStyle/>
                    <a:p>
                      <a:endParaRPr lang="en-GB"/>
                    </a:p>
                  </a:txBody>
                  <a:tcPr>
                    <a:solidFill>
                      <a:srgbClr val="0D1520"/>
                    </a:solidFill>
                  </a:tcPr>
                </a:tc>
                <a:extLst>
                  <a:ext uri="{0D108BD9-81ED-4DB2-BD59-A6C34878D82A}">
                    <a16:rowId xmlns:a16="http://schemas.microsoft.com/office/drawing/2014/main" val="4205833746"/>
                  </a:ext>
                </a:extLst>
              </a:tr>
              <a:tr h="190144">
                <a:tc>
                  <a:txBody>
                    <a:bodyPr/>
                    <a:lstStyle/>
                    <a:p>
                      <a:pPr fontAlgn="ctr">
                        <a:buNone/>
                      </a:pPr>
                      <a:r>
                        <a:rPr lang="en-GB" sz="1000" dirty="0">
                          <a:solidFill>
                            <a:schemeClr val="bg1">
                              <a:lumMod val="85000"/>
                            </a:schemeClr>
                          </a:solidFill>
                          <a:effectLst/>
                          <a:latin typeface="Arial"/>
                        </a:rPr>
                        <a:t>Precast shell </a:t>
                      </a:r>
                      <a:r>
                        <a:rPr lang="en-GB" sz="1000" b="0" dirty="0">
                          <a:solidFill>
                            <a:schemeClr val="bg1">
                              <a:lumMod val="85000"/>
                            </a:schemeClr>
                          </a:solidFill>
                          <a:effectLst/>
                          <a:latin typeface="Arial"/>
                        </a:rPr>
                        <a:t>75 m³ @ 24.5 </a:t>
                      </a:r>
                      <a:r>
                        <a:rPr lang="en-GB" sz="1000" b="0" dirty="0" err="1">
                          <a:solidFill>
                            <a:schemeClr val="bg1">
                              <a:lumMod val="85000"/>
                            </a:schemeClr>
                          </a:solidFill>
                          <a:effectLst/>
                          <a:latin typeface="Arial"/>
                        </a:rPr>
                        <a:t>kN</a:t>
                      </a:r>
                      <a:r>
                        <a:rPr lang="en-GB" sz="1000" b="0" dirty="0">
                          <a:solidFill>
                            <a:schemeClr val="bg1">
                              <a:lumMod val="85000"/>
                            </a:schemeClr>
                          </a:solidFill>
                          <a:effectLst/>
                          <a:latin typeface="Arial"/>
                        </a:rPr>
                        <a:t>/m³ ÷ 77 m²</a:t>
                      </a:r>
                      <a:endParaRPr lang="en-GB" sz="1100" dirty="0">
                        <a:solidFill>
                          <a:schemeClr val="bg1">
                            <a:lumMod val="85000"/>
                          </a:schemeClr>
                        </a:solidFill>
                        <a:effectLst/>
                      </a:endParaRPr>
                    </a:p>
                  </a:txBody>
                  <a:tcPr marL="23958" marR="23958" marT="13976" marB="13976" anchor="ctr">
                    <a:lnL w="12700" cap="flat" cmpd="sng" algn="ctr">
                      <a:solidFill>
                        <a:srgbClr val="FDCC9C"/>
                      </a:solidFill>
                      <a:prstDash val="solid"/>
                      <a:round/>
                      <a:headEnd type="none" w="med" len="med"/>
                      <a:tailEnd type="none" w="med" len="med"/>
                    </a:lnL>
                    <a:solidFill>
                      <a:srgbClr val="0D1B2E"/>
                    </a:solidFill>
                  </a:tcPr>
                </a:tc>
                <a:tc>
                  <a:txBody>
                    <a:bodyPr/>
                    <a:lstStyle/>
                    <a:p>
                      <a:pPr fontAlgn="ctr">
                        <a:buNone/>
                      </a:pPr>
                      <a:r>
                        <a:rPr lang="en-GB" sz="1000">
                          <a:solidFill>
                            <a:srgbClr val="BD84FC"/>
                          </a:solidFill>
                          <a:effectLst/>
                          <a:latin typeface="Arial"/>
                        </a:rPr>
                        <a:t>Dead</a:t>
                      </a:r>
                    </a:p>
                  </a:txBody>
                  <a:tcPr marL="23958" marR="23958" marT="13976" marB="13976" anchor="ctr">
                    <a:solidFill>
                      <a:srgbClr val="0D1B2E"/>
                    </a:solidFill>
                  </a:tcPr>
                </a:tc>
                <a:tc>
                  <a:txBody>
                    <a:bodyPr/>
                    <a:lstStyle/>
                    <a:p>
                      <a:pPr algn="r" fontAlgn="ctr">
                        <a:buNone/>
                      </a:pPr>
                      <a:r>
                        <a:rPr lang="en-GB" sz="1000" b="0">
                          <a:solidFill>
                            <a:srgbClr val="BD84FC"/>
                          </a:solidFill>
                          <a:effectLst/>
                          <a:latin typeface="Arial"/>
                        </a:rPr>
                        <a:t>23.9</a:t>
                      </a:r>
                    </a:p>
                  </a:txBody>
                  <a:tcPr marL="23958" marR="23958" marT="13976" marB="13976" anchor="ctr">
                    <a:lnR w="12700" cap="flat" cmpd="sng" algn="ctr">
                      <a:solidFill>
                        <a:srgbClr val="FDCC9C"/>
                      </a:solidFill>
                      <a:prstDash val="solid"/>
                      <a:round/>
                      <a:headEnd type="none" w="med" len="med"/>
                      <a:tailEnd type="none" w="med" len="med"/>
                    </a:lnR>
                    <a:solidFill>
                      <a:srgbClr val="0D1B2E"/>
                    </a:solidFill>
                  </a:tcPr>
                </a:tc>
                <a:extLst>
                  <a:ext uri="{0D108BD9-81ED-4DB2-BD59-A6C34878D82A}">
                    <a16:rowId xmlns:a16="http://schemas.microsoft.com/office/drawing/2014/main" val="3254751260"/>
                  </a:ext>
                </a:extLst>
              </a:tr>
              <a:tr h="190144">
                <a:tc>
                  <a:txBody>
                    <a:bodyPr/>
                    <a:lstStyle/>
                    <a:p>
                      <a:pPr fontAlgn="ctr">
                        <a:buNone/>
                      </a:pPr>
                      <a:r>
                        <a:rPr lang="en-GB" sz="1000" dirty="0">
                          <a:solidFill>
                            <a:schemeClr val="bg1">
                              <a:lumMod val="85000"/>
                            </a:schemeClr>
                          </a:solidFill>
                          <a:effectLst/>
                          <a:latin typeface="Arial"/>
                        </a:rPr>
                        <a:t>32 × VR NVL72 racks </a:t>
                      </a:r>
                      <a:r>
                        <a:rPr lang="en-GB" sz="1000" b="0" dirty="0">
                          <a:solidFill>
                            <a:schemeClr val="bg1">
                              <a:lumMod val="85000"/>
                            </a:schemeClr>
                          </a:solidFill>
                          <a:effectLst/>
                          <a:latin typeface="Arial"/>
                        </a:rPr>
                        <a:t>49,700 kg ÷ 77 m²</a:t>
                      </a:r>
                      <a:endParaRPr lang="en-GB" sz="1100" dirty="0">
                        <a:solidFill>
                          <a:schemeClr val="bg1">
                            <a:lumMod val="85000"/>
                          </a:schemeClr>
                        </a:solidFill>
                        <a:effectLst/>
                      </a:endParaRPr>
                    </a:p>
                  </a:txBody>
                  <a:tcPr marL="23958" marR="23958" marT="13976" marB="13976" anchor="ctr">
                    <a:lnL w="12700" cap="flat" cmpd="sng" algn="ctr">
                      <a:solidFill>
                        <a:srgbClr val="FDCC9C"/>
                      </a:solidFill>
                      <a:prstDash val="solid"/>
                      <a:round/>
                      <a:headEnd type="none" w="med" len="med"/>
                      <a:tailEnd type="none" w="med" len="med"/>
                    </a:lnL>
                    <a:solidFill>
                      <a:srgbClr val="0D1B2E"/>
                    </a:solidFill>
                  </a:tcPr>
                </a:tc>
                <a:tc>
                  <a:txBody>
                    <a:bodyPr/>
                    <a:lstStyle/>
                    <a:p>
                      <a:pPr fontAlgn="ctr">
                        <a:buNone/>
                      </a:pPr>
                      <a:r>
                        <a:rPr lang="en-GB" sz="1000">
                          <a:solidFill>
                            <a:srgbClr val="BD84FC"/>
                          </a:solidFill>
                          <a:effectLst/>
                          <a:latin typeface="Arial"/>
                        </a:rPr>
                        <a:t>Dead</a:t>
                      </a:r>
                    </a:p>
                  </a:txBody>
                  <a:tcPr marL="23958" marR="23958" marT="13976" marB="13976" anchor="ctr">
                    <a:solidFill>
                      <a:srgbClr val="0D1B2E"/>
                    </a:solidFill>
                  </a:tcPr>
                </a:tc>
                <a:tc>
                  <a:txBody>
                    <a:bodyPr/>
                    <a:lstStyle/>
                    <a:p>
                      <a:pPr algn="r" fontAlgn="ctr">
                        <a:buNone/>
                      </a:pPr>
                      <a:r>
                        <a:rPr lang="en-GB" sz="1000" b="0">
                          <a:solidFill>
                            <a:srgbClr val="BD84FC"/>
                          </a:solidFill>
                          <a:effectLst/>
                          <a:latin typeface="Arial"/>
                        </a:rPr>
                        <a:t>6.3</a:t>
                      </a:r>
                    </a:p>
                  </a:txBody>
                  <a:tcPr marL="23958" marR="23958" marT="13976" marB="13976" anchor="ctr">
                    <a:lnR w="12700" cap="flat" cmpd="sng" algn="ctr">
                      <a:solidFill>
                        <a:srgbClr val="FDCC9C"/>
                      </a:solidFill>
                      <a:prstDash val="solid"/>
                      <a:round/>
                      <a:headEnd type="none" w="med" len="med"/>
                      <a:tailEnd type="none" w="med" len="med"/>
                    </a:lnR>
                    <a:solidFill>
                      <a:srgbClr val="0D1B2E"/>
                    </a:solidFill>
                  </a:tcPr>
                </a:tc>
                <a:extLst>
                  <a:ext uri="{0D108BD9-81ED-4DB2-BD59-A6C34878D82A}">
                    <a16:rowId xmlns:a16="http://schemas.microsoft.com/office/drawing/2014/main" val="3582102081"/>
                  </a:ext>
                </a:extLst>
              </a:tr>
              <a:tr h="190144">
                <a:tc>
                  <a:txBody>
                    <a:bodyPr/>
                    <a:lstStyle/>
                    <a:p>
                      <a:pPr fontAlgn="ctr">
                        <a:buNone/>
                      </a:pPr>
                      <a:r>
                        <a:rPr lang="en-GB" sz="1000" dirty="0">
                          <a:solidFill>
                            <a:schemeClr val="bg1">
                              <a:lumMod val="85000"/>
                            </a:schemeClr>
                          </a:solidFill>
                          <a:effectLst/>
                          <a:latin typeface="Arial"/>
                        </a:rPr>
                        <a:t>Road formation 600 mm </a:t>
                      </a:r>
                      <a:r>
                        <a:rPr lang="en-GB" sz="1000" b="0" dirty="0" err="1">
                          <a:solidFill>
                            <a:schemeClr val="bg1">
                              <a:lumMod val="85000"/>
                            </a:schemeClr>
                          </a:solidFill>
                          <a:effectLst/>
                          <a:latin typeface="Arial"/>
                        </a:rPr>
                        <a:t>avg</a:t>
                      </a:r>
                      <a:r>
                        <a:rPr lang="en-GB" sz="1000" b="0" dirty="0">
                          <a:solidFill>
                            <a:schemeClr val="bg1">
                              <a:lumMod val="85000"/>
                            </a:schemeClr>
                          </a:solidFill>
                          <a:effectLst/>
                          <a:latin typeface="Arial"/>
                        </a:rPr>
                        <a:t> 21 </a:t>
                      </a:r>
                      <a:r>
                        <a:rPr lang="en-GB" sz="1000" b="0" dirty="0" err="1">
                          <a:solidFill>
                            <a:schemeClr val="bg1">
                              <a:lumMod val="85000"/>
                            </a:schemeClr>
                          </a:solidFill>
                          <a:effectLst/>
                          <a:latin typeface="Arial"/>
                        </a:rPr>
                        <a:t>kN</a:t>
                      </a:r>
                      <a:r>
                        <a:rPr lang="en-GB" sz="1000" b="0" dirty="0">
                          <a:solidFill>
                            <a:schemeClr val="bg1">
                              <a:lumMod val="85000"/>
                            </a:schemeClr>
                          </a:solidFill>
                          <a:effectLst/>
                          <a:latin typeface="Arial"/>
                        </a:rPr>
                        <a:t>/m³</a:t>
                      </a:r>
                      <a:endParaRPr lang="en-GB" sz="1100" dirty="0">
                        <a:solidFill>
                          <a:schemeClr val="bg1">
                            <a:lumMod val="85000"/>
                          </a:schemeClr>
                        </a:solidFill>
                        <a:effectLst/>
                      </a:endParaRPr>
                    </a:p>
                  </a:txBody>
                  <a:tcPr marL="23958" marR="23958" marT="13976" marB="13976" anchor="ctr">
                    <a:lnL w="12700" cap="flat" cmpd="sng" algn="ctr">
                      <a:solidFill>
                        <a:srgbClr val="FDCC9C"/>
                      </a:solidFill>
                      <a:prstDash val="solid"/>
                      <a:round/>
                      <a:headEnd type="none" w="med" len="med"/>
                      <a:tailEnd type="none" w="med" len="med"/>
                    </a:lnL>
                    <a:solidFill>
                      <a:srgbClr val="0D1B2E"/>
                    </a:solidFill>
                  </a:tcPr>
                </a:tc>
                <a:tc>
                  <a:txBody>
                    <a:bodyPr/>
                    <a:lstStyle/>
                    <a:p>
                      <a:pPr fontAlgn="ctr">
                        <a:buNone/>
                      </a:pPr>
                      <a:r>
                        <a:rPr lang="en-GB" sz="1000">
                          <a:solidFill>
                            <a:srgbClr val="BD84FC"/>
                          </a:solidFill>
                          <a:effectLst/>
                          <a:latin typeface="Arial"/>
                        </a:rPr>
                        <a:t>Dead</a:t>
                      </a:r>
                    </a:p>
                  </a:txBody>
                  <a:tcPr marL="23958" marR="23958" marT="13976" marB="13976" anchor="ctr">
                    <a:solidFill>
                      <a:srgbClr val="0D1B2E"/>
                    </a:solidFill>
                  </a:tcPr>
                </a:tc>
                <a:tc>
                  <a:txBody>
                    <a:bodyPr/>
                    <a:lstStyle/>
                    <a:p>
                      <a:pPr algn="r" fontAlgn="ctr">
                        <a:buNone/>
                      </a:pPr>
                      <a:r>
                        <a:rPr lang="en-GB" sz="1000" b="0">
                          <a:solidFill>
                            <a:srgbClr val="BD84FC"/>
                          </a:solidFill>
                          <a:effectLst/>
                          <a:latin typeface="Arial"/>
                        </a:rPr>
                        <a:t>12.6</a:t>
                      </a:r>
                    </a:p>
                  </a:txBody>
                  <a:tcPr marL="23958" marR="23958" marT="13976" marB="13976" anchor="ctr">
                    <a:lnR w="12700" cap="flat" cmpd="sng" algn="ctr">
                      <a:solidFill>
                        <a:srgbClr val="FDCC9C"/>
                      </a:solidFill>
                      <a:prstDash val="solid"/>
                      <a:round/>
                      <a:headEnd type="none" w="med" len="med"/>
                      <a:tailEnd type="none" w="med" len="med"/>
                    </a:lnR>
                    <a:solidFill>
                      <a:srgbClr val="0D1B2E"/>
                    </a:solidFill>
                  </a:tcPr>
                </a:tc>
                <a:extLst>
                  <a:ext uri="{0D108BD9-81ED-4DB2-BD59-A6C34878D82A}">
                    <a16:rowId xmlns:a16="http://schemas.microsoft.com/office/drawing/2014/main" val="1451860285"/>
                  </a:ext>
                </a:extLst>
              </a:tr>
              <a:tr h="190144">
                <a:tc>
                  <a:txBody>
                    <a:bodyPr/>
                    <a:lstStyle/>
                    <a:p>
                      <a:pPr fontAlgn="ctr">
                        <a:buNone/>
                      </a:pPr>
                      <a:r>
                        <a:rPr lang="en-GB" sz="1000" dirty="0">
                          <a:solidFill>
                            <a:schemeClr val="bg1">
                              <a:lumMod val="85000"/>
                            </a:schemeClr>
                          </a:solidFill>
                          <a:effectLst/>
                          <a:latin typeface="Arial"/>
                        </a:rPr>
                        <a:t>Hardcore 300 mm </a:t>
                      </a:r>
                      <a:r>
                        <a:rPr lang="en-GB" sz="1000" b="0" dirty="0">
                          <a:solidFill>
                            <a:schemeClr val="bg1">
                              <a:lumMod val="85000"/>
                            </a:schemeClr>
                          </a:solidFill>
                          <a:effectLst/>
                          <a:latin typeface="Arial"/>
                        </a:rPr>
                        <a:t>crushed stone 20 </a:t>
                      </a:r>
                      <a:r>
                        <a:rPr lang="en-GB" sz="1000" b="0" dirty="0" err="1">
                          <a:solidFill>
                            <a:schemeClr val="bg1">
                              <a:lumMod val="85000"/>
                            </a:schemeClr>
                          </a:solidFill>
                          <a:effectLst/>
                          <a:latin typeface="Arial"/>
                        </a:rPr>
                        <a:t>kN</a:t>
                      </a:r>
                      <a:r>
                        <a:rPr lang="en-GB" sz="1000" b="0" dirty="0">
                          <a:solidFill>
                            <a:schemeClr val="bg1">
                              <a:lumMod val="85000"/>
                            </a:schemeClr>
                          </a:solidFill>
                          <a:effectLst/>
                          <a:latin typeface="Arial"/>
                        </a:rPr>
                        <a:t>/m³</a:t>
                      </a:r>
                      <a:endParaRPr lang="en-GB" sz="1100" dirty="0">
                        <a:solidFill>
                          <a:schemeClr val="bg1">
                            <a:lumMod val="85000"/>
                          </a:schemeClr>
                        </a:solidFill>
                        <a:effectLst/>
                      </a:endParaRPr>
                    </a:p>
                  </a:txBody>
                  <a:tcPr marL="23958" marR="23958" marT="13976" marB="13976" anchor="ctr">
                    <a:lnL w="12700" cap="flat" cmpd="sng" algn="ctr">
                      <a:solidFill>
                        <a:srgbClr val="FDCC9C"/>
                      </a:solidFill>
                      <a:prstDash val="solid"/>
                      <a:round/>
                      <a:headEnd type="none" w="med" len="med"/>
                      <a:tailEnd type="none" w="med" len="med"/>
                    </a:lnL>
                    <a:solidFill>
                      <a:srgbClr val="0D1B2E"/>
                    </a:solidFill>
                  </a:tcPr>
                </a:tc>
                <a:tc>
                  <a:txBody>
                    <a:bodyPr/>
                    <a:lstStyle/>
                    <a:p>
                      <a:pPr fontAlgn="ctr">
                        <a:buNone/>
                      </a:pPr>
                      <a:r>
                        <a:rPr lang="en-GB" sz="1000">
                          <a:solidFill>
                            <a:srgbClr val="BD84FC"/>
                          </a:solidFill>
                          <a:effectLst/>
                          <a:latin typeface="Arial"/>
                        </a:rPr>
                        <a:t>Dead</a:t>
                      </a:r>
                    </a:p>
                  </a:txBody>
                  <a:tcPr marL="23958" marR="23958" marT="13976" marB="13976" anchor="ctr">
                    <a:solidFill>
                      <a:srgbClr val="0D1B2E"/>
                    </a:solidFill>
                  </a:tcPr>
                </a:tc>
                <a:tc>
                  <a:txBody>
                    <a:bodyPr/>
                    <a:lstStyle/>
                    <a:p>
                      <a:pPr algn="r" fontAlgn="ctr">
                        <a:buNone/>
                      </a:pPr>
                      <a:r>
                        <a:rPr lang="en-GB" sz="1000" b="0">
                          <a:solidFill>
                            <a:srgbClr val="BD84FC"/>
                          </a:solidFill>
                          <a:effectLst/>
                          <a:latin typeface="Arial"/>
                        </a:rPr>
                        <a:t>6.0</a:t>
                      </a:r>
                    </a:p>
                  </a:txBody>
                  <a:tcPr marL="23958" marR="23958" marT="13976" marB="13976" anchor="ctr">
                    <a:lnR w="12700" cap="flat" cmpd="sng" algn="ctr">
                      <a:solidFill>
                        <a:srgbClr val="FDCC9C"/>
                      </a:solidFill>
                      <a:prstDash val="solid"/>
                      <a:round/>
                      <a:headEnd type="none" w="med" len="med"/>
                      <a:tailEnd type="none" w="med" len="med"/>
                    </a:lnR>
                    <a:solidFill>
                      <a:srgbClr val="0D1B2E"/>
                    </a:solidFill>
                  </a:tcPr>
                </a:tc>
                <a:extLst>
                  <a:ext uri="{0D108BD9-81ED-4DB2-BD59-A6C34878D82A}">
                    <a16:rowId xmlns:a16="http://schemas.microsoft.com/office/drawing/2014/main" val="1318679947"/>
                  </a:ext>
                </a:extLst>
              </a:tr>
              <a:tr h="190144">
                <a:tc>
                  <a:txBody>
                    <a:bodyPr/>
                    <a:lstStyle/>
                    <a:p>
                      <a:pPr fontAlgn="ctr">
                        <a:buNone/>
                      </a:pPr>
                      <a:r>
                        <a:rPr lang="en-GB" sz="1000" dirty="0">
                          <a:solidFill>
                            <a:schemeClr val="bg1">
                              <a:lumMod val="85000"/>
                            </a:schemeClr>
                          </a:solidFill>
                          <a:effectLst/>
                          <a:latin typeface="Arial"/>
                        </a:rPr>
                        <a:t>100 t live traffic </a:t>
                      </a:r>
                      <a:r>
                        <a:rPr lang="en-GB" sz="1000" b="0" dirty="0">
                          <a:solidFill>
                            <a:schemeClr val="bg1">
                              <a:lumMod val="85000"/>
                            </a:schemeClr>
                          </a:solidFill>
                          <a:effectLst/>
                          <a:latin typeface="Arial"/>
                        </a:rPr>
                        <a:t>2 × 44t HGVs, direct on roof slab</a:t>
                      </a:r>
                      <a:endParaRPr lang="en-GB" sz="1100" dirty="0">
                        <a:solidFill>
                          <a:schemeClr val="bg1">
                            <a:lumMod val="85000"/>
                          </a:schemeClr>
                        </a:solidFill>
                        <a:effectLst/>
                      </a:endParaRPr>
                    </a:p>
                  </a:txBody>
                  <a:tcPr marL="23958" marR="23958" marT="13976" marB="13976" anchor="ctr">
                    <a:lnL w="12700" cap="flat" cmpd="sng" algn="ctr">
                      <a:solidFill>
                        <a:srgbClr val="FDCC9C"/>
                      </a:solidFill>
                      <a:prstDash val="solid"/>
                      <a:round/>
                      <a:headEnd type="none" w="med" len="med"/>
                      <a:tailEnd type="none" w="med" len="med"/>
                    </a:lnL>
                    <a:solidFill>
                      <a:srgbClr val="0D1B2E"/>
                    </a:solidFill>
                  </a:tcPr>
                </a:tc>
                <a:tc>
                  <a:txBody>
                    <a:bodyPr/>
                    <a:lstStyle/>
                    <a:p>
                      <a:pPr fontAlgn="ctr">
                        <a:buNone/>
                      </a:pPr>
                      <a:r>
                        <a:rPr lang="en-GB" sz="1000">
                          <a:solidFill>
                            <a:srgbClr val="BD84FC"/>
                          </a:solidFill>
                          <a:effectLst/>
                          <a:latin typeface="Arial"/>
                        </a:rPr>
                        <a:t>Live</a:t>
                      </a:r>
                    </a:p>
                  </a:txBody>
                  <a:tcPr marL="23958" marR="23958" marT="13976" marB="13976" anchor="ctr">
                    <a:solidFill>
                      <a:srgbClr val="0D1B2E"/>
                    </a:solidFill>
                  </a:tcPr>
                </a:tc>
                <a:tc>
                  <a:txBody>
                    <a:bodyPr/>
                    <a:lstStyle/>
                    <a:p>
                      <a:pPr algn="r" fontAlgn="ctr">
                        <a:buNone/>
                      </a:pPr>
                      <a:r>
                        <a:rPr lang="en-GB" sz="1000" b="0">
                          <a:solidFill>
                            <a:srgbClr val="BD84FC"/>
                          </a:solidFill>
                          <a:effectLst/>
                          <a:latin typeface="Arial"/>
                        </a:rPr>
                        <a:t>13.0</a:t>
                      </a:r>
                    </a:p>
                  </a:txBody>
                  <a:tcPr marL="23958" marR="23958" marT="13976" marB="13976" anchor="ctr">
                    <a:lnR w="12700" cap="flat" cmpd="sng" algn="ctr">
                      <a:solidFill>
                        <a:srgbClr val="FDCC9C"/>
                      </a:solidFill>
                      <a:prstDash val="solid"/>
                      <a:round/>
                      <a:headEnd type="none" w="med" len="med"/>
                      <a:tailEnd type="none" w="med" len="med"/>
                    </a:lnR>
                    <a:solidFill>
                      <a:srgbClr val="0D1B2E"/>
                    </a:solidFill>
                  </a:tcPr>
                </a:tc>
                <a:extLst>
                  <a:ext uri="{0D108BD9-81ED-4DB2-BD59-A6C34878D82A}">
                    <a16:rowId xmlns:a16="http://schemas.microsoft.com/office/drawing/2014/main" val="2141154973"/>
                  </a:ext>
                </a:extLst>
              </a:tr>
              <a:tr h="190144">
                <a:tc gridSpan="2">
                  <a:txBody>
                    <a:bodyPr/>
                    <a:lstStyle/>
                    <a:p>
                      <a:pPr fontAlgn="ctr">
                        <a:buNone/>
                      </a:pPr>
                      <a:r>
                        <a:rPr lang="en-GB" sz="1100" b="1" dirty="0">
                          <a:solidFill>
                            <a:srgbClr val="BD84FC"/>
                          </a:solidFill>
                          <a:effectLst/>
                          <a:latin typeface="Arial"/>
                        </a:rPr>
                        <a:t>Gross total at base</a:t>
                      </a:r>
                    </a:p>
                  </a:txBody>
                  <a:tcPr marL="23958" marR="23958" marT="13976" marB="13976" anchor="ctr">
                    <a:lnL w="12700" cap="flat" cmpd="sng" algn="ctr">
                      <a:solidFill>
                        <a:srgbClr val="FDCC9C"/>
                      </a:solidFill>
                      <a:prstDash val="solid"/>
                      <a:round/>
                      <a:headEnd type="none" w="med" len="med"/>
                      <a:tailEnd type="none" w="med" len="med"/>
                    </a:lnL>
                    <a:solidFill>
                      <a:srgbClr val="0D1B2E"/>
                    </a:solidFill>
                  </a:tcPr>
                </a:tc>
                <a:tc hMerge="1">
                  <a:txBody>
                    <a:bodyPr/>
                    <a:lstStyle/>
                    <a:p>
                      <a:endParaRPr lang="en-GB"/>
                    </a:p>
                  </a:txBody>
                  <a:tcPr>
                    <a:solidFill>
                      <a:srgbClr val="0D1520"/>
                    </a:solidFill>
                  </a:tcPr>
                </a:tc>
                <a:tc>
                  <a:txBody>
                    <a:bodyPr/>
                    <a:lstStyle/>
                    <a:p>
                      <a:pPr algn="r" fontAlgn="ctr">
                        <a:buNone/>
                      </a:pPr>
                      <a:r>
                        <a:rPr lang="en-GB" sz="1100" b="1">
                          <a:solidFill>
                            <a:srgbClr val="BD84FC"/>
                          </a:solidFill>
                          <a:effectLst/>
                          <a:latin typeface="Arial"/>
                        </a:rPr>
                        <a:t>61.8</a:t>
                      </a:r>
                    </a:p>
                  </a:txBody>
                  <a:tcPr marL="23958" marR="23958" marT="13976" marB="13976" anchor="ctr">
                    <a:lnR w="12700" cap="flat" cmpd="sng" algn="ctr">
                      <a:solidFill>
                        <a:srgbClr val="FDCC9C"/>
                      </a:solidFill>
                      <a:prstDash val="solid"/>
                      <a:round/>
                      <a:headEnd type="none" w="med" len="med"/>
                      <a:tailEnd type="none" w="med" len="med"/>
                    </a:lnR>
                    <a:solidFill>
                      <a:srgbClr val="0D1B2E"/>
                    </a:solidFill>
                  </a:tcPr>
                </a:tc>
                <a:extLst>
                  <a:ext uri="{0D108BD9-81ED-4DB2-BD59-A6C34878D82A}">
                    <a16:rowId xmlns:a16="http://schemas.microsoft.com/office/drawing/2014/main" val="2215994047"/>
                  </a:ext>
                </a:extLst>
              </a:tr>
              <a:tr h="190144">
                <a:tc gridSpan="3">
                  <a:txBody>
                    <a:bodyPr/>
                    <a:lstStyle/>
                    <a:p>
                      <a:pPr algn="r" fontAlgn="ctr">
                        <a:buNone/>
                      </a:pPr>
                      <a:endParaRPr lang="en-GB" sz="1100" b="0" dirty="0">
                        <a:solidFill>
                          <a:srgbClr val="BD84FC"/>
                        </a:solidFill>
                        <a:effectLst/>
                      </a:endParaRPr>
                    </a:p>
                  </a:txBody>
                  <a:tcPr marL="23958" marR="23958" marT="13976" marB="13976"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solidFill>
                      <a:srgbClr val="0D1B2E"/>
                    </a:solidFill>
                  </a:tcPr>
                </a:tc>
                <a:tc hMerge="1">
                  <a:txBody>
                    <a:bodyPr/>
                    <a:lstStyle/>
                    <a:p>
                      <a:endParaRPr lang="en-GB"/>
                    </a:p>
                  </a:txBody>
                  <a:tcPr>
                    <a:solidFill>
                      <a:srgbClr val="050D1A"/>
                    </a:solidFill>
                  </a:tcPr>
                </a:tc>
                <a:tc hMerge="1">
                  <a:txBody>
                    <a:bodyPr/>
                    <a:lstStyle/>
                    <a:p>
                      <a:endParaRPr lang="en-GB"/>
                    </a:p>
                  </a:txBody>
                  <a:tcPr>
                    <a:solidFill>
                      <a:srgbClr val="050D1A"/>
                    </a:solidFill>
                  </a:tcPr>
                </a:tc>
                <a:extLst>
                  <a:ext uri="{0D108BD9-81ED-4DB2-BD59-A6C34878D82A}">
                    <a16:rowId xmlns:a16="http://schemas.microsoft.com/office/drawing/2014/main" val="1407215345"/>
                  </a:ext>
                </a:extLst>
              </a:tr>
              <a:tr h="190144">
                <a:tc gridSpan="3">
                  <a:txBody>
                    <a:bodyPr/>
                    <a:lstStyle/>
                    <a:p>
                      <a:pPr algn="r" fontAlgn="ctr">
                        <a:buNone/>
                      </a:pPr>
                      <a:r>
                        <a:rPr lang="en-GB" sz="900" b="0" cap="all" dirty="0">
                          <a:solidFill>
                            <a:srgbClr val="BD84FC"/>
                          </a:solidFill>
                          <a:effectLst/>
                          <a:latin typeface="Arial"/>
                        </a:rPr>
                        <a:t>Section 2 — Excavation credit (qₙᵤ = qᵤ − </a:t>
                      </a:r>
                      <a:r>
                        <a:rPr lang="el-GR" sz="900" b="0" cap="all" dirty="0">
                          <a:solidFill>
                            <a:srgbClr val="BD84FC"/>
                          </a:solidFill>
                          <a:effectLst/>
                          <a:latin typeface="Arial"/>
                        </a:rPr>
                        <a:t>γ</a:t>
                      </a:r>
                      <a:r>
                        <a:rPr lang="en-GB" sz="900" b="0" cap="all" dirty="0" err="1">
                          <a:solidFill>
                            <a:srgbClr val="BD84FC"/>
                          </a:solidFill>
                          <a:effectLst/>
                          <a:latin typeface="Arial"/>
                        </a:rPr>
                        <a:t>Df</a:t>
                      </a:r>
                      <a:r>
                        <a:rPr lang="en-GB" sz="900" b="0" cap="all" dirty="0">
                          <a:solidFill>
                            <a:srgbClr val="BD84FC"/>
                          </a:solidFill>
                          <a:effectLst/>
                          <a:latin typeface="Arial"/>
                        </a:rPr>
                        <a:t>)</a:t>
                      </a:r>
                    </a:p>
                  </a:txBody>
                  <a:tcPr marL="23958" marR="23958" marT="19965" marB="11979"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solidFill>
                      <a:srgbClr val="0D1B2E"/>
                    </a:solidFill>
                  </a:tcPr>
                </a:tc>
                <a:tc hMerge="1">
                  <a:txBody>
                    <a:bodyPr/>
                    <a:lstStyle/>
                    <a:p>
                      <a:endParaRPr lang="en-GB"/>
                    </a:p>
                  </a:txBody>
                  <a:tcPr>
                    <a:solidFill>
                      <a:srgbClr val="0D1520"/>
                    </a:solidFill>
                  </a:tcPr>
                </a:tc>
                <a:tc hMerge="1">
                  <a:txBody>
                    <a:bodyPr/>
                    <a:lstStyle/>
                    <a:p>
                      <a:endParaRPr lang="en-GB"/>
                    </a:p>
                  </a:txBody>
                  <a:tcPr>
                    <a:solidFill>
                      <a:srgbClr val="0D1520"/>
                    </a:solidFill>
                  </a:tcPr>
                </a:tc>
                <a:extLst>
                  <a:ext uri="{0D108BD9-81ED-4DB2-BD59-A6C34878D82A}">
                    <a16:rowId xmlns:a16="http://schemas.microsoft.com/office/drawing/2014/main" val="2014262722"/>
                  </a:ext>
                </a:extLst>
              </a:tr>
              <a:tr h="190144">
                <a:tc>
                  <a:txBody>
                    <a:bodyPr/>
                    <a:lstStyle/>
                    <a:p>
                      <a:pPr fontAlgn="ctr">
                        <a:buNone/>
                      </a:pPr>
                      <a:r>
                        <a:rPr lang="fr-FR" sz="1000" dirty="0" err="1">
                          <a:solidFill>
                            <a:srgbClr val="BD84FC"/>
                          </a:solidFill>
                          <a:effectLst/>
                          <a:latin typeface="Arial"/>
                        </a:rPr>
                        <a:t>Soil</a:t>
                      </a:r>
                      <a:r>
                        <a:rPr lang="fr-FR" sz="1000" dirty="0">
                          <a:solidFill>
                            <a:srgbClr val="BD84FC"/>
                          </a:solidFill>
                          <a:effectLst/>
                          <a:latin typeface="Arial"/>
                        </a:rPr>
                        <a:t> </a:t>
                      </a:r>
                      <a:r>
                        <a:rPr lang="fr-FR" sz="1000" dirty="0" err="1">
                          <a:solidFill>
                            <a:srgbClr val="BD84FC"/>
                          </a:solidFill>
                          <a:effectLst/>
                          <a:latin typeface="Arial"/>
                        </a:rPr>
                        <a:t>displacement</a:t>
                      </a:r>
                      <a:r>
                        <a:rPr lang="fr-FR" sz="1000" dirty="0">
                          <a:solidFill>
                            <a:srgbClr val="BD84FC"/>
                          </a:solidFill>
                          <a:effectLst/>
                          <a:latin typeface="Arial"/>
                        </a:rPr>
                        <a:t> </a:t>
                      </a:r>
                      <a:r>
                        <a:rPr lang="fr-FR" sz="1000" dirty="0" err="1">
                          <a:solidFill>
                            <a:srgbClr val="BD84FC"/>
                          </a:solidFill>
                          <a:effectLst/>
                          <a:latin typeface="Arial"/>
                        </a:rPr>
                        <a:t>credit</a:t>
                      </a:r>
                      <a:r>
                        <a:rPr lang="fr-FR" sz="1000" dirty="0">
                          <a:solidFill>
                            <a:srgbClr val="BD84FC"/>
                          </a:solidFill>
                          <a:effectLst/>
                          <a:latin typeface="Arial"/>
                        </a:rPr>
                        <a:t> </a:t>
                      </a:r>
                      <a:r>
                        <a:rPr lang="fr-FR" sz="1000" b="0" dirty="0">
                          <a:solidFill>
                            <a:srgbClr val="BD84FC"/>
                          </a:solidFill>
                          <a:effectLst/>
                          <a:latin typeface="Arial"/>
                        </a:rPr>
                        <a:t>2.3 m × 1.9 t/m³ × 9.81 = 42.8 kN/m²</a:t>
                      </a:r>
                      <a:endParaRPr lang="fr-FR" sz="1100" dirty="0">
                        <a:solidFill>
                          <a:srgbClr val="BD84FC"/>
                        </a:solidFill>
                        <a:effectLst/>
                      </a:endParaRPr>
                    </a:p>
                  </a:txBody>
                  <a:tcPr marL="23958" marR="23958" marT="13976" marB="13976" anchor="ctr">
                    <a:lnL w="12700" cap="flat" cmpd="sng" algn="ctr">
                      <a:solidFill>
                        <a:srgbClr val="FDCC9C"/>
                      </a:solidFill>
                      <a:prstDash val="solid"/>
                      <a:round/>
                      <a:headEnd type="none" w="med" len="med"/>
                      <a:tailEnd type="none" w="med" len="med"/>
                    </a:lnL>
                    <a:solidFill>
                      <a:srgbClr val="0D1B2E"/>
                    </a:solidFill>
                  </a:tcPr>
                </a:tc>
                <a:tc>
                  <a:txBody>
                    <a:bodyPr/>
                    <a:lstStyle/>
                    <a:p>
                      <a:pPr fontAlgn="ctr">
                        <a:buNone/>
                      </a:pPr>
                      <a:r>
                        <a:rPr lang="en-GB" sz="1000">
                          <a:solidFill>
                            <a:srgbClr val="BD84FC"/>
                          </a:solidFill>
                          <a:effectLst/>
                          <a:latin typeface="Arial"/>
                        </a:rPr>
                        <a:t>BS 8004 </a:t>
                      </a:r>
                      <a:r>
                        <a:rPr lang="el-GR" sz="1000">
                          <a:solidFill>
                            <a:srgbClr val="BD84FC"/>
                          </a:solidFill>
                          <a:effectLst/>
                          <a:latin typeface="Arial"/>
                        </a:rPr>
                        <a:t>γ</a:t>
                      </a:r>
                      <a:r>
                        <a:rPr lang="en-GB" sz="1000">
                          <a:solidFill>
                            <a:srgbClr val="BD84FC"/>
                          </a:solidFill>
                          <a:effectLst/>
                          <a:latin typeface="Arial"/>
                        </a:rPr>
                        <a:t>Df</a:t>
                      </a:r>
                    </a:p>
                  </a:txBody>
                  <a:tcPr marL="23958" marR="23958" marT="13976" marB="13976" anchor="ctr">
                    <a:solidFill>
                      <a:srgbClr val="0D1B2E"/>
                    </a:solidFill>
                  </a:tcPr>
                </a:tc>
                <a:tc>
                  <a:txBody>
                    <a:bodyPr/>
                    <a:lstStyle/>
                    <a:p>
                      <a:pPr algn="r" fontAlgn="ctr">
                        <a:buNone/>
                      </a:pPr>
                      <a:r>
                        <a:rPr lang="en-GB" sz="1000" b="0">
                          <a:solidFill>
                            <a:srgbClr val="BD84FC"/>
                          </a:solidFill>
                          <a:effectLst/>
                          <a:latin typeface="Arial"/>
                        </a:rPr>
                        <a:t>−43.0</a:t>
                      </a:r>
                    </a:p>
                  </a:txBody>
                  <a:tcPr marL="23958" marR="23958" marT="13976" marB="13976" anchor="ctr">
                    <a:lnR w="12700" cap="flat" cmpd="sng" algn="ctr">
                      <a:solidFill>
                        <a:srgbClr val="FDCC9C"/>
                      </a:solidFill>
                      <a:prstDash val="solid"/>
                      <a:round/>
                      <a:headEnd type="none" w="med" len="med"/>
                      <a:tailEnd type="none" w="med" len="med"/>
                    </a:lnR>
                    <a:solidFill>
                      <a:srgbClr val="0D1B2E"/>
                    </a:solidFill>
                  </a:tcPr>
                </a:tc>
                <a:extLst>
                  <a:ext uri="{0D108BD9-81ED-4DB2-BD59-A6C34878D82A}">
                    <a16:rowId xmlns:a16="http://schemas.microsoft.com/office/drawing/2014/main" val="173985389"/>
                  </a:ext>
                </a:extLst>
              </a:tr>
              <a:tr h="190144">
                <a:tc gridSpan="2">
                  <a:txBody>
                    <a:bodyPr/>
                    <a:lstStyle/>
                    <a:p>
                      <a:pPr fontAlgn="ctr">
                        <a:buNone/>
                      </a:pPr>
                      <a:r>
                        <a:rPr lang="en-GB" sz="1100" b="1" dirty="0">
                          <a:solidFill>
                            <a:srgbClr val="BD84FC"/>
                          </a:solidFill>
                          <a:effectLst/>
                          <a:latin typeface="Arial"/>
                        </a:rPr>
                        <a:t>Net bearing pressure at foundation level</a:t>
                      </a:r>
                    </a:p>
                  </a:txBody>
                  <a:tcPr marL="23958" marR="23958" marT="13976" marB="13976" anchor="ctr">
                    <a:lnL w="12700" cap="flat" cmpd="sng" algn="ctr">
                      <a:solidFill>
                        <a:srgbClr val="FDCC9C"/>
                      </a:solidFill>
                      <a:prstDash val="solid"/>
                      <a:round/>
                      <a:headEnd type="none" w="med" len="med"/>
                      <a:tailEnd type="none" w="med" len="med"/>
                    </a:lnL>
                    <a:solidFill>
                      <a:srgbClr val="0D1B2E"/>
                    </a:solidFill>
                  </a:tcPr>
                </a:tc>
                <a:tc hMerge="1">
                  <a:txBody>
                    <a:bodyPr/>
                    <a:lstStyle/>
                    <a:p>
                      <a:endParaRPr lang="en-GB"/>
                    </a:p>
                  </a:txBody>
                  <a:tcPr>
                    <a:solidFill>
                      <a:srgbClr val="091525"/>
                    </a:solidFill>
                  </a:tcPr>
                </a:tc>
                <a:tc>
                  <a:txBody>
                    <a:bodyPr/>
                    <a:lstStyle/>
                    <a:p>
                      <a:pPr algn="r" fontAlgn="ctr">
                        <a:buNone/>
                      </a:pPr>
                      <a:r>
                        <a:rPr lang="en-GB" sz="1100" b="1">
                          <a:solidFill>
                            <a:srgbClr val="BD84FC"/>
                          </a:solidFill>
                          <a:effectLst/>
                          <a:latin typeface="Arial"/>
                        </a:rPr>
                        <a:t>18.8</a:t>
                      </a:r>
                    </a:p>
                  </a:txBody>
                  <a:tcPr marL="23958" marR="23958" marT="13976" marB="13976" anchor="ctr">
                    <a:lnR w="12700" cap="flat" cmpd="sng" algn="ctr">
                      <a:solidFill>
                        <a:srgbClr val="FDCC9C"/>
                      </a:solidFill>
                      <a:prstDash val="solid"/>
                      <a:round/>
                      <a:headEnd type="none" w="med" len="med"/>
                      <a:tailEnd type="none" w="med" len="med"/>
                    </a:lnR>
                    <a:solidFill>
                      <a:srgbClr val="0D1B2E"/>
                    </a:solidFill>
                  </a:tcPr>
                </a:tc>
                <a:extLst>
                  <a:ext uri="{0D108BD9-81ED-4DB2-BD59-A6C34878D82A}">
                    <a16:rowId xmlns:a16="http://schemas.microsoft.com/office/drawing/2014/main" val="3018004909"/>
                  </a:ext>
                </a:extLst>
              </a:tr>
              <a:tr h="190144">
                <a:tc gridSpan="3">
                  <a:txBody>
                    <a:bodyPr/>
                    <a:lstStyle/>
                    <a:p>
                      <a:pPr algn="r" fontAlgn="ctr">
                        <a:buNone/>
                      </a:pPr>
                      <a:endParaRPr lang="en-GB" sz="1100" b="0" dirty="0">
                        <a:solidFill>
                          <a:srgbClr val="BD84FC"/>
                        </a:solidFill>
                        <a:effectLst/>
                      </a:endParaRPr>
                    </a:p>
                  </a:txBody>
                  <a:tcPr marL="23958" marR="23958" marT="13976" marB="13976"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solidFill>
                      <a:srgbClr val="0D1B2E"/>
                    </a:solidFill>
                  </a:tcPr>
                </a:tc>
                <a:tc hMerge="1">
                  <a:txBody>
                    <a:bodyPr/>
                    <a:lstStyle/>
                    <a:p>
                      <a:endParaRPr lang="en-GB"/>
                    </a:p>
                  </a:txBody>
                  <a:tcPr>
                    <a:solidFill>
                      <a:srgbClr val="050D1A"/>
                    </a:solidFill>
                  </a:tcPr>
                </a:tc>
                <a:tc hMerge="1">
                  <a:txBody>
                    <a:bodyPr/>
                    <a:lstStyle/>
                    <a:p>
                      <a:endParaRPr lang="en-GB"/>
                    </a:p>
                  </a:txBody>
                  <a:tcPr>
                    <a:solidFill>
                      <a:srgbClr val="050D1A"/>
                    </a:solidFill>
                  </a:tcPr>
                </a:tc>
                <a:extLst>
                  <a:ext uri="{0D108BD9-81ED-4DB2-BD59-A6C34878D82A}">
                    <a16:rowId xmlns:a16="http://schemas.microsoft.com/office/drawing/2014/main" val="4257077215"/>
                  </a:ext>
                </a:extLst>
              </a:tr>
              <a:tr h="190144">
                <a:tc gridSpan="3">
                  <a:txBody>
                    <a:bodyPr/>
                    <a:lstStyle/>
                    <a:p>
                      <a:pPr algn="r" fontAlgn="ctr">
                        <a:buNone/>
                      </a:pPr>
                      <a:r>
                        <a:rPr lang="en-GB" sz="900" b="0" cap="all" dirty="0">
                          <a:solidFill>
                            <a:srgbClr val="BD84FC"/>
                          </a:solidFill>
                          <a:effectLst/>
                          <a:latin typeface="Arial"/>
                        </a:rPr>
                        <a:t>Section 3 — Load dispersion to subgrade</a:t>
                      </a:r>
                    </a:p>
                  </a:txBody>
                  <a:tcPr marL="23958" marR="23958" marT="19965" marB="11979"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solidFill>
                      <a:srgbClr val="0D1B2E"/>
                    </a:solidFill>
                  </a:tcPr>
                </a:tc>
                <a:tc hMerge="1">
                  <a:txBody>
                    <a:bodyPr/>
                    <a:lstStyle/>
                    <a:p>
                      <a:endParaRPr lang="en-GB"/>
                    </a:p>
                  </a:txBody>
                  <a:tcPr>
                    <a:solidFill>
                      <a:srgbClr val="0D1520"/>
                    </a:solidFill>
                  </a:tcPr>
                </a:tc>
                <a:tc hMerge="1">
                  <a:txBody>
                    <a:bodyPr/>
                    <a:lstStyle/>
                    <a:p>
                      <a:endParaRPr lang="en-GB"/>
                    </a:p>
                  </a:txBody>
                  <a:tcPr>
                    <a:solidFill>
                      <a:srgbClr val="0D1520"/>
                    </a:solidFill>
                  </a:tcPr>
                </a:tc>
                <a:extLst>
                  <a:ext uri="{0D108BD9-81ED-4DB2-BD59-A6C34878D82A}">
                    <a16:rowId xmlns:a16="http://schemas.microsoft.com/office/drawing/2014/main" val="1742207013"/>
                  </a:ext>
                </a:extLst>
              </a:tr>
              <a:tr h="190144">
                <a:tc>
                  <a:txBody>
                    <a:bodyPr/>
                    <a:lstStyle/>
                    <a:p>
                      <a:pPr fontAlgn="ctr">
                        <a:buNone/>
                      </a:pPr>
                      <a:r>
                        <a:rPr lang="en-GB" sz="1000" dirty="0">
                          <a:solidFill>
                            <a:schemeClr val="bg1">
                              <a:lumMod val="85000"/>
                            </a:schemeClr>
                          </a:solidFill>
                          <a:effectLst/>
                          <a:latin typeface="Arial"/>
                        </a:rPr>
                        <a:t>200 mm XPS </a:t>
                      </a:r>
                      <a:r>
                        <a:rPr lang="en-GB" sz="1000" b="0" dirty="0">
                          <a:solidFill>
                            <a:schemeClr val="bg1">
                              <a:lumMod val="85000"/>
                            </a:schemeClr>
                          </a:solidFill>
                          <a:effectLst/>
                          <a:latin typeface="Arial"/>
                        </a:rPr>
                        <a:t>rigid board — negligible spread</a:t>
                      </a:r>
                      <a:endParaRPr lang="en-GB" sz="1100" dirty="0">
                        <a:solidFill>
                          <a:schemeClr val="bg1">
                            <a:lumMod val="85000"/>
                          </a:schemeClr>
                        </a:solidFill>
                        <a:effectLst/>
                      </a:endParaRPr>
                    </a:p>
                  </a:txBody>
                  <a:tcPr marL="23958" marR="23958" marT="13976" marB="13976" anchor="ctr">
                    <a:lnL w="12700" cap="flat" cmpd="sng" algn="ctr">
                      <a:solidFill>
                        <a:srgbClr val="FDCC9C"/>
                      </a:solidFill>
                      <a:prstDash val="solid"/>
                      <a:round/>
                      <a:headEnd type="none" w="med" len="med"/>
                      <a:tailEnd type="none" w="med" len="med"/>
                    </a:lnL>
                    <a:solidFill>
                      <a:srgbClr val="0D1B2E"/>
                    </a:solidFill>
                  </a:tcPr>
                </a:tc>
                <a:tc>
                  <a:txBody>
                    <a:bodyPr/>
                    <a:lstStyle/>
                    <a:p>
                      <a:pPr fontAlgn="ctr">
                        <a:buNone/>
                      </a:pPr>
                      <a:r>
                        <a:rPr lang="en-GB" sz="1000" dirty="0">
                          <a:solidFill>
                            <a:srgbClr val="BD84FC"/>
                          </a:solidFill>
                          <a:effectLst/>
                          <a:latin typeface="Arial"/>
                        </a:rPr>
                        <a:t>—</a:t>
                      </a:r>
                    </a:p>
                  </a:txBody>
                  <a:tcPr marL="23958" marR="23958" marT="13976" marB="13976" anchor="ctr">
                    <a:solidFill>
                      <a:srgbClr val="0D1B2E"/>
                    </a:solidFill>
                  </a:tcPr>
                </a:tc>
                <a:tc>
                  <a:txBody>
                    <a:bodyPr/>
                    <a:lstStyle/>
                    <a:p>
                      <a:pPr algn="r" fontAlgn="ctr">
                        <a:buNone/>
                      </a:pPr>
                      <a:r>
                        <a:rPr lang="en-GB" sz="1000" b="0">
                          <a:solidFill>
                            <a:srgbClr val="BD84FC"/>
                          </a:solidFill>
                          <a:effectLst/>
                          <a:latin typeface="Arial"/>
                        </a:rPr>
                        <a:t>—</a:t>
                      </a:r>
                    </a:p>
                  </a:txBody>
                  <a:tcPr marL="23958" marR="23958" marT="13976" marB="13976" anchor="ctr">
                    <a:lnR w="12700" cap="flat" cmpd="sng" algn="ctr">
                      <a:solidFill>
                        <a:srgbClr val="FDCC9C"/>
                      </a:solidFill>
                      <a:prstDash val="solid"/>
                      <a:round/>
                      <a:headEnd type="none" w="med" len="med"/>
                      <a:tailEnd type="none" w="med" len="med"/>
                    </a:lnR>
                    <a:solidFill>
                      <a:srgbClr val="0D1B2E"/>
                    </a:solidFill>
                  </a:tcPr>
                </a:tc>
                <a:extLst>
                  <a:ext uri="{0D108BD9-81ED-4DB2-BD59-A6C34878D82A}">
                    <a16:rowId xmlns:a16="http://schemas.microsoft.com/office/drawing/2014/main" val="118663946"/>
                  </a:ext>
                </a:extLst>
              </a:tr>
              <a:tr h="190144">
                <a:tc>
                  <a:txBody>
                    <a:bodyPr/>
                    <a:lstStyle/>
                    <a:p>
                      <a:pPr fontAlgn="ctr">
                        <a:buNone/>
                      </a:pPr>
                      <a:r>
                        <a:rPr lang="en-GB" sz="1000" dirty="0">
                          <a:solidFill>
                            <a:schemeClr val="bg1">
                              <a:lumMod val="85000"/>
                            </a:schemeClr>
                          </a:solidFill>
                          <a:effectLst/>
                          <a:latin typeface="Arial"/>
                        </a:rPr>
                        <a:t>50 mm fines </a:t>
                      </a:r>
                      <a:r>
                        <a:rPr lang="en-GB" sz="1000" b="0" dirty="0">
                          <a:solidFill>
                            <a:schemeClr val="bg1">
                              <a:lumMod val="85000"/>
                            </a:schemeClr>
                          </a:solidFill>
                          <a:effectLst/>
                          <a:latin typeface="Arial"/>
                        </a:rPr>
                        <a:t>φ = 25°, spread = 23 mm each side</a:t>
                      </a:r>
                      <a:endParaRPr lang="en-GB" sz="1100" dirty="0">
                        <a:solidFill>
                          <a:schemeClr val="bg1">
                            <a:lumMod val="85000"/>
                          </a:schemeClr>
                        </a:solidFill>
                        <a:effectLst/>
                      </a:endParaRPr>
                    </a:p>
                  </a:txBody>
                  <a:tcPr marL="23958" marR="23958" marT="13976" marB="13976" anchor="ctr">
                    <a:lnL w="12700" cap="flat" cmpd="sng" algn="ctr">
                      <a:solidFill>
                        <a:srgbClr val="FDCC9C"/>
                      </a:solidFill>
                      <a:prstDash val="solid"/>
                      <a:round/>
                      <a:headEnd type="none" w="med" len="med"/>
                      <a:tailEnd type="none" w="med" len="med"/>
                    </a:lnL>
                    <a:solidFill>
                      <a:srgbClr val="0D1B2E"/>
                    </a:solidFill>
                  </a:tcPr>
                </a:tc>
                <a:tc>
                  <a:txBody>
                    <a:bodyPr/>
                    <a:lstStyle/>
                    <a:p>
                      <a:pPr fontAlgn="ctr">
                        <a:buNone/>
                      </a:pPr>
                      <a:r>
                        <a:rPr lang="el-GR" sz="1000">
                          <a:solidFill>
                            <a:srgbClr val="BD84FC"/>
                          </a:solidFill>
                          <a:effectLst/>
                          <a:latin typeface="Arial"/>
                        </a:rPr>
                        <a:t>φ = 25°</a:t>
                      </a:r>
                    </a:p>
                  </a:txBody>
                  <a:tcPr marL="23958" marR="23958" marT="13976" marB="13976" anchor="ctr">
                    <a:solidFill>
                      <a:srgbClr val="0D1B2E"/>
                    </a:solidFill>
                  </a:tcPr>
                </a:tc>
                <a:tc>
                  <a:txBody>
                    <a:bodyPr/>
                    <a:lstStyle/>
                    <a:p>
                      <a:pPr algn="r" fontAlgn="ctr">
                        <a:buNone/>
                      </a:pPr>
                      <a:r>
                        <a:rPr lang="en-GB" sz="1000" b="0">
                          <a:solidFill>
                            <a:srgbClr val="BD84FC"/>
                          </a:solidFill>
                          <a:effectLst/>
                          <a:latin typeface="Arial"/>
                        </a:rPr>
                        <a:t>—</a:t>
                      </a:r>
                    </a:p>
                  </a:txBody>
                  <a:tcPr marL="23958" marR="23958" marT="13976" marB="13976" anchor="ctr">
                    <a:lnR w="12700" cap="flat" cmpd="sng" algn="ctr">
                      <a:solidFill>
                        <a:srgbClr val="FDCC9C"/>
                      </a:solidFill>
                      <a:prstDash val="solid"/>
                      <a:round/>
                      <a:headEnd type="none" w="med" len="med"/>
                      <a:tailEnd type="none" w="med" len="med"/>
                    </a:lnR>
                    <a:solidFill>
                      <a:srgbClr val="0D1B2E"/>
                    </a:solidFill>
                  </a:tcPr>
                </a:tc>
                <a:extLst>
                  <a:ext uri="{0D108BD9-81ED-4DB2-BD59-A6C34878D82A}">
                    <a16:rowId xmlns:a16="http://schemas.microsoft.com/office/drawing/2014/main" val="3064676244"/>
                  </a:ext>
                </a:extLst>
              </a:tr>
              <a:tr h="190144">
                <a:tc>
                  <a:txBody>
                    <a:bodyPr/>
                    <a:lstStyle/>
                    <a:p>
                      <a:pPr fontAlgn="ctr">
                        <a:buNone/>
                      </a:pPr>
                      <a:r>
                        <a:rPr lang="en-GB" sz="1000" dirty="0">
                          <a:solidFill>
                            <a:schemeClr val="bg1">
                              <a:lumMod val="85000"/>
                            </a:schemeClr>
                          </a:solidFill>
                          <a:effectLst/>
                          <a:latin typeface="Arial"/>
                        </a:rPr>
                        <a:t>300 mm hardcore 3" down </a:t>
                      </a:r>
                      <a:r>
                        <a:rPr lang="en-GB" sz="1000" b="0" dirty="0">
                          <a:solidFill>
                            <a:schemeClr val="bg1">
                              <a:lumMod val="85000"/>
                            </a:schemeClr>
                          </a:solidFill>
                          <a:effectLst/>
                          <a:latin typeface="Arial"/>
                        </a:rPr>
                        <a:t>φ = 45°, spread = 300 mm each side</a:t>
                      </a:r>
                      <a:endParaRPr lang="en-GB" sz="1100" dirty="0">
                        <a:solidFill>
                          <a:schemeClr val="bg1">
                            <a:lumMod val="85000"/>
                          </a:schemeClr>
                        </a:solidFill>
                        <a:effectLst/>
                      </a:endParaRPr>
                    </a:p>
                  </a:txBody>
                  <a:tcPr marL="23958" marR="23958" marT="13976" marB="13976" anchor="ctr">
                    <a:lnL w="12700" cap="flat" cmpd="sng" algn="ctr">
                      <a:solidFill>
                        <a:srgbClr val="FDCC9C"/>
                      </a:solidFill>
                      <a:prstDash val="solid"/>
                      <a:round/>
                      <a:headEnd type="none" w="med" len="med"/>
                      <a:tailEnd type="none" w="med" len="med"/>
                    </a:lnL>
                    <a:solidFill>
                      <a:srgbClr val="0D1B2E"/>
                    </a:solidFill>
                  </a:tcPr>
                </a:tc>
                <a:tc>
                  <a:txBody>
                    <a:bodyPr/>
                    <a:lstStyle/>
                    <a:p>
                      <a:pPr fontAlgn="ctr">
                        <a:buNone/>
                      </a:pPr>
                      <a:r>
                        <a:rPr lang="el-GR" sz="1000">
                          <a:solidFill>
                            <a:srgbClr val="BD84FC"/>
                          </a:solidFill>
                          <a:effectLst/>
                          <a:latin typeface="Arial"/>
                        </a:rPr>
                        <a:t>φ = 45°</a:t>
                      </a:r>
                    </a:p>
                  </a:txBody>
                  <a:tcPr marL="23958" marR="23958" marT="13976" marB="13976" anchor="ctr">
                    <a:solidFill>
                      <a:srgbClr val="0D1B2E"/>
                    </a:solidFill>
                  </a:tcPr>
                </a:tc>
                <a:tc>
                  <a:txBody>
                    <a:bodyPr/>
                    <a:lstStyle/>
                    <a:p>
                      <a:pPr algn="r" fontAlgn="ctr">
                        <a:buNone/>
                      </a:pPr>
                      <a:r>
                        <a:rPr lang="en-GB" sz="1000" b="0">
                          <a:solidFill>
                            <a:srgbClr val="BD84FC"/>
                          </a:solidFill>
                          <a:effectLst/>
                          <a:latin typeface="Arial"/>
                        </a:rPr>
                        <a:t>—</a:t>
                      </a:r>
                    </a:p>
                  </a:txBody>
                  <a:tcPr marL="23958" marR="23958" marT="13976" marB="13976" anchor="ctr">
                    <a:lnR w="12700" cap="flat" cmpd="sng" algn="ctr">
                      <a:solidFill>
                        <a:srgbClr val="FDCC9C"/>
                      </a:solidFill>
                      <a:prstDash val="solid"/>
                      <a:round/>
                      <a:headEnd type="none" w="med" len="med"/>
                      <a:tailEnd type="none" w="med" len="med"/>
                    </a:lnR>
                    <a:solidFill>
                      <a:srgbClr val="0D1B2E"/>
                    </a:solidFill>
                  </a:tcPr>
                </a:tc>
                <a:extLst>
                  <a:ext uri="{0D108BD9-81ED-4DB2-BD59-A6C34878D82A}">
                    <a16:rowId xmlns:a16="http://schemas.microsoft.com/office/drawing/2014/main" val="3859596481"/>
                  </a:ext>
                </a:extLst>
              </a:tr>
              <a:tr h="190144">
                <a:tc>
                  <a:txBody>
                    <a:bodyPr/>
                    <a:lstStyle/>
                    <a:p>
                      <a:pPr fontAlgn="ctr">
                        <a:buNone/>
                      </a:pPr>
                      <a:r>
                        <a:rPr lang="en-GB" sz="1000" dirty="0">
                          <a:solidFill>
                            <a:schemeClr val="bg1">
                              <a:lumMod val="85000"/>
                            </a:schemeClr>
                          </a:solidFill>
                          <a:effectLst/>
                          <a:latin typeface="Arial"/>
                        </a:rPr>
                        <a:t>Dispersed area at subgrade </a:t>
                      </a:r>
                      <a:r>
                        <a:rPr lang="en-GB" sz="1000" b="0" dirty="0">
                          <a:solidFill>
                            <a:schemeClr val="bg1">
                              <a:lumMod val="85000"/>
                            </a:schemeClr>
                          </a:solidFill>
                          <a:effectLst/>
                          <a:latin typeface="Arial"/>
                        </a:rPr>
                        <a:t>(10.0 + 0.60) × (7.7 + 0.60) = 87.98 m²</a:t>
                      </a:r>
                      <a:endParaRPr lang="en-GB" sz="1100" dirty="0">
                        <a:solidFill>
                          <a:schemeClr val="bg1">
                            <a:lumMod val="85000"/>
                          </a:schemeClr>
                        </a:solidFill>
                        <a:effectLst/>
                      </a:endParaRPr>
                    </a:p>
                  </a:txBody>
                  <a:tcPr marL="23958" marR="23958" marT="13976" marB="13976" anchor="ctr">
                    <a:lnL w="12700" cap="flat" cmpd="sng" algn="ctr">
                      <a:solidFill>
                        <a:srgbClr val="FDCC9C"/>
                      </a:solidFill>
                      <a:prstDash val="solid"/>
                      <a:round/>
                      <a:headEnd type="none" w="med" len="med"/>
                      <a:tailEnd type="none" w="med" len="med"/>
                    </a:lnL>
                    <a:solidFill>
                      <a:srgbClr val="0D1B2E"/>
                    </a:solidFill>
                  </a:tcPr>
                </a:tc>
                <a:tc>
                  <a:txBody>
                    <a:bodyPr/>
                    <a:lstStyle/>
                    <a:p>
                      <a:pPr fontAlgn="ctr">
                        <a:buNone/>
                      </a:pPr>
                      <a:r>
                        <a:rPr lang="en-GB" sz="1000">
                          <a:solidFill>
                            <a:srgbClr val="BD84FC"/>
                          </a:solidFill>
                          <a:effectLst/>
                          <a:latin typeface="Arial"/>
                        </a:rPr>
                        <a:t>Area</a:t>
                      </a:r>
                    </a:p>
                  </a:txBody>
                  <a:tcPr marL="23958" marR="23958" marT="13976" marB="13976" anchor="ctr">
                    <a:solidFill>
                      <a:srgbClr val="0D1B2E"/>
                    </a:solidFill>
                  </a:tcPr>
                </a:tc>
                <a:tc>
                  <a:txBody>
                    <a:bodyPr/>
                    <a:lstStyle/>
                    <a:p>
                      <a:pPr algn="r" fontAlgn="ctr">
                        <a:buNone/>
                      </a:pPr>
                      <a:r>
                        <a:rPr lang="en-GB" sz="1000" b="0">
                          <a:solidFill>
                            <a:srgbClr val="BD84FC"/>
                          </a:solidFill>
                          <a:effectLst/>
                          <a:latin typeface="Arial"/>
                        </a:rPr>
                        <a:t>87.98 m²</a:t>
                      </a:r>
                    </a:p>
                  </a:txBody>
                  <a:tcPr marL="23958" marR="23958" marT="13976" marB="13976" anchor="ctr">
                    <a:lnR w="12700" cap="flat" cmpd="sng" algn="ctr">
                      <a:solidFill>
                        <a:srgbClr val="FDCC9C"/>
                      </a:solidFill>
                      <a:prstDash val="solid"/>
                      <a:round/>
                      <a:headEnd type="none" w="med" len="med"/>
                      <a:tailEnd type="none" w="med" len="med"/>
                    </a:lnR>
                    <a:solidFill>
                      <a:srgbClr val="0D1B2E"/>
                    </a:solidFill>
                  </a:tcPr>
                </a:tc>
                <a:extLst>
                  <a:ext uri="{0D108BD9-81ED-4DB2-BD59-A6C34878D82A}">
                    <a16:rowId xmlns:a16="http://schemas.microsoft.com/office/drawing/2014/main" val="3495912553"/>
                  </a:ext>
                </a:extLst>
              </a:tr>
              <a:tr h="190144">
                <a:tc gridSpan="2">
                  <a:txBody>
                    <a:bodyPr/>
                    <a:lstStyle/>
                    <a:p>
                      <a:pPr fontAlgn="ctr">
                        <a:buNone/>
                      </a:pPr>
                      <a:r>
                        <a:rPr lang="en-GB" sz="1100" b="1">
                          <a:solidFill>
                            <a:srgbClr val="BD84FC"/>
                          </a:solidFill>
                          <a:effectLst/>
                          <a:latin typeface="Arial"/>
                        </a:rPr>
                        <a:t>Net bearing pressure at subgrade — 18.8 × 77 ÷ 87.98</a:t>
                      </a:r>
                    </a:p>
                  </a:txBody>
                  <a:tcPr marL="23958" marR="23958" marT="13976" marB="13976" anchor="ctr">
                    <a:lnL w="12700" cap="flat" cmpd="sng" algn="ctr">
                      <a:solidFill>
                        <a:srgbClr val="FDCC9C"/>
                      </a:solidFill>
                      <a:prstDash val="solid"/>
                      <a:round/>
                      <a:headEnd type="none" w="med" len="med"/>
                      <a:tailEnd type="none" w="med" len="med"/>
                    </a:lnL>
                    <a:solidFill>
                      <a:srgbClr val="0D1B2E"/>
                    </a:solidFill>
                  </a:tcPr>
                </a:tc>
                <a:tc hMerge="1">
                  <a:txBody>
                    <a:bodyPr/>
                    <a:lstStyle/>
                    <a:p>
                      <a:endParaRPr lang="en-GB"/>
                    </a:p>
                  </a:txBody>
                  <a:tcPr>
                    <a:solidFill>
                      <a:srgbClr val="091525"/>
                    </a:solidFill>
                  </a:tcPr>
                </a:tc>
                <a:tc>
                  <a:txBody>
                    <a:bodyPr/>
                    <a:lstStyle/>
                    <a:p>
                      <a:pPr algn="r" fontAlgn="ctr">
                        <a:buNone/>
                      </a:pPr>
                      <a:r>
                        <a:rPr lang="en-GB" sz="1100" b="1">
                          <a:solidFill>
                            <a:srgbClr val="BD84FC"/>
                          </a:solidFill>
                          <a:effectLst/>
                          <a:latin typeface="Arial"/>
                        </a:rPr>
                        <a:t>16.5 kN/m²</a:t>
                      </a:r>
                    </a:p>
                  </a:txBody>
                  <a:tcPr marL="23958" marR="23958" marT="13976" marB="13976" anchor="ctr">
                    <a:lnR w="12700" cap="flat" cmpd="sng" algn="ctr">
                      <a:solidFill>
                        <a:srgbClr val="FDCC9C"/>
                      </a:solidFill>
                      <a:prstDash val="solid"/>
                      <a:round/>
                      <a:headEnd type="none" w="med" len="med"/>
                      <a:tailEnd type="none" w="med" len="med"/>
                    </a:lnR>
                    <a:solidFill>
                      <a:srgbClr val="0D1B2E"/>
                    </a:solidFill>
                  </a:tcPr>
                </a:tc>
                <a:extLst>
                  <a:ext uri="{0D108BD9-81ED-4DB2-BD59-A6C34878D82A}">
                    <a16:rowId xmlns:a16="http://schemas.microsoft.com/office/drawing/2014/main" val="884282632"/>
                  </a:ext>
                </a:extLst>
              </a:tr>
              <a:tr h="60958">
                <a:tc gridSpan="3">
                  <a:txBody>
                    <a:bodyPr/>
                    <a:lstStyle/>
                    <a:p>
                      <a:pPr algn="r" fontAlgn="ctr">
                        <a:buNone/>
                      </a:pPr>
                      <a:endParaRPr lang="en-GB" sz="700" b="0" dirty="0">
                        <a:solidFill>
                          <a:srgbClr val="BD84FC"/>
                        </a:solidFill>
                        <a:effectLst/>
                      </a:endParaRPr>
                    </a:p>
                  </a:txBody>
                  <a:tcPr marL="23958" marR="23958" marT="13976" marB="13976"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solidFill>
                      <a:srgbClr val="0D1B2E"/>
                    </a:solidFill>
                  </a:tcPr>
                </a:tc>
                <a:tc hMerge="1">
                  <a:txBody>
                    <a:bodyPr/>
                    <a:lstStyle/>
                    <a:p>
                      <a:endParaRPr lang="en-GB"/>
                    </a:p>
                  </a:txBody>
                  <a:tcPr>
                    <a:solidFill>
                      <a:srgbClr val="050D1A"/>
                    </a:solidFill>
                  </a:tcPr>
                </a:tc>
                <a:tc hMerge="1">
                  <a:txBody>
                    <a:bodyPr/>
                    <a:lstStyle/>
                    <a:p>
                      <a:endParaRPr lang="en-GB"/>
                    </a:p>
                  </a:txBody>
                  <a:tcPr>
                    <a:solidFill>
                      <a:srgbClr val="050D1A"/>
                    </a:solidFill>
                  </a:tcPr>
                </a:tc>
                <a:extLst>
                  <a:ext uri="{0D108BD9-81ED-4DB2-BD59-A6C34878D82A}">
                    <a16:rowId xmlns:a16="http://schemas.microsoft.com/office/drawing/2014/main" val="4105459436"/>
                  </a:ext>
                </a:extLst>
              </a:tr>
              <a:tr h="190144">
                <a:tc gridSpan="3">
                  <a:txBody>
                    <a:bodyPr/>
                    <a:lstStyle/>
                    <a:p>
                      <a:pPr algn="r" fontAlgn="ctr">
                        <a:buNone/>
                      </a:pPr>
                      <a:r>
                        <a:rPr lang="en-GB" sz="900" b="0" cap="all" dirty="0">
                          <a:solidFill>
                            <a:srgbClr val="BD84FC"/>
                          </a:solidFill>
                          <a:effectLst/>
                          <a:latin typeface="Arial"/>
                        </a:rPr>
                        <a:t>Section 4 — BS 8004 bearing capacity check (net allowable vs 16.5 </a:t>
                      </a:r>
                      <a:r>
                        <a:rPr lang="en-GB" sz="900" b="0" cap="all" dirty="0" err="1">
                          <a:solidFill>
                            <a:srgbClr val="BD84FC"/>
                          </a:solidFill>
                          <a:effectLst/>
                          <a:latin typeface="Arial"/>
                        </a:rPr>
                        <a:t>kN</a:t>
                      </a:r>
                      <a:r>
                        <a:rPr lang="en-GB" sz="900" b="0" cap="all" dirty="0">
                          <a:solidFill>
                            <a:srgbClr val="BD84FC"/>
                          </a:solidFill>
                          <a:effectLst/>
                          <a:latin typeface="Arial"/>
                        </a:rPr>
                        <a:t>/m²)</a:t>
                      </a:r>
                    </a:p>
                  </a:txBody>
                  <a:tcPr marL="23958" marR="23958" marT="19965" marB="11979"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lnB w="12700" cap="flat" cmpd="sng" algn="ctr">
                      <a:solidFill>
                        <a:srgbClr val="FDCC9C"/>
                      </a:solidFill>
                      <a:prstDash val="solid"/>
                      <a:round/>
                      <a:headEnd type="none" w="med" len="med"/>
                      <a:tailEnd type="none" w="med" len="med"/>
                    </a:lnB>
                    <a:solidFill>
                      <a:srgbClr val="0D1B2E"/>
                    </a:solidFill>
                  </a:tcPr>
                </a:tc>
                <a:tc hMerge="1">
                  <a:txBody>
                    <a:bodyPr/>
                    <a:lstStyle/>
                    <a:p>
                      <a:endParaRPr lang="en-GB"/>
                    </a:p>
                  </a:txBody>
                  <a:tcPr>
                    <a:solidFill>
                      <a:srgbClr val="0D1520"/>
                    </a:solidFill>
                  </a:tcPr>
                </a:tc>
                <a:tc hMerge="1">
                  <a:txBody>
                    <a:bodyPr/>
                    <a:lstStyle/>
                    <a:p>
                      <a:endParaRPr lang="en-GB"/>
                    </a:p>
                  </a:txBody>
                  <a:tcPr>
                    <a:solidFill>
                      <a:srgbClr val="0D1520"/>
                    </a:solidFill>
                  </a:tcPr>
                </a:tc>
                <a:extLst>
                  <a:ext uri="{0D108BD9-81ED-4DB2-BD59-A6C34878D82A}">
                    <a16:rowId xmlns:a16="http://schemas.microsoft.com/office/drawing/2014/main" val="3604310482"/>
                  </a:ext>
                </a:extLst>
              </a:tr>
            </a:tbl>
          </a:graphicData>
        </a:graphic>
      </p:graphicFrame>
      <p:sp>
        <p:nvSpPr>
          <p:cNvPr id="103" name="Text 56"/>
          <p:cNvSpPr/>
          <p:nvPr/>
        </p:nvSpPr>
        <p:spPr>
          <a:xfrm>
            <a:off x="320040" y="4901184"/>
            <a:ext cx="4572000" cy="228600"/>
          </a:xfrm>
          <a:prstGeom prst="rect">
            <a:avLst/>
          </a:prstGeom>
          <a:noFill/>
          <a:ln/>
        </p:spPr>
        <p:txBody>
          <a:bodyPr wrap="square" rtlCol="0" anchor="ctr"/>
          <a:lstStyle/>
          <a:p>
            <a:pPr marL="0" indent="0">
              <a:buNone/>
            </a:pPr>
            <a:r>
              <a:rPr lang="en-US" sz="800" dirty="0">
                <a:solidFill>
                  <a:srgbClr val="B87333"/>
                </a:solidFill>
                <a:latin typeface="Arial" pitchFamily="34" charset="0"/>
                <a:ea typeface="Arial" pitchFamily="34" charset="-122"/>
                <a:cs typeface="Arial" pitchFamily="34" charset="-120"/>
              </a:rPr>
              <a:t>UMPIREAL  ·  CONFIDENTIAL</a:t>
            </a:r>
            <a:endParaRPr lang="en-US" sz="800" dirty="0"/>
          </a:p>
        </p:txBody>
      </p:sp>
      <p:sp>
        <p:nvSpPr>
          <p:cNvPr id="104" name="Text 57"/>
          <p:cNvSpPr/>
          <p:nvPr/>
        </p:nvSpPr>
        <p:spPr>
          <a:xfrm>
            <a:off x="4572000" y="4901184"/>
            <a:ext cx="4251960" cy="228600"/>
          </a:xfrm>
          <a:prstGeom prst="rect">
            <a:avLst/>
          </a:prstGeom>
          <a:noFill/>
          <a:ln/>
        </p:spPr>
        <p:txBody>
          <a:bodyPr wrap="square" rtlCol="0" anchor="ctr"/>
          <a:lstStyle/>
          <a:p>
            <a:pPr marL="0" indent="0" algn="r">
              <a:buNone/>
            </a:pPr>
            <a:r>
              <a:rPr lang="en-US" sz="800" dirty="0">
                <a:solidFill>
                  <a:srgbClr val="9CA3AF"/>
                </a:solidFill>
                <a:latin typeface="Arial" pitchFamily="34" charset="0"/>
                <a:ea typeface="Arial" pitchFamily="34" charset="-122"/>
                <a:cs typeface="Arial" pitchFamily="34" charset="-120"/>
              </a:rPr>
              <a:t>09 — Structural Validation</a:t>
            </a:r>
            <a:endParaRPr lang="en-US" sz="800" dirty="0"/>
          </a:p>
        </p:txBody>
      </p:sp>
    </p:spTree>
    <p:extLst>
      <p:ext uri="{BB962C8B-B14F-4D97-AF65-F5344CB8AC3E}">
        <p14:creationId xmlns:p14="http://schemas.microsoft.com/office/powerpoint/2010/main" val="873850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4CB8C-5CC3-2A7D-9E58-F7570BBFDC48}"/>
            </a:ext>
          </a:extLst>
        </p:cNvPr>
        <p:cNvGrpSpPr/>
        <p:nvPr/>
      </p:nvGrpSpPr>
      <p:grpSpPr>
        <a:xfrm>
          <a:off x="0" y="0"/>
          <a:ext cx="0" cy="0"/>
          <a:chOff x="0" y="0"/>
          <a:chExt cx="0" cy="0"/>
        </a:xfrm>
      </p:grpSpPr>
      <p:sp>
        <p:nvSpPr>
          <p:cNvPr id="200" name="Shape 0"/>
          <p:cNvSpPr/>
          <p:nvPr/>
        </p:nvSpPr>
        <p:spPr>
          <a:xfrm>
            <a:off x="411480" y="164592"/>
            <a:ext cx="54864" cy="384048"/>
          </a:xfrm>
          <a:prstGeom prst="rect">
            <a:avLst/>
          </a:prstGeom>
          <a:solidFill>
            <a:schemeClr val="bg2">
              <a:lumMod val="90000"/>
            </a:schemeClr>
          </a:solidFill>
          <a:ln w="12700">
            <a:solidFill>
              <a:schemeClr val="bg1">
                <a:lumMod val="85000"/>
              </a:schemeClr>
            </a:solidFill>
            <a:prstDash val="solid"/>
          </a:ln>
        </p:spPr>
        <p:txBody>
          <a:bodyPr/>
          <a:lstStyle/>
          <a:p>
            <a:endParaRPr lang="en-GB"/>
          </a:p>
        </p:txBody>
      </p:sp>
      <p:sp>
        <p:nvSpPr>
          <p:cNvPr id="201" name="Text 1"/>
          <p:cNvSpPr/>
          <p:nvPr/>
        </p:nvSpPr>
        <p:spPr>
          <a:xfrm>
            <a:off x="548640" y="155448"/>
            <a:ext cx="8229600" cy="411480"/>
          </a:xfrm>
          <a:prstGeom prst="rect">
            <a:avLst/>
          </a:prstGeom>
          <a:noFill/>
          <a:ln/>
        </p:spPr>
        <p:txBody>
          <a:bodyPr wrap="square" rtlCol="0" anchor="ctr"/>
          <a:lstStyle/>
          <a:p>
            <a:pPr marL="0" indent="0">
              <a:buNone/>
            </a:pPr>
            <a:r>
              <a:rPr lang="en-US" sz="1100" b="1" kern="0" spc="300" dirty="0">
                <a:solidFill>
                  <a:schemeClr val="bg2">
                    <a:lumMod val="90000"/>
                  </a:schemeClr>
                </a:solidFill>
                <a:latin typeface="Arial" pitchFamily="34" charset="0"/>
                <a:ea typeface="Arial" pitchFamily="34" charset="-122"/>
                <a:cs typeface="Arial" pitchFamily="34" charset="-120"/>
              </a:rPr>
              <a:t>STRUCTURAL VALIDATION part 2</a:t>
            </a:r>
            <a:endParaRPr lang="en-US" sz="1100" dirty="0">
              <a:solidFill>
                <a:schemeClr val="bg2">
                  <a:lumMod val="90000"/>
                </a:schemeClr>
              </a:solidFill>
            </a:endParaRPr>
          </a:p>
        </p:txBody>
      </p:sp>
      <p:sp>
        <p:nvSpPr>
          <p:cNvPr id="202" name="Text 2"/>
          <p:cNvSpPr/>
          <p:nvPr/>
        </p:nvSpPr>
        <p:spPr>
          <a:xfrm>
            <a:off x="411480" y="491719"/>
            <a:ext cx="8321040" cy="502920"/>
          </a:xfrm>
          <a:prstGeom prst="rect">
            <a:avLst/>
          </a:prstGeom>
          <a:noFill/>
          <a:ln/>
        </p:spPr>
        <p:txBody>
          <a:bodyPr wrap="square" rtlCol="0" anchor="ctr"/>
          <a:lstStyle/>
          <a:p>
            <a:pPr marL="0" indent="0">
              <a:buNone/>
            </a:pPr>
            <a:r>
              <a:rPr lang="en-US" sz="2000" spc="300" dirty="0">
                <a:solidFill>
                  <a:schemeClr val="bg1">
                    <a:lumMod val="85000"/>
                  </a:schemeClr>
                </a:solidFill>
                <a:latin typeface="Aptos" panose="020B0004020202020204" pitchFamily="34" charset="0"/>
                <a:ea typeface="Arial" pitchFamily="34" charset="-122"/>
                <a:cs typeface="Arial" pitchFamily="34" charset="-120"/>
              </a:rPr>
              <a:t>BS 8004 Bearing Capacity — Ground Type Check</a:t>
            </a:r>
            <a:endParaRPr lang="en-US" sz="2000" spc="300" dirty="0">
              <a:solidFill>
                <a:schemeClr val="bg1">
                  <a:lumMod val="85000"/>
                </a:schemeClr>
              </a:solidFill>
              <a:latin typeface="Aptos" panose="020B0004020202020204" pitchFamily="34" charset="0"/>
            </a:endParaRPr>
          </a:p>
        </p:txBody>
      </p:sp>
      <p:sp>
        <p:nvSpPr>
          <p:cNvPr id="3" name="TextBox 2">
            <a:extLst>
              <a:ext uri="{FF2B5EF4-FFF2-40B4-BE49-F238E27FC236}">
                <a16:creationId xmlns:a16="http://schemas.microsoft.com/office/drawing/2014/main" id="{5C69F0F4-9A48-AEB1-0109-9B0395F4F95B}"/>
              </a:ext>
            </a:extLst>
          </p:cNvPr>
          <p:cNvSpPr txBox="1"/>
          <p:nvPr/>
        </p:nvSpPr>
        <p:spPr>
          <a:xfrm>
            <a:off x="349624" y="2901184"/>
            <a:ext cx="8415360" cy="553998"/>
          </a:xfrm>
          <a:prstGeom prst="rect">
            <a:avLst/>
          </a:prstGeom>
          <a:noFill/>
        </p:spPr>
        <p:txBody>
          <a:bodyPr wrap="square">
            <a:spAutoFit/>
          </a:bodyPr>
          <a:lstStyle/>
          <a:p>
            <a:pPr algn="just"/>
            <a:r>
              <a:rPr lang="en-GB" sz="1000" dirty="0">
                <a:solidFill>
                  <a:schemeClr val="bg1">
                    <a:lumMod val="85000"/>
                  </a:schemeClr>
                </a:solidFill>
                <a:latin typeface="Arial" panose="020B0004020202020204" pitchFamily="34" charset="0"/>
              </a:rPr>
              <a:t>The BEAR Crossing colocation model is structurally and geotechnically viable. The compensated foundation principle confirms that the node imposes similar net loads to the road it sits beneath. Any challenges that arise beyond this will be site-specific and resolved through standard civil engineering practice.</a:t>
            </a:r>
          </a:p>
        </p:txBody>
      </p:sp>
      <p:graphicFrame>
        <p:nvGraphicFramePr>
          <p:cNvPr id="5" name="Table 4">
            <a:extLst>
              <a:ext uri="{FF2B5EF4-FFF2-40B4-BE49-F238E27FC236}">
                <a16:creationId xmlns:a16="http://schemas.microsoft.com/office/drawing/2014/main" id="{2E8AF2BC-5C27-A58B-86FF-9749A50DC451}"/>
              </a:ext>
            </a:extLst>
          </p:cNvPr>
          <p:cNvGraphicFramePr>
            <a:graphicFrameLocks noGrp="1"/>
          </p:cNvGraphicFramePr>
          <p:nvPr>
            <p:extLst>
              <p:ext uri="{D42A27DB-BD31-4B8C-83A1-F6EECF244321}">
                <p14:modId xmlns:p14="http://schemas.microsoft.com/office/powerpoint/2010/main" val="2328732391"/>
              </p:ext>
            </p:extLst>
          </p:nvPr>
        </p:nvGraphicFramePr>
        <p:xfrm>
          <a:off x="411480" y="860000"/>
          <a:ext cx="8141366" cy="1871999"/>
        </p:xfrm>
        <a:graphic>
          <a:graphicData uri="http://schemas.openxmlformats.org/drawingml/2006/table">
            <a:tbl>
              <a:tblPr/>
              <a:tblGrid>
                <a:gridCol w="2930891">
                  <a:extLst>
                    <a:ext uri="{9D8B030D-6E8A-4147-A177-3AD203B41FA5}">
                      <a16:colId xmlns:a16="http://schemas.microsoft.com/office/drawing/2014/main" val="63295348"/>
                    </a:ext>
                  </a:extLst>
                </a:gridCol>
                <a:gridCol w="1791100">
                  <a:extLst>
                    <a:ext uri="{9D8B030D-6E8A-4147-A177-3AD203B41FA5}">
                      <a16:colId xmlns:a16="http://schemas.microsoft.com/office/drawing/2014/main" val="2337417229"/>
                    </a:ext>
                  </a:extLst>
                </a:gridCol>
                <a:gridCol w="1465446">
                  <a:extLst>
                    <a:ext uri="{9D8B030D-6E8A-4147-A177-3AD203B41FA5}">
                      <a16:colId xmlns:a16="http://schemas.microsoft.com/office/drawing/2014/main" val="4169705309"/>
                    </a:ext>
                  </a:extLst>
                </a:gridCol>
                <a:gridCol w="1953929">
                  <a:extLst>
                    <a:ext uri="{9D8B030D-6E8A-4147-A177-3AD203B41FA5}">
                      <a16:colId xmlns:a16="http://schemas.microsoft.com/office/drawing/2014/main" val="3575268830"/>
                    </a:ext>
                  </a:extLst>
                </a:gridCol>
              </a:tblGrid>
              <a:tr h="392483">
                <a:tc>
                  <a:txBody>
                    <a:bodyPr/>
                    <a:lstStyle/>
                    <a:p>
                      <a:pPr algn="l">
                        <a:buNone/>
                      </a:pPr>
                      <a:r>
                        <a:rPr lang="en-GB" sz="1000" b="1">
                          <a:solidFill>
                            <a:srgbClr val="22F6AF"/>
                          </a:solidFill>
                          <a:effectLst/>
                          <a:latin typeface="Arial"/>
                        </a:rPr>
                        <a:t>Ground type</a:t>
                      </a:r>
                    </a:p>
                  </a:txBody>
                  <a:tcPr marL="69166" marR="69166" marT="40347" marB="40347" anchor="ctr">
                    <a:lnL w="12700" cap="flat" cmpd="sng" algn="ctr">
                      <a:solidFill>
                        <a:srgbClr val="22F6AF"/>
                      </a:solidFill>
                      <a:prstDash val="solid"/>
                      <a:round/>
                      <a:headEnd type="none" w="med" len="med"/>
                      <a:tailEnd type="none" w="med" len="med"/>
                    </a:lnL>
                    <a:lnT w="12700" cap="flat" cmpd="sng" algn="ctr">
                      <a:solidFill>
                        <a:srgbClr val="22F6AF"/>
                      </a:solidFill>
                      <a:prstDash val="solid"/>
                      <a:round/>
                      <a:headEnd type="none" w="med" len="med"/>
                      <a:tailEnd type="none" w="med" len="med"/>
                    </a:lnT>
                    <a:solidFill>
                      <a:srgbClr val="0D1B2E"/>
                    </a:solidFill>
                  </a:tcPr>
                </a:tc>
                <a:tc>
                  <a:txBody>
                    <a:bodyPr/>
                    <a:lstStyle/>
                    <a:p>
                      <a:pPr algn="l">
                        <a:buNone/>
                      </a:pPr>
                      <a:r>
                        <a:rPr lang="en-GB" sz="1000" b="1">
                          <a:solidFill>
                            <a:srgbClr val="22F6AF"/>
                          </a:solidFill>
                          <a:effectLst/>
                          <a:latin typeface="Arial"/>
                        </a:rPr>
                        <a:t>BS 8004 net allowable</a:t>
                      </a:r>
                    </a:p>
                  </a:txBody>
                  <a:tcPr marL="69166" marR="69166" marT="40347" marB="40347" anchor="ctr">
                    <a:lnT w="12700" cap="flat" cmpd="sng" algn="ctr">
                      <a:solidFill>
                        <a:srgbClr val="22F6AF"/>
                      </a:solidFill>
                      <a:prstDash val="solid"/>
                      <a:round/>
                      <a:headEnd type="none" w="med" len="med"/>
                      <a:tailEnd type="none" w="med" len="med"/>
                    </a:lnT>
                    <a:solidFill>
                      <a:srgbClr val="0D1B2E"/>
                    </a:solidFill>
                  </a:tcPr>
                </a:tc>
                <a:tc>
                  <a:txBody>
                    <a:bodyPr/>
                    <a:lstStyle/>
                    <a:p>
                      <a:pPr algn="l">
                        <a:buNone/>
                      </a:pPr>
                      <a:r>
                        <a:rPr lang="en-GB" sz="1000" b="1">
                          <a:solidFill>
                            <a:srgbClr val="22F6AF"/>
                          </a:solidFill>
                          <a:effectLst/>
                          <a:latin typeface="Arial"/>
                        </a:rPr>
                        <a:t>Safety factor</a:t>
                      </a:r>
                    </a:p>
                  </a:txBody>
                  <a:tcPr marL="69166" marR="69166" marT="40347" marB="40347" anchor="ctr">
                    <a:lnT w="12700" cap="flat" cmpd="sng" algn="ctr">
                      <a:solidFill>
                        <a:srgbClr val="22F6AF"/>
                      </a:solidFill>
                      <a:prstDash val="solid"/>
                      <a:round/>
                      <a:headEnd type="none" w="med" len="med"/>
                      <a:tailEnd type="none" w="med" len="med"/>
                    </a:lnT>
                    <a:solidFill>
                      <a:srgbClr val="0D1B2E"/>
                    </a:solidFill>
                  </a:tcPr>
                </a:tc>
                <a:tc>
                  <a:txBody>
                    <a:bodyPr/>
                    <a:lstStyle/>
                    <a:p>
                      <a:pPr algn="r">
                        <a:buNone/>
                      </a:pPr>
                      <a:r>
                        <a:rPr lang="en-GB" sz="1000" b="1">
                          <a:solidFill>
                            <a:srgbClr val="22F6AF"/>
                          </a:solidFill>
                          <a:effectLst/>
                          <a:latin typeface="Arial"/>
                        </a:rPr>
                        <a:t>Status</a:t>
                      </a:r>
                    </a:p>
                  </a:txBody>
                  <a:tcPr marL="69166" marR="69166" marT="40347" marB="40347" anchor="ctr">
                    <a:lnR w="12700" cap="flat" cmpd="sng" algn="ctr">
                      <a:solidFill>
                        <a:srgbClr val="22F6AF"/>
                      </a:solidFill>
                      <a:prstDash val="solid"/>
                      <a:round/>
                      <a:headEnd type="none" w="med" len="med"/>
                      <a:tailEnd type="none" w="med" len="med"/>
                    </a:lnR>
                    <a:lnT w="12700" cap="flat" cmpd="sng" algn="ctr">
                      <a:solidFill>
                        <a:srgbClr val="22F6AF"/>
                      </a:solidFill>
                      <a:prstDash val="solid"/>
                      <a:round/>
                      <a:headEnd type="none" w="med" len="med"/>
                      <a:tailEnd type="none" w="med" len="med"/>
                    </a:lnT>
                    <a:solidFill>
                      <a:srgbClr val="0D1B2E"/>
                    </a:solidFill>
                  </a:tcPr>
                </a:tc>
                <a:extLst>
                  <a:ext uri="{0D108BD9-81ED-4DB2-BD59-A6C34878D82A}">
                    <a16:rowId xmlns:a16="http://schemas.microsoft.com/office/drawing/2014/main" val="2896876184"/>
                  </a:ext>
                </a:extLst>
              </a:tr>
              <a:tr h="246586">
                <a:tc>
                  <a:txBody>
                    <a:bodyPr/>
                    <a:lstStyle/>
                    <a:p>
                      <a:pPr fontAlgn="ctr">
                        <a:buNone/>
                      </a:pPr>
                      <a:r>
                        <a:rPr lang="en-GB" sz="1000">
                          <a:solidFill>
                            <a:srgbClr val="22F6AF"/>
                          </a:solidFill>
                          <a:effectLst/>
                          <a:latin typeface="Arial"/>
                        </a:rPr>
                        <a:t>Dense gravel / sand-gravel</a:t>
                      </a:r>
                    </a:p>
                  </a:txBody>
                  <a:tcPr marL="69166" marR="69166" marT="40347" marB="40347" anchor="ctr">
                    <a:lnL w="12700" cap="flat" cmpd="sng" algn="ctr">
                      <a:solidFill>
                        <a:srgbClr val="22F6AF"/>
                      </a:solidFill>
                      <a:prstDash val="solid"/>
                      <a:round/>
                      <a:headEnd type="none" w="med" len="med"/>
                      <a:tailEnd type="none" w="med" len="med"/>
                    </a:lnL>
                    <a:solidFill>
                      <a:srgbClr val="0D1B2E"/>
                    </a:solidFill>
                  </a:tcPr>
                </a:tc>
                <a:tc>
                  <a:txBody>
                    <a:bodyPr/>
                    <a:lstStyle/>
                    <a:p>
                      <a:pPr fontAlgn="ctr">
                        <a:buNone/>
                      </a:pPr>
                      <a:r>
                        <a:rPr lang="en-GB" sz="1000">
                          <a:solidFill>
                            <a:srgbClr val="22F6AF"/>
                          </a:solidFill>
                          <a:effectLst/>
                          <a:latin typeface="Arial"/>
                        </a:rPr>
                        <a:t>600 kN/m²</a:t>
                      </a:r>
                    </a:p>
                  </a:txBody>
                  <a:tcPr marL="69166" marR="69166" marT="40347" marB="40347" anchor="ctr">
                    <a:solidFill>
                      <a:srgbClr val="0D1B2E"/>
                    </a:solidFill>
                  </a:tcPr>
                </a:tc>
                <a:tc>
                  <a:txBody>
                    <a:bodyPr/>
                    <a:lstStyle/>
                    <a:p>
                      <a:pPr fontAlgn="ctr">
                        <a:buNone/>
                      </a:pPr>
                      <a:r>
                        <a:rPr lang="en-GB" sz="1000">
                          <a:solidFill>
                            <a:srgbClr val="22F6AF"/>
                          </a:solidFill>
                          <a:effectLst/>
                          <a:latin typeface="Arial"/>
                        </a:rPr>
                        <a:t>36.4×</a:t>
                      </a:r>
                    </a:p>
                  </a:txBody>
                  <a:tcPr marL="69166" marR="69166" marT="40347" marB="40347" anchor="ctr">
                    <a:solidFill>
                      <a:srgbClr val="0D1B2E"/>
                    </a:solidFill>
                  </a:tcPr>
                </a:tc>
                <a:tc>
                  <a:txBody>
                    <a:bodyPr/>
                    <a:lstStyle/>
                    <a:p>
                      <a:pPr algn="r" fontAlgn="ctr">
                        <a:buNone/>
                      </a:pPr>
                      <a:r>
                        <a:rPr lang="en-GB" sz="1000" b="0" dirty="0">
                          <a:solidFill>
                            <a:srgbClr val="22F6AF"/>
                          </a:solidFill>
                          <a:effectLst/>
                          <a:latin typeface="Arial"/>
                        </a:rPr>
                        <a:t>Pass</a:t>
                      </a:r>
                    </a:p>
                  </a:txBody>
                  <a:tcPr marL="69166" marR="69166" marT="40347" marB="40347" anchor="ctr">
                    <a:lnR w="12700" cap="flat" cmpd="sng" algn="ctr">
                      <a:solidFill>
                        <a:srgbClr val="22F6AF"/>
                      </a:solidFill>
                      <a:prstDash val="solid"/>
                      <a:round/>
                      <a:headEnd type="none" w="med" len="med"/>
                      <a:tailEnd type="none" w="med" len="med"/>
                    </a:lnR>
                    <a:solidFill>
                      <a:srgbClr val="0D1B2E"/>
                    </a:solidFill>
                  </a:tcPr>
                </a:tc>
                <a:extLst>
                  <a:ext uri="{0D108BD9-81ED-4DB2-BD59-A6C34878D82A}">
                    <a16:rowId xmlns:a16="http://schemas.microsoft.com/office/drawing/2014/main" val="3116468802"/>
                  </a:ext>
                </a:extLst>
              </a:tr>
              <a:tr h="246586">
                <a:tc>
                  <a:txBody>
                    <a:bodyPr/>
                    <a:lstStyle/>
                    <a:p>
                      <a:pPr fontAlgn="ctr">
                        <a:buNone/>
                      </a:pPr>
                      <a:r>
                        <a:rPr lang="en-GB" sz="1000">
                          <a:solidFill>
                            <a:srgbClr val="22F6AF"/>
                          </a:solidFill>
                          <a:effectLst/>
                          <a:latin typeface="Arial"/>
                        </a:rPr>
                        <a:t>Stiff boulder clay</a:t>
                      </a:r>
                    </a:p>
                  </a:txBody>
                  <a:tcPr marL="69166" marR="69166" marT="40347" marB="40347" anchor="ctr">
                    <a:lnL w="12700" cap="flat" cmpd="sng" algn="ctr">
                      <a:solidFill>
                        <a:srgbClr val="22F6AF"/>
                      </a:solidFill>
                      <a:prstDash val="solid"/>
                      <a:round/>
                      <a:headEnd type="none" w="med" len="med"/>
                      <a:tailEnd type="none" w="med" len="med"/>
                    </a:lnL>
                    <a:solidFill>
                      <a:srgbClr val="0D1B2E"/>
                    </a:solidFill>
                  </a:tcPr>
                </a:tc>
                <a:tc>
                  <a:txBody>
                    <a:bodyPr/>
                    <a:lstStyle/>
                    <a:p>
                      <a:pPr fontAlgn="ctr">
                        <a:buNone/>
                      </a:pPr>
                      <a:r>
                        <a:rPr lang="en-GB" sz="1000">
                          <a:solidFill>
                            <a:srgbClr val="22F6AF"/>
                          </a:solidFill>
                          <a:effectLst/>
                          <a:latin typeface="Arial"/>
                        </a:rPr>
                        <a:t>300 kN/m²</a:t>
                      </a:r>
                    </a:p>
                  </a:txBody>
                  <a:tcPr marL="69166" marR="69166" marT="40347" marB="40347" anchor="ctr">
                    <a:solidFill>
                      <a:srgbClr val="0D1B2E"/>
                    </a:solidFill>
                  </a:tcPr>
                </a:tc>
                <a:tc>
                  <a:txBody>
                    <a:bodyPr/>
                    <a:lstStyle/>
                    <a:p>
                      <a:pPr fontAlgn="ctr">
                        <a:buNone/>
                      </a:pPr>
                      <a:r>
                        <a:rPr lang="en-GB" sz="1000">
                          <a:solidFill>
                            <a:srgbClr val="22F6AF"/>
                          </a:solidFill>
                          <a:effectLst/>
                          <a:latin typeface="Arial"/>
                        </a:rPr>
                        <a:t>18.2×</a:t>
                      </a:r>
                    </a:p>
                  </a:txBody>
                  <a:tcPr marL="69166" marR="69166" marT="40347" marB="40347" anchor="ctr">
                    <a:solidFill>
                      <a:srgbClr val="0D1B2E"/>
                    </a:solidFill>
                  </a:tcPr>
                </a:tc>
                <a:tc>
                  <a:txBody>
                    <a:bodyPr/>
                    <a:lstStyle/>
                    <a:p>
                      <a:pPr algn="r" fontAlgn="ctr">
                        <a:buNone/>
                      </a:pPr>
                      <a:r>
                        <a:rPr lang="en-GB" sz="1000" b="0" dirty="0">
                          <a:solidFill>
                            <a:srgbClr val="22F6AF"/>
                          </a:solidFill>
                          <a:effectLst/>
                          <a:latin typeface="Arial"/>
                        </a:rPr>
                        <a:t>Pass</a:t>
                      </a:r>
                    </a:p>
                  </a:txBody>
                  <a:tcPr marL="69166" marR="69166" marT="40347" marB="40347" anchor="ctr">
                    <a:lnR w="12700" cap="flat" cmpd="sng" algn="ctr">
                      <a:solidFill>
                        <a:srgbClr val="22F6AF"/>
                      </a:solidFill>
                      <a:prstDash val="solid"/>
                      <a:round/>
                      <a:headEnd type="none" w="med" len="med"/>
                      <a:tailEnd type="none" w="med" len="med"/>
                    </a:lnR>
                    <a:solidFill>
                      <a:srgbClr val="0D1B2E"/>
                    </a:solidFill>
                  </a:tcPr>
                </a:tc>
                <a:extLst>
                  <a:ext uri="{0D108BD9-81ED-4DB2-BD59-A6C34878D82A}">
                    <a16:rowId xmlns:a16="http://schemas.microsoft.com/office/drawing/2014/main" val="1661348359"/>
                  </a:ext>
                </a:extLst>
              </a:tr>
              <a:tr h="246586">
                <a:tc>
                  <a:txBody>
                    <a:bodyPr/>
                    <a:lstStyle/>
                    <a:p>
                      <a:pPr fontAlgn="ctr">
                        <a:buNone/>
                      </a:pPr>
                      <a:r>
                        <a:rPr lang="en-GB" sz="1000" dirty="0">
                          <a:solidFill>
                            <a:srgbClr val="22F6AF"/>
                          </a:solidFill>
                          <a:effectLst/>
                          <a:latin typeface="Arial"/>
                        </a:rPr>
                        <a:t>Stiff clay</a:t>
                      </a:r>
                    </a:p>
                  </a:txBody>
                  <a:tcPr marL="69166" marR="69166" marT="40347" marB="40347" anchor="ctr">
                    <a:lnL w="12700" cap="flat" cmpd="sng" algn="ctr">
                      <a:solidFill>
                        <a:srgbClr val="22F6AF"/>
                      </a:solidFill>
                      <a:prstDash val="solid"/>
                      <a:round/>
                      <a:headEnd type="none" w="med" len="med"/>
                      <a:tailEnd type="none" w="med" len="med"/>
                    </a:lnL>
                    <a:solidFill>
                      <a:srgbClr val="0D1B2E"/>
                    </a:solidFill>
                  </a:tcPr>
                </a:tc>
                <a:tc>
                  <a:txBody>
                    <a:bodyPr/>
                    <a:lstStyle/>
                    <a:p>
                      <a:pPr fontAlgn="ctr">
                        <a:buNone/>
                      </a:pPr>
                      <a:r>
                        <a:rPr lang="en-GB" sz="1000">
                          <a:solidFill>
                            <a:srgbClr val="22F6AF"/>
                          </a:solidFill>
                          <a:effectLst/>
                          <a:latin typeface="Arial"/>
                        </a:rPr>
                        <a:t>150 kN/m²</a:t>
                      </a:r>
                    </a:p>
                  </a:txBody>
                  <a:tcPr marL="69166" marR="69166" marT="40347" marB="40347" anchor="ctr">
                    <a:solidFill>
                      <a:srgbClr val="0D1B2E"/>
                    </a:solidFill>
                  </a:tcPr>
                </a:tc>
                <a:tc>
                  <a:txBody>
                    <a:bodyPr/>
                    <a:lstStyle/>
                    <a:p>
                      <a:pPr fontAlgn="ctr">
                        <a:buNone/>
                      </a:pPr>
                      <a:r>
                        <a:rPr lang="en-GB" sz="1000">
                          <a:solidFill>
                            <a:srgbClr val="22F6AF"/>
                          </a:solidFill>
                          <a:effectLst/>
                          <a:latin typeface="Arial"/>
                        </a:rPr>
                        <a:t>9.1×</a:t>
                      </a:r>
                    </a:p>
                  </a:txBody>
                  <a:tcPr marL="69166" marR="69166" marT="40347" marB="40347" anchor="ctr">
                    <a:solidFill>
                      <a:srgbClr val="0D1B2E"/>
                    </a:solidFill>
                  </a:tcPr>
                </a:tc>
                <a:tc>
                  <a:txBody>
                    <a:bodyPr/>
                    <a:lstStyle/>
                    <a:p>
                      <a:pPr algn="r" fontAlgn="ctr">
                        <a:buNone/>
                      </a:pPr>
                      <a:r>
                        <a:rPr lang="en-GB" sz="1000" b="0" dirty="0">
                          <a:solidFill>
                            <a:srgbClr val="22F6AF"/>
                          </a:solidFill>
                          <a:effectLst/>
                          <a:latin typeface="Arial"/>
                        </a:rPr>
                        <a:t>Pass</a:t>
                      </a:r>
                    </a:p>
                  </a:txBody>
                  <a:tcPr marL="69166" marR="69166" marT="40347" marB="40347" anchor="ctr">
                    <a:lnR w="12700" cap="flat" cmpd="sng" algn="ctr">
                      <a:solidFill>
                        <a:srgbClr val="22F6AF"/>
                      </a:solidFill>
                      <a:prstDash val="solid"/>
                      <a:round/>
                      <a:headEnd type="none" w="med" len="med"/>
                      <a:tailEnd type="none" w="med" len="med"/>
                    </a:lnR>
                    <a:solidFill>
                      <a:srgbClr val="0D1B2E"/>
                    </a:solidFill>
                  </a:tcPr>
                </a:tc>
                <a:extLst>
                  <a:ext uri="{0D108BD9-81ED-4DB2-BD59-A6C34878D82A}">
                    <a16:rowId xmlns:a16="http://schemas.microsoft.com/office/drawing/2014/main" val="2569342210"/>
                  </a:ext>
                </a:extLst>
              </a:tr>
              <a:tr h="246586">
                <a:tc>
                  <a:txBody>
                    <a:bodyPr/>
                    <a:lstStyle/>
                    <a:p>
                      <a:pPr fontAlgn="ctr">
                        <a:buNone/>
                      </a:pPr>
                      <a:r>
                        <a:rPr lang="en-GB" sz="1000">
                          <a:solidFill>
                            <a:srgbClr val="22F6AF"/>
                          </a:solidFill>
                          <a:effectLst/>
                          <a:latin typeface="Arial"/>
                        </a:rPr>
                        <a:t>Firm clay</a:t>
                      </a:r>
                    </a:p>
                  </a:txBody>
                  <a:tcPr marL="69166" marR="69166" marT="40347" marB="40347" anchor="ctr">
                    <a:lnL w="12700" cap="flat" cmpd="sng" algn="ctr">
                      <a:solidFill>
                        <a:srgbClr val="22F6AF"/>
                      </a:solidFill>
                      <a:prstDash val="solid"/>
                      <a:round/>
                      <a:headEnd type="none" w="med" len="med"/>
                      <a:tailEnd type="none" w="med" len="med"/>
                    </a:lnL>
                    <a:solidFill>
                      <a:srgbClr val="0D1B2E"/>
                    </a:solidFill>
                  </a:tcPr>
                </a:tc>
                <a:tc>
                  <a:txBody>
                    <a:bodyPr/>
                    <a:lstStyle/>
                    <a:p>
                      <a:pPr fontAlgn="ctr">
                        <a:buNone/>
                      </a:pPr>
                      <a:r>
                        <a:rPr lang="en-GB" sz="1000">
                          <a:solidFill>
                            <a:srgbClr val="22F6AF"/>
                          </a:solidFill>
                          <a:effectLst/>
                          <a:latin typeface="Arial"/>
                        </a:rPr>
                        <a:t>75 kN/m²</a:t>
                      </a:r>
                    </a:p>
                  </a:txBody>
                  <a:tcPr marL="69166" marR="69166" marT="40347" marB="40347" anchor="ctr">
                    <a:solidFill>
                      <a:srgbClr val="0D1B2E"/>
                    </a:solidFill>
                  </a:tcPr>
                </a:tc>
                <a:tc>
                  <a:txBody>
                    <a:bodyPr/>
                    <a:lstStyle/>
                    <a:p>
                      <a:pPr fontAlgn="ctr">
                        <a:buNone/>
                      </a:pPr>
                      <a:r>
                        <a:rPr lang="en-GB" sz="1000">
                          <a:solidFill>
                            <a:srgbClr val="22F6AF"/>
                          </a:solidFill>
                          <a:effectLst/>
                          <a:latin typeface="Arial"/>
                        </a:rPr>
                        <a:t>4.5×</a:t>
                      </a:r>
                    </a:p>
                  </a:txBody>
                  <a:tcPr marL="69166" marR="69166" marT="40347" marB="40347" anchor="ctr">
                    <a:solidFill>
                      <a:srgbClr val="0D1B2E"/>
                    </a:solidFill>
                  </a:tcPr>
                </a:tc>
                <a:tc>
                  <a:txBody>
                    <a:bodyPr/>
                    <a:lstStyle/>
                    <a:p>
                      <a:pPr algn="r" fontAlgn="ctr">
                        <a:buNone/>
                      </a:pPr>
                      <a:r>
                        <a:rPr lang="en-GB" sz="1000" b="0" dirty="0">
                          <a:solidFill>
                            <a:srgbClr val="22F6AF"/>
                          </a:solidFill>
                          <a:effectLst/>
                          <a:latin typeface="Arial"/>
                        </a:rPr>
                        <a:t>Pass</a:t>
                      </a:r>
                    </a:p>
                  </a:txBody>
                  <a:tcPr marL="69166" marR="69166" marT="40347" marB="40347" anchor="ctr">
                    <a:lnR w="12700" cap="flat" cmpd="sng" algn="ctr">
                      <a:solidFill>
                        <a:srgbClr val="22F6AF"/>
                      </a:solidFill>
                      <a:prstDash val="solid"/>
                      <a:round/>
                      <a:headEnd type="none" w="med" len="med"/>
                      <a:tailEnd type="none" w="med" len="med"/>
                    </a:lnR>
                    <a:solidFill>
                      <a:srgbClr val="0D1B2E"/>
                    </a:solidFill>
                  </a:tcPr>
                </a:tc>
                <a:extLst>
                  <a:ext uri="{0D108BD9-81ED-4DB2-BD59-A6C34878D82A}">
                    <a16:rowId xmlns:a16="http://schemas.microsoft.com/office/drawing/2014/main" val="54558802"/>
                  </a:ext>
                </a:extLst>
              </a:tr>
              <a:tr h="246586">
                <a:tc>
                  <a:txBody>
                    <a:bodyPr/>
                    <a:lstStyle/>
                    <a:p>
                      <a:pPr fontAlgn="ctr">
                        <a:buNone/>
                      </a:pPr>
                      <a:r>
                        <a:rPr lang="en-GB" sz="1000">
                          <a:solidFill>
                            <a:srgbClr val="22F6AF"/>
                          </a:solidFill>
                          <a:effectLst/>
                          <a:latin typeface="Arial"/>
                        </a:rPr>
                        <a:t>Soft clay</a:t>
                      </a:r>
                    </a:p>
                  </a:txBody>
                  <a:tcPr marL="69166" marR="69166" marT="40347" marB="40347" anchor="ctr">
                    <a:lnL w="12700" cap="flat" cmpd="sng" algn="ctr">
                      <a:solidFill>
                        <a:srgbClr val="22F6AF"/>
                      </a:solidFill>
                      <a:prstDash val="solid"/>
                      <a:round/>
                      <a:headEnd type="none" w="med" len="med"/>
                      <a:tailEnd type="none" w="med" len="med"/>
                    </a:lnL>
                    <a:solidFill>
                      <a:srgbClr val="0D1B2E"/>
                    </a:solidFill>
                  </a:tcPr>
                </a:tc>
                <a:tc>
                  <a:txBody>
                    <a:bodyPr/>
                    <a:lstStyle/>
                    <a:p>
                      <a:pPr fontAlgn="ctr">
                        <a:buNone/>
                      </a:pPr>
                      <a:r>
                        <a:rPr lang="en-GB" sz="1000">
                          <a:solidFill>
                            <a:srgbClr val="22F6AF"/>
                          </a:solidFill>
                          <a:effectLst/>
                          <a:latin typeface="Arial"/>
                        </a:rPr>
                        <a:t>40 kN/m²</a:t>
                      </a:r>
                    </a:p>
                  </a:txBody>
                  <a:tcPr marL="69166" marR="69166" marT="40347" marB="40347" anchor="ctr">
                    <a:solidFill>
                      <a:srgbClr val="0D1B2E"/>
                    </a:solidFill>
                  </a:tcPr>
                </a:tc>
                <a:tc>
                  <a:txBody>
                    <a:bodyPr/>
                    <a:lstStyle/>
                    <a:p>
                      <a:pPr fontAlgn="ctr">
                        <a:buNone/>
                      </a:pPr>
                      <a:r>
                        <a:rPr lang="en-GB" sz="1000">
                          <a:solidFill>
                            <a:srgbClr val="22F6AF"/>
                          </a:solidFill>
                          <a:effectLst/>
                          <a:latin typeface="Arial"/>
                        </a:rPr>
                        <a:t>2.4×</a:t>
                      </a:r>
                    </a:p>
                  </a:txBody>
                  <a:tcPr marL="69166" marR="69166" marT="40347" marB="40347" anchor="ctr">
                    <a:solidFill>
                      <a:srgbClr val="0D1B2E"/>
                    </a:solidFill>
                  </a:tcPr>
                </a:tc>
                <a:tc>
                  <a:txBody>
                    <a:bodyPr/>
                    <a:lstStyle/>
                    <a:p>
                      <a:pPr algn="r" fontAlgn="ctr">
                        <a:buNone/>
                      </a:pPr>
                      <a:r>
                        <a:rPr lang="en-GB" sz="1000" b="0" dirty="0">
                          <a:solidFill>
                            <a:srgbClr val="22F6AF"/>
                          </a:solidFill>
                          <a:effectLst/>
                          <a:latin typeface="Arial"/>
                        </a:rPr>
                        <a:t>Ground improvement</a:t>
                      </a:r>
                      <a:endParaRPr lang="en-GB" sz="1100" b="0" dirty="0">
                        <a:solidFill>
                          <a:srgbClr val="22F6AF"/>
                        </a:solidFill>
                        <a:effectLst/>
                      </a:endParaRPr>
                    </a:p>
                  </a:txBody>
                  <a:tcPr marL="69166" marR="69166" marT="40347" marB="40347" anchor="ctr">
                    <a:lnR w="12700" cap="flat" cmpd="sng" algn="ctr">
                      <a:solidFill>
                        <a:srgbClr val="22F6AF"/>
                      </a:solidFill>
                      <a:prstDash val="solid"/>
                      <a:round/>
                      <a:headEnd type="none" w="med" len="med"/>
                      <a:tailEnd type="none" w="med" len="med"/>
                    </a:lnR>
                    <a:solidFill>
                      <a:srgbClr val="0D1B2E"/>
                    </a:solidFill>
                  </a:tcPr>
                </a:tc>
                <a:extLst>
                  <a:ext uri="{0D108BD9-81ED-4DB2-BD59-A6C34878D82A}">
                    <a16:rowId xmlns:a16="http://schemas.microsoft.com/office/drawing/2014/main" val="3299093081"/>
                  </a:ext>
                </a:extLst>
              </a:tr>
              <a:tr h="246586">
                <a:tc>
                  <a:txBody>
                    <a:bodyPr/>
                    <a:lstStyle/>
                    <a:p>
                      <a:pPr fontAlgn="ctr">
                        <a:buNone/>
                      </a:pPr>
                      <a:r>
                        <a:rPr lang="en-GB" sz="1000" dirty="0">
                          <a:solidFill>
                            <a:srgbClr val="22F6AF"/>
                          </a:solidFill>
                          <a:effectLst/>
                          <a:latin typeface="Arial"/>
                        </a:rPr>
                        <a:t>Very soft clay / made ground</a:t>
                      </a:r>
                    </a:p>
                  </a:txBody>
                  <a:tcPr marL="69166" marR="69166" marT="40347" marB="40347" anchor="ctr">
                    <a:lnL w="12700" cap="flat" cmpd="sng" algn="ctr">
                      <a:solidFill>
                        <a:srgbClr val="22F6AF"/>
                      </a:solidFill>
                      <a:prstDash val="solid"/>
                      <a:round/>
                      <a:headEnd type="none" w="med" len="med"/>
                      <a:tailEnd type="none" w="med" len="med"/>
                    </a:lnL>
                    <a:lnB w="12700" cap="flat" cmpd="sng" algn="ctr">
                      <a:solidFill>
                        <a:srgbClr val="22F6AF"/>
                      </a:solidFill>
                      <a:prstDash val="solid"/>
                      <a:round/>
                      <a:headEnd type="none" w="med" len="med"/>
                      <a:tailEnd type="none" w="med" len="med"/>
                    </a:lnB>
                    <a:solidFill>
                      <a:srgbClr val="0D1B2E"/>
                    </a:solidFill>
                  </a:tcPr>
                </a:tc>
                <a:tc>
                  <a:txBody>
                    <a:bodyPr/>
                    <a:lstStyle/>
                    <a:p>
                      <a:pPr fontAlgn="ctr">
                        <a:buNone/>
                      </a:pPr>
                      <a:r>
                        <a:rPr lang="en-GB" sz="1000">
                          <a:solidFill>
                            <a:srgbClr val="22F6AF"/>
                          </a:solidFill>
                          <a:effectLst/>
                          <a:latin typeface="Arial"/>
                        </a:rPr>
                        <a:t>&lt;25 kN/m²</a:t>
                      </a:r>
                    </a:p>
                  </a:txBody>
                  <a:tcPr marL="69166" marR="69166" marT="40347" marB="40347" anchor="ctr">
                    <a:lnB w="12700" cap="flat" cmpd="sng" algn="ctr">
                      <a:solidFill>
                        <a:srgbClr val="22F6AF"/>
                      </a:solidFill>
                      <a:prstDash val="solid"/>
                      <a:round/>
                      <a:headEnd type="none" w="med" len="med"/>
                      <a:tailEnd type="none" w="med" len="med"/>
                    </a:lnB>
                    <a:solidFill>
                      <a:srgbClr val="0D1B2E"/>
                    </a:solidFill>
                  </a:tcPr>
                </a:tc>
                <a:tc>
                  <a:txBody>
                    <a:bodyPr/>
                    <a:lstStyle/>
                    <a:p>
                      <a:pPr fontAlgn="ctr">
                        <a:buNone/>
                      </a:pPr>
                      <a:r>
                        <a:rPr lang="en-GB" sz="1000">
                          <a:solidFill>
                            <a:srgbClr val="22F6AF"/>
                          </a:solidFill>
                          <a:effectLst/>
                          <a:latin typeface="Arial"/>
                        </a:rPr>
                        <a:t>&lt;1.5×</a:t>
                      </a:r>
                    </a:p>
                  </a:txBody>
                  <a:tcPr marL="69166" marR="69166" marT="40347" marB="40347" anchor="ctr">
                    <a:lnB w="12700" cap="flat" cmpd="sng" algn="ctr">
                      <a:solidFill>
                        <a:srgbClr val="22F6AF"/>
                      </a:solidFill>
                      <a:prstDash val="solid"/>
                      <a:round/>
                      <a:headEnd type="none" w="med" len="med"/>
                      <a:tailEnd type="none" w="med" len="med"/>
                    </a:lnB>
                    <a:solidFill>
                      <a:srgbClr val="0D1B2E"/>
                    </a:solidFill>
                  </a:tcPr>
                </a:tc>
                <a:tc>
                  <a:txBody>
                    <a:bodyPr/>
                    <a:lstStyle/>
                    <a:p>
                      <a:pPr algn="r" fontAlgn="ctr">
                        <a:buNone/>
                      </a:pPr>
                      <a:r>
                        <a:rPr lang="en-GB" sz="1000" b="0" dirty="0">
                          <a:solidFill>
                            <a:srgbClr val="22F6AF"/>
                          </a:solidFill>
                          <a:effectLst/>
                          <a:latin typeface="Arial"/>
                        </a:rPr>
                        <a:t>Not suitable</a:t>
                      </a:r>
                    </a:p>
                  </a:txBody>
                  <a:tcPr marL="69166" marR="69166" marT="40347" marB="40347" anchor="ctr">
                    <a:lnR w="12700" cap="flat" cmpd="sng" algn="ctr">
                      <a:solidFill>
                        <a:srgbClr val="22F6AF"/>
                      </a:solidFill>
                      <a:prstDash val="solid"/>
                      <a:round/>
                      <a:headEnd type="none" w="med" len="med"/>
                      <a:tailEnd type="none" w="med" len="med"/>
                    </a:lnR>
                    <a:lnB w="12700" cap="flat" cmpd="sng" algn="ctr">
                      <a:solidFill>
                        <a:srgbClr val="22F6AF"/>
                      </a:solidFill>
                      <a:prstDash val="solid"/>
                      <a:round/>
                      <a:headEnd type="none" w="med" len="med"/>
                      <a:tailEnd type="none" w="med" len="med"/>
                    </a:lnB>
                    <a:solidFill>
                      <a:srgbClr val="0D1B2E"/>
                    </a:solidFill>
                  </a:tcPr>
                </a:tc>
                <a:extLst>
                  <a:ext uri="{0D108BD9-81ED-4DB2-BD59-A6C34878D82A}">
                    <a16:rowId xmlns:a16="http://schemas.microsoft.com/office/drawing/2014/main" val="3296533788"/>
                  </a:ext>
                </a:extLst>
              </a:tr>
            </a:tbl>
          </a:graphicData>
        </a:graphic>
      </p:graphicFrame>
      <p:sp>
        <p:nvSpPr>
          <p:cNvPr id="203" name="Text 56"/>
          <p:cNvSpPr/>
          <p:nvPr/>
        </p:nvSpPr>
        <p:spPr>
          <a:xfrm>
            <a:off x="320040" y="4901184"/>
            <a:ext cx="4572000" cy="228600"/>
          </a:xfrm>
          <a:prstGeom prst="rect">
            <a:avLst/>
          </a:prstGeom>
          <a:noFill/>
          <a:ln/>
        </p:spPr>
        <p:txBody>
          <a:bodyPr wrap="square" rtlCol="0" anchor="ctr"/>
          <a:lstStyle/>
          <a:p>
            <a:pPr marL="0" indent="0">
              <a:buNone/>
            </a:pPr>
            <a:r>
              <a:rPr lang="en-US" sz="800" dirty="0">
                <a:solidFill>
                  <a:srgbClr val="B87333"/>
                </a:solidFill>
                <a:latin typeface="Arial" pitchFamily="34" charset="0"/>
                <a:ea typeface="Arial" pitchFamily="34" charset="-122"/>
                <a:cs typeface="Arial" pitchFamily="34" charset="-120"/>
              </a:rPr>
              <a:t>UMPIREAL  ·  CONFIDENTIAL</a:t>
            </a:r>
            <a:endParaRPr lang="en-US" sz="800" dirty="0"/>
          </a:p>
        </p:txBody>
      </p:sp>
      <p:sp>
        <p:nvSpPr>
          <p:cNvPr id="204" name="Text 57"/>
          <p:cNvSpPr/>
          <p:nvPr/>
        </p:nvSpPr>
        <p:spPr>
          <a:xfrm>
            <a:off x="4572000" y="4901184"/>
            <a:ext cx="4251960" cy="228600"/>
          </a:xfrm>
          <a:prstGeom prst="rect">
            <a:avLst/>
          </a:prstGeom>
          <a:noFill/>
          <a:ln/>
        </p:spPr>
        <p:txBody>
          <a:bodyPr wrap="square" rtlCol="0" anchor="ctr"/>
          <a:lstStyle/>
          <a:p>
            <a:pPr marL="0" indent="0" algn="r">
              <a:buNone/>
            </a:pPr>
            <a:r>
              <a:rPr lang="en-US" sz="800" dirty="0">
                <a:solidFill>
                  <a:srgbClr val="9CA3AF"/>
                </a:solidFill>
                <a:latin typeface="Arial" pitchFamily="34" charset="0"/>
                <a:ea typeface="Arial" pitchFamily="34" charset="-122"/>
                <a:cs typeface="Arial" pitchFamily="34" charset="-120"/>
              </a:rPr>
              <a:t>09b — Bearing Capacity</a:t>
            </a:r>
            <a:endParaRPr lang="en-US" sz="800" dirty="0"/>
          </a:p>
        </p:txBody>
      </p:sp>
    </p:spTree>
    <p:extLst>
      <p:ext uri="{BB962C8B-B14F-4D97-AF65-F5344CB8AC3E}">
        <p14:creationId xmlns:p14="http://schemas.microsoft.com/office/powerpoint/2010/main" val="1102781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11480" y="164592"/>
            <a:ext cx="54864" cy="384048"/>
          </a:xfrm>
          <a:prstGeom prst="rect">
            <a:avLst/>
          </a:prstGeom>
          <a:solidFill>
            <a:srgbClr val="B87333"/>
          </a:solidFill>
          <a:ln w="12700">
            <a:solidFill>
              <a:srgbClr val="B87333"/>
            </a:solidFill>
            <a:prstDash val="solid"/>
          </a:ln>
        </p:spPr>
        <p:txBody>
          <a:bodyPr/>
          <a:lstStyle/>
          <a:p>
            <a:endParaRPr lang="en-GB"/>
          </a:p>
        </p:txBody>
      </p:sp>
      <p:sp>
        <p:nvSpPr>
          <p:cNvPr id="3" name="Text 1"/>
          <p:cNvSpPr/>
          <p:nvPr/>
        </p:nvSpPr>
        <p:spPr>
          <a:xfrm>
            <a:off x="548640" y="155448"/>
            <a:ext cx="8229600" cy="411480"/>
          </a:xfrm>
          <a:prstGeom prst="rect">
            <a:avLst/>
          </a:prstGeom>
          <a:noFill/>
          <a:ln/>
        </p:spPr>
        <p:txBody>
          <a:bodyPr wrap="square" rtlCol="0" anchor="ctr"/>
          <a:lstStyle/>
          <a:p>
            <a:pPr marL="0" indent="0">
              <a:buNone/>
            </a:pPr>
            <a:r>
              <a:rPr lang="en-US" sz="1100" b="1" kern="0" spc="300" dirty="0">
                <a:solidFill>
                  <a:srgbClr val="B87333"/>
                </a:solidFill>
                <a:latin typeface="Arial" pitchFamily="34" charset="0"/>
                <a:ea typeface="Arial" pitchFamily="34" charset="-122"/>
                <a:cs typeface="Arial" pitchFamily="34" charset="-120"/>
              </a:rPr>
              <a:t>PUBLIC BENEFIT</a:t>
            </a:r>
            <a:endParaRPr lang="en-US" sz="1100" dirty="0"/>
          </a:p>
        </p:txBody>
      </p:sp>
      <p:sp>
        <p:nvSpPr>
          <p:cNvPr id="4" name="Text 2"/>
          <p:cNvSpPr/>
          <p:nvPr/>
        </p:nvSpPr>
        <p:spPr>
          <a:xfrm>
            <a:off x="411480" y="594360"/>
            <a:ext cx="8321040" cy="502920"/>
          </a:xfrm>
          <a:prstGeom prst="rect">
            <a:avLst/>
          </a:prstGeom>
          <a:noFill/>
          <a:ln/>
        </p:spPr>
        <p:txBody>
          <a:bodyPr wrap="square" rtlCol="0" anchor="ctr"/>
          <a:lstStyle/>
          <a:p>
            <a:pPr marL="0" indent="0" algn="ctr">
              <a:buNone/>
            </a:pPr>
            <a:r>
              <a:rPr lang="en-US" sz="2200" b="1" spc="300" dirty="0">
                <a:solidFill>
                  <a:srgbClr val="E5E0D8"/>
                </a:solidFill>
                <a:latin typeface="Aptos" panose="020B0004020202020204" pitchFamily="34" charset="0"/>
                <a:ea typeface="Arial" pitchFamily="34" charset="-122"/>
                <a:cs typeface="Arial" pitchFamily="34" charset="-120"/>
              </a:rPr>
              <a:t>8 GWh Preserved. 2,000 Tonnes Avoided. </a:t>
            </a:r>
          </a:p>
          <a:p>
            <a:pPr marL="0" indent="0" algn="ctr">
              <a:buNone/>
            </a:pPr>
            <a:r>
              <a:rPr lang="en-US" sz="2200" b="1" spc="300" dirty="0">
                <a:solidFill>
                  <a:srgbClr val="E5E0D8"/>
                </a:solidFill>
                <a:latin typeface="Aptos" panose="020B0004020202020204" pitchFamily="34" charset="0"/>
                <a:ea typeface="Arial" pitchFamily="34" charset="-122"/>
                <a:cs typeface="Arial" pitchFamily="34" charset="-120"/>
              </a:rPr>
              <a:t>Per Junction. Per Year.</a:t>
            </a:r>
            <a:endParaRPr lang="en-US" sz="2200" spc="300" dirty="0">
              <a:latin typeface="Aptos" panose="020B0004020202020204" pitchFamily="34" charset="0"/>
            </a:endParaRPr>
          </a:p>
        </p:txBody>
      </p:sp>
      <p:sp>
        <p:nvSpPr>
          <p:cNvPr id="5" name="Shape 3"/>
          <p:cNvSpPr/>
          <p:nvPr/>
        </p:nvSpPr>
        <p:spPr>
          <a:xfrm>
            <a:off x="411480" y="1170432"/>
            <a:ext cx="2743200" cy="1370006"/>
          </a:xfrm>
          <a:prstGeom prst="rect">
            <a:avLst/>
          </a:prstGeom>
          <a:solidFill>
            <a:srgbClr val="08111E"/>
          </a:solidFill>
          <a:ln w="12700">
            <a:solidFill>
              <a:srgbClr val="F0B429"/>
            </a:solidFill>
            <a:prstDash val="solid"/>
          </a:ln>
        </p:spPr>
        <p:txBody>
          <a:bodyPr/>
          <a:lstStyle/>
          <a:p>
            <a:endParaRPr lang="en-GB"/>
          </a:p>
        </p:txBody>
      </p:sp>
      <p:sp>
        <p:nvSpPr>
          <p:cNvPr id="6" name="Text 4"/>
          <p:cNvSpPr/>
          <p:nvPr/>
        </p:nvSpPr>
        <p:spPr>
          <a:xfrm>
            <a:off x="548639" y="1261872"/>
            <a:ext cx="2459421" cy="470940"/>
          </a:xfrm>
          <a:prstGeom prst="rect">
            <a:avLst/>
          </a:prstGeom>
          <a:solidFill>
            <a:srgbClr val="08111E"/>
          </a:solidFill>
          <a:ln/>
        </p:spPr>
        <p:txBody>
          <a:bodyPr wrap="square" rtlCol="0" anchor="ctr"/>
          <a:lstStyle/>
          <a:p>
            <a:pPr marL="0" indent="0">
              <a:buNone/>
            </a:pPr>
            <a:r>
              <a:rPr lang="en-US" sz="2600" b="1" dirty="0">
                <a:solidFill>
                  <a:srgbClr val="F0B429"/>
                </a:solidFill>
                <a:latin typeface="Arial" pitchFamily="34" charset="0"/>
                <a:ea typeface="Arial" pitchFamily="34" charset="-122"/>
                <a:cs typeface="Arial" pitchFamily="34" charset="-120"/>
              </a:rPr>
              <a:t>8 GWh</a:t>
            </a:r>
            <a:endParaRPr lang="en-US" sz="2600" dirty="0"/>
          </a:p>
        </p:txBody>
      </p:sp>
      <p:sp>
        <p:nvSpPr>
          <p:cNvPr id="7" name="Text 5"/>
          <p:cNvSpPr/>
          <p:nvPr/>
        </p:nvSpPr>
        <p:spPr>
          <a:xfrm>
            <a:off x="548639" y="1764792"/>
            <a:ext cx="2459421" cy="256876"/>
          </a:xfrm>
          <a:prstGeom prst="rect">
            <a:avLst/>
          </a:prstGeom>
          <a:solidFill>
            <a:srgbClr val="08111E"/>
          </a:solidFill>
          <a:ln/>
        </p:spPr>
        <p:txBody>
          <a:bodyPr wrap="square" rtlCol="0" anchor="ctr"/>
          <a:lstStyle/>
          <a:p>
            <a:pPr marL="0" indent="0">
              <a:buNone/>
            </a:pPr>
            <a:r>
              <a:rPr lang="en-US" sz="1100" b="1" dirty="0">
                <a:solidFill>
                  <a:srgbClr val="E5E0D8"/>
                </a:solidFill>
                <a:latin typeface="Arial" pitchFamily="34" charset="0"/>
                <a:ea typeface="Arial" pitchFamily="34" charset="-122"/>
                <a:cs typeface="Arial" pitchFamily="34" charset="-120"/>
              </a:rPr>
              <a:t>Fuel energy preserved</a:t>
            </a:r>
            <a:endParaRPr lang="en-US" sz="1100" dirty="0"/>
          </a:p>
        </p:txBody>
      </p:sp>
      <p:sp>
        <p:nvSpPr>
          <p:cNvPr id="8" name="Text 6"/>
          <p:cNvSpPr/>
          <p:nvPr/>
        </p:nvSpPr>
        <p:spPr>
          <a:xfrm>
            <a:off x="548639" y="2048256"/>
            <a:ext cx="2459421" cy="470940"/>
          </a:xfrm>
          <a:prstGeom prst="rect">
            <a:avLst/>
          </a:prstGeom>
          <a:solidFill>
            <a:srgbClr val="08111E"/>
          </a:solidFill>
          <a:ln/>
        </p:spPr>
        <p:txBody>
          <a:bodyPr wrap="square" rtlCol="0" anchor="ctr"/>
          <a:lstStyle/>
          <a:p>
            <a:pPr marL="0" indent="0">
              <a:buNone/>
            </a:pPr>
            <a:r>
              <a:rPr lang="en-US" sz="950" dirty="0">
                <a:solidFill>
                  <a:srgbClr val="9CA3AF"/>
                </a:solidFill>
                <a:latin typeface="Arial" pitchFamily="34" charset="0"/>
                <a:ea typeface="Arial" pitchFamily="34" charset="-122"/>
                <a:cs typeface="Arial" pitchFamily="34" charset="-120"/>
              </a:rPr>
              <a:t>Stays in tanks — never burned</a:t>
            </a:r>
            <a:endParaRPr lang="en-US" sz="950" dirty="0"/>
          </a:p>
        </p:txBody>
      </p:sp>
      <p:sp>
        <p:nvSpPr>
          <p:cNvPr id="9" name="Shape 7"/>
          <p:cNvSpPr/>
          <p:nvPr/>
        </p:nvSpPr>
        <p:spPr>
          <a:xfrm>
            <a:off x="3200400" y="1170432"/>
            <a:ext cx="2743200" cy="1370006"/>
          </a:xfrm>
          <a:prstGeom prst="rect">
            <a:avLst/>
          </a:prstGeom>
          <a:solidFill>
            <a:srgbClr val="08111E"/>
          </a:solidFill>
          <a:ln w="12700">
            <a:solidFill>
              <a:srgbClr val="22F6AF"/>
            </a:solidFill>
            <a:prstDash val="solid"/>
          </a:ln>
        </p:spPr>
        <p:txBody>
          <a:bodyPr/>
          <a:lstStyle/>
          <a:p>
            <a:endParaRPr lang="en-GB">
              <a:solidFill>
                <a:srgbClr val="22F6AF"/>
              </a:solidFill>
            </a:endParaRPr>
          </a:p>
        </p:txBody>
      </p:sp>
      <p:sp>
        <p:nvSpPr>
          <p:cNvPr id="10" name="Text 8"/>
          <p:cNvSpPr/>
          <p:nvPr/>
        </p:nvSpPr>
        <p:spPr>
          <a:xfrm>
            <a:off x="3337559" y="1261872"/>
            <a:ext cx="2459421" cy="470940"/>
          </a:xfrm>
          <a:prstGeom prst="rect">
            <a:avLst/>
          </a:prstGeom>
          <a:solidFill>
            <a:srgbClr val="08111E"/>
          </a:solidFill>
          <a:ln/>
        </p:spPr>
        <p:txBody>
          <a:bodyPr wrap="square" rtlCol="0" anchor="ctr"/>
          <a:lstStyle/>
          <a:p>
            <a:pPr marL="0" indent="0">
              <a:buNone/>
            </a:pPr>
            <a:r>
              <a:rPr lang="en-US" sz="2600" b="1" dirty="0">
                <a:solidFill>
                  <a:srgbClr val="22F6AF"/>
                </a:solidFill>
                <a:latin typeface="Arial" pitchFamily="34" charset="0"/>
                <a:ea typeface="Arial" pitchFamily="34" charset="-122"/>
                <a:cs typeface="Arial" pitchFamily="34" charset="-120"/>
              </a:rPr>
              <a:t>2,000 t</a:t>
            </a:r>
            <a:endParaRPr lang="en-US" sz="2600" dirty="0">
              <a:solidFill>
                <a:srgbClr val="22F6AF"/>
              </a:solidFill>
            </a:endParaRPr>
          </a:p>
        </p:txBody>
      </p:sp>
      <p:sp>
        <p:nvSpPr>
          <p:cNvPr id="11" name="Text 9"/>
          <p:cNvSpPr/>
          <p:nvPr/>
        </p:nvSpPr>
        <p:spPr>
          <a:xfrm>
            <a:off x="3337559" y="1764792"/>
            <a:ext cx="2459421" cy="256876"/>
          </a:xfrm>
          <a:prstGeom prst="rect">
            <a:avLst/>
          </a:prstGeom>
          <a:solidFill>
            <a:srgbClr val="08111E"/>
          </a:solidFill>
          <a:ln/>
        </p:spPr>
        <p:txBody>
          <a:bodyPr wrap="square" rtlCol="0" anchor="ctr"/>
          <a:lstStyle/>
          <a:p>
            <a:pPr marL="0" indent="0">
              <a:buNone/>
            </a:pPr>
            <a:r>
              <a:rPr lang="en-US" sz="1100" b="1" dirty="0">
                <a:solidFill>
                  <a:srgbClr val="E5E0D8"/>
                </a:solidFill>
                <a:latin typeface="Arial" pitchFamily="34" charset="0"/>
                <a:ea typeface="Arial" pitchFamily="34" charset="-122"/>
                <a:cs typeface="Arial" pitchFamily="34" charset="-120"/>
              </a:rPr>
              <a:t>CO₂ avoided</a:t>
            </a:r>
            <a:endParaRPr lang="en-US" sz="1100" dirty="0"/>
          </a:p>
        </p:txBody>
      </p:sp>
      <p:sp>
        <p:nvSpPr>
          <p:cNvPr id="12" name="Text 10"/>
          <p:cNvSpPr/>
          <p:nvPr/>
        </p:nvSpPr>
        <p:spPr>
          <a:xfrm>
            <a:off x="3337559" y="2048256"/>
            <a:ext cx="2459421" cy="470940"/>
          </a:xfrm>
          <a:prstGeom prst="rect">
            <a:avLst/>
          </a:prstGeom>
          <a:solidFill>
            <a:srgbClr val="08111E"/>
          </a:solidFill>
          <a:ln/>
        </p:spPr>
        <p:txBody>
          <a:bodyPr wrap="square" rtlCol="0" anchor="ctr"/>
          <a:lstStyle/>
          <a:p>
            <a:pPr marL="0" indent="0">
              <a:buNone/>
            </a:pPr>
            <a:r>
              <a:rPr lang="en-US" sz="950" dirty="0">
                <a:solidFill>
                  <a:srgbClr val="9CA3AF"/>
                </a:solidFill>
                <a:latin typeface="Arial" pitchFamily="34" charset="0"/>
                <a:ea typeface="Arial" pitchFamily="34" charset="-122"/>
                <a:cs typeface="Arial" pitchFamily="34" charset="-120"/>
              </a:rPr>
              <a:t>Equivalent to planting</a:t>
            </a:r>
            <a:endParaRPr lang="en-US" sz="950" dirty="0"/>
          </a:p>
          <a:p>
            <a:pPr marL="0" indent="0">
              <a:buNone/>
            </a:pPr>
            <a:r>
              <a:rPr lang="en-US" sz="950" dirty="0">
                <a:solidFill>
                  <a:srgbClr val="9CA3AF"/>
                </a:solidFill>
                <a:latin typeface="Arial" pitchFamily="34" charset="0"/>
                <a:ea typeface="Arial" pitchFamily="34" charset="-122"/>
                <a:cs typeface="Arial" pitchFamily="34" charset="-120"/>
              </a:rPr>
              <a:t>200,000 trees/yr</a:t>
            </a:r>
            <a:endParaRPr lang="en-US" sz="950" dirty="0"/>
          </a:p>
        </p:txBody>
      </p:sp>
      <p:sp>
        <p:nvSpPr>
          <p:cNvPr id="13" name="Shape 11"/>
          <p:cNvSpPr/>
          <p:nvPr/>
        </p:nvSpPr>
        <p:spPr>
          <a:xfrm>
            <a:off x="5989320" y="1170432"/>
            <a:ext cx="2743200" cy="1370006"/>
          </a:xfrm>
          <a:prstGeom prst="rect">
            <a:avLst/>
          </a:prstGeom>
          <a:solidFill>
            <a:srgbClr val="08111E"/>
          </a:solidFill>
          <a:ln w="12700">
            <a:solidFill>
              <a:srgbClr val="22D3EE"/>
            </a:solidFill>
            <a:prstDash val="solid"/>
          </a:ln>
        </p:spPr>
        <p:txBody>
          <a:bodyPr/>
          <a:lstStyle/>
          <a:p>
            <a:endParaRPr lang="en-GB"/>
          </a:p>
        </p:txBody>
      </p:sp>
      <p:sp>
        <p:nvSpPr>
          <p:cNvPr id="14" name="Text 12"/>
          <p:cNvSpPr/>
          <p:nvPr/>
        </p:nvSpPr>
        <p:spPr>
          <a:xfrm>
            <a:off x="6126479" y="1261872"/>
            <a:ext cx="2459421" cy="470940"/>
          </a:xfrm>
          <a:prstGeom prst="rect">
            <a:avLst/>
          </a:prstGeom>
          <a:solidFill>
            <a:srgbClr val="08111E"/>
          </a:solidFill>
          <a:ln/>
        </p:spPr>
        <p:txBody>
          <a:bodyPr wrap="square" rtlCol="0" anchor="ctr"/>
          <a:lstStyle/>
          <a:p>
            <a:pPr marL="0" indent="0">
              <a:buNone/>
            </a:pPr>
            <a:r>
              <a:rPr lang="en-US" sz="2600" b="1" dirty="0">
                <a:solidFill>
                  <a:srgbClr val="22D3EE"/>
                </a:solidFill>
                <a:latin typeface="Arial" pitchFamily="34" charset="0"/>
                <a:ea typeface="Arial" pitchFamily="34" charset="-122"/>
                <a:cs typeface="Arial" pitchFamily="34" charset="-120"/>
              </a:rPr>
              <a:t>€1.80M</a:t>
            </a:r>
            <a:endParaRPr lang="en-US" sz="2600" dirty="0"/>
          </a:p>
        </p:txBody>
      </p:sp>
      <p:sp>
        <p:nvSpPr>
          <p:cNvPr id="15" name="Text 13"/>
          <p:cNvSpPr/>
          <p:nvPr/>
        </p:nvSpPr>
        <p:spPr>
          <a:xfrm>
            <a:off x="6126479" y="1764792"/>
            <a:ext cx="2459421" cy="256876"/>
          </a:xfrm>
          <a:prstGeom prst="rect">
            <a:avLst/>
          </a:prstGeom>
          <a:solidFill>
            <a:srgbClr val="08111E"/>
          </a:solidFill>
          <a:ln/>
        </p:spPr>
        <p:txBody>
          <a:bodyPr wrap="square" rtlCol="0" anchor="ctr"/>
          <a:lstStyle/>
          <a:p>
            <a:pPr marL="0" indent="0">
              <a:buNone/>
            </a:pPr>
            <a:r>
              <a:rPr lang="en-US" sz="1100" b="1" dirty="0">
                <a:solidFill>
                  <a:srgbClr val="E5E0D8"/>
                </a:solidFill>
                <a:latin typeface="Arial" pitchFamily="34" charset="0"/>
                <a:ea typeface="Arial" pitchFamily="34" charset="-122"/>
                <a:cs typeface="Arial" pitchFamily="34" charset="-120"/>
              </a:rPr>
              <a:t>Fleet fuel saving</a:t>
            </a:r>
            <a:endParaRPr lang="en-US" sz="1100" dirty="0"/>
          </a:p>
        </p:txBody>
      </p:sp>
      <p:sp>
        <p:nvSpPr>
          <p:cNvPr id="16" name="Text 14"/>
          <p:cNvSpPr/>
          <p:nvPr/>
        </p:nvSpPr>
        <p:spPr>
          <a:xfrm>
            <a:off x="6126479" y="2048256"/>
            <a:ext cx="2459421" cy="470940"/>
          </a:xfrm>
          <a:prstGeom prst="rect">
            <a:avLst/>
          </a:prstGeom>
          <a:solidFill>
            <a:srgbClr val="08111E"/>
          </a:solidFill>
          <a:ln/>
        </p:spPr>
        <p:txBody>
          <a:bodyPr wrap="square" rtlCol="0" anchor="ctr"/>
          <a:lstStyle/>
          <a:p>
            <a:pPr marL="0" indent="0">
              <a:buNone/>
            </a:pPr>
            <a:r>
              <a:rPr lang="en-US" sz="950" dirty="0">
                <a:solidFill>
                  <a:srgbClr val="9CA3AF"/>
                </a:solidFill>
                <a:latin typeface="Arial" pitchFamily="34" charset="0"/>
                <a:ea typeface="Arial" pitchFamily="34" charset="-122"/>
                <a:cs typeface="Arial" pitchFamily="34" charset="-120"/>
              </a:rPr>
              <a:t>~900,000 litres @ €2.00/L</a:t>
            </a:r>
            <a:endParaRPr lang="en-US" sz="950" dirty="0"/>
          </a:p>
        </p:txBody>
      </p:sp>
      <p:sp>
        <p:nvSpPr>
          <p:cNvPr id="17" name="Shape 15"/>
          <p:cNvSpPr/>
          <p:nvPr/>
        </p:nvSpPr>
        <p:spPr>
          <a:xfrm>
            <a:off x="411480" y="2770632"/>
            <a:ext cx="2743200" cy="1370006"/>
          </a:xfrm>
          <a:prstGeom prst="rect">
            <a:avLst/>
          </a:prstGeom>
          <a:solidFill>
            <a:srgbClr val="08111E"/>
          </a:solidFill>
          <a:ln w="12700">
            <a:solidFill>
              <a:srgbClr val="D4956A"/>
            </a:solidFill>
            <a:prstDash val="solid"/>
          </a:ln>
        </p:spPr>
        <p:txBody>
          <a:bodyPr/>
          <a:lstStyle/>
          <a:p>
            <a:endParaRPr lang="en-GB"/>
          </a:p>
        </p:txBody>
      </p:sp>
      <p:sp>
        <p:nvSpPr>
          <p:cNvPr id="18" name="Text 16"/>
          <p:cNvSpPr/>
          <p:nvPr/>
        </p:nvSpPr>
        <p:spPr>
          <a:xfrm>
            <a:off x="548639" y="2862072"/>
            <a:ext cx="2459421" cy="470940"/>
          </a:xfrm>
          <a:prstGeom prst="rect">
            <a:avLst/>
          </a:prstGeom>
          <a:solidFill>
            <a:srgbClr val="08111E"/>
          </a:solidFill>
          <a:ln/>
        </p:spPr>
        <p:txBody>
          <a:bodyPr wrap="square" rtlCol="0" anchor="ctr"/>
          <a:lstStyle/>
          <a:p>
            <a:pPr marL="0" indent="0">
              <a:buNone/>
            </a:pPr>
            <a:r>
              <a:rPr lang="en-US" sz="2600" b="1" dirty="0">
                <a:solidFill>
                  <a:srgbClr val="D4956A"/>
                </a:solidFill>
                <a:latin typeface="Arial" pitchFamily="34" charset="0"/>
                <a:ea typeface="Arial" pitchFamily="34" charset="-122"/>
                <a:cs typeface="Arial" pitchFamily="34" charset="-120"/>
              </a:rPr>
              <a:t>60,833 hrs</a:t>
            </a:r>
            <a:endParaRPr lang="en-US" sz="2600" dirty="0"/>
          </a:p>
        </p:txBody>
      </p:sp>
      <p:sp>
        <p:nvSpPr>
          <p:cNvPr id="19" name="Text 17"/>
          <p:cNvSpPr/>
          <p:nvPr/>
        </p:nvSpPr>
        <p:spPr>
          <a:xfrm>
            <a:off x="548639" y="3364992"/>
            <a:ext cx="2459421" cy="256876"/>
          </a:xfrm>
          <a:prstGeom prst="rect">
            <a:avLst/>
          </a:prstGeom>
          <a:solidFill>
            <a:srgbClr val="08111E"/>
          </a:solidFill>
          <a:ln/>
        </p:spPr>
        <p:txBody>
          <a:bodyPr wrap="square" rtlCol="0" anchor="ctr"/>
          <a:lstStyle/>
          <a:p>
            <a:pPr marL="0" indent="0">
              <a:buNone/>
            </a:pPr>
            <a:r>
              <a:rPr lang="en-US" sz="1100" b="1" dirty="0">
                <a:solidFill>
                  <a:srgbClr val="E5E0D8"/>
                </a:solidFill>
                <a:latin typeface="Arial" pitchFamily="34" charset="0"/>
                <a:ea typeface="Arial" pitchFamily="34" charset="-122"/>
                <a:cs typeface="Arial" pitchFamily="34" charset="-120"/>
              </a:rPr>
              <a:t>Commuter time saved</a:t>
            </a:r>
            <a:endParaRPr lang="en-US" sz="1100" dirty="0"/>
          </a:p>
        </p:txBody>
      </p:sp>
      <p:sp>
        <p:nvSpPr>
          <p:cNvPr id="20" name="Text 18"/>
          <p:cNvSpPr/>
          <p:nvPr/>
        </p:nvSpPr>
        <p:spPr>
          <a:xfrm>
            <a:off x="548639" y="3648456"/>
            <a:ext cx="2459421" cy="470940"/>
          </a:xfrm>
          <a:prstGeom prst="rect">
            <a:avLst/>
          </a:prstGeom>
          <a:solidFill>
            <a:srgbClr val="08111E"/>
          </a:solidFill>
          <a:ln/>
        </p:spPr>
        <p:txBody>
          <a:bodyPr wrap="square" rtlCol="0" anchor="ctr"/>
          <a:lstStyle/>
          <a:p>
            <a:pPr marL="0" indent="0">
              <a:buNone/>
            </a:pPr>
            <a:r>
              <a:rPr lang="en-US" sz="950" dirty="0">
                <a:solidFill>
                  <a:srgbClr val="9CA3AF"/>
                </a:solidFill>
                <a:latin typeface="Arial" pitchFamily="34" charset="0"/>
                <a:ea typeface="Arial" pitchFamily="34" charset="-122"/>
                <a:cs typeface="Arial" pitchFamily="34" charset="-120"/>
              </a:rPr>
              <a:t>€1.09M/yr value @ €18/hr</a:t>
            </a:r>
            <a:endParaRPr lang="en-US" sz="950" dirty="0"/>
          </a:p>
        </p:txBody>
      </p:sp>
      <p:sp>
        <p:nvSpPr>
          <p:cNvPr id="21" name="Shape 19"/>
          <p:cNvSpPr/>
          <p:nvPr/>
        </p:nvSpPr>
        <p:spPr>
          <a:xfrm>
            <a:off x="3200400" y="2770632"/>
            <a:ext cx="2743200" cy="1370006"/>
          </a:xfrm>
          <a:prstGeom prst="rect">
            <a:avLst/>
          </a:prstGeom>
          <a:solidFill>
            <a:srgbClr val="08111E"/>
          </a:solidFill>
          <a:ln w="12700">
            <a:solidFill>
              <a:srgbClr val="F0B429"/>
            </a:solidFill>
            <a:prstDash val="solid"/>
          </a:ln>
        </p:spPr>
        <p:txBody>
          <a:bodyPr/>
          <a:lstStyle/>
          <a:p>
            <a:endParaRPr lang="en-GB"/>
          </a:p>
        </p:txBody>
      </p:sp>
      <p:sp>
        <p:nvSpPr>
          <p:cNvPr id="22" name="Text 20"/>
          <p:cNvSpPr/>
          <p:nvPr/>
        </p:nvSpPr>
        <p:spPr>
          <a:xfrm>
            <a:off x="3337559" y="2862072"/>
            <a:ext cx="2459421" cy="470940"/>
          </a:xfrm>
          <a:prstGeom prst="rect">
            <a:avLst/>
          </a:prstGeom>
          <a:solidFill>
            <a:srgbClr val="08111E"/>
          </a:solidFill>
          <a:ln/>
        </p:spPr>
        <p:txBody>
          <a:bodyPr wrap="square" rtlCol="0" anchor="ctr"/>
          <a:lstStyle/>
          <a:p>
            <a:pPr marL="0" indent="0">
              <a:buNone/>
            </a:pPr>
            <a:r>
              <a:rPr lang="en-US" sz="2600" b="1" dirty="0">
                <a:solidFill>
                  <a:srgbClr val="F0B429"/>
                </a:solidFill>
                <a:latin typeface="Arial" pitchFamily="34" charset="0"/>
                <a:ea typeface="Arial" pitchFamily="34" charset="-122"/>
                <a:cs typeface="Arial" pitchFamily="34" charset="-120"/>
              </a:rPr>
              <a:t>1.34 GWh</a:t>
            </a:r>
            <a:endParaRPr lang="en-US" sz="2600" dirty="0"/>
          </a:p>
        </p:txBody>
      </p:sp>
      <p:sp>
        <p:nvSpPr>
          <p:cNvPr id="23" name="Text 21"/>
          <p:cNvSpPr/>
          <p:nvPr/>
        </p:nvSpPr>
        <p:spPr>
          <a:xfrm>
            <a:off x="3337559" y="3364992"/>
            <a:ext cx="2459421" cy="256876"/>
          </a:xfrm>
          <a:prstGeom prst="rect">
            <a:avLst/>
          </a:prstGeom>
          <a:solidFill>
            <a:srgbClr val="08111E"/>
          </a:solidFill>
          <a:ln/>
        </p:spPr>
        <p:txBody>
          <a:bodyPr wrap="square" rtlCol="0" anchor="ctr"/>
          <a:lstStyle/>
          <a:p>
            <a:pPr marL="0" indent="0">
              <a:buNone/>
            </a:pPr>
            <a:r>
              <a:rPr lang="en-US" sz="1100" b="1" dirty="0">
                <a:solidFill>
                  <a:srgbClr val="E5E0D8"/>
                </a:solidFill>
                <a:latin typeface="Arial" pitchFamily="34" charset="0"/>
                <a:ea typeface="Arial" pitchFamily="34" charset="-122"/>
                <a:cs typeface="Arial" pitchFamily="34" charset="-120"/>
              </a:rPr>
              <a:t>Urban heat not generated</a:t>
            </a:r>
            <a:endParaRPr lang="en-US" sz="1100" dirty="0"/>
          </a:p>
        </p:txBody>
      </p:sp>
      <p:sp>
        <p:nvSpPr>
          <p:cNvPr id="24" name="Text 22"/>
          <p:cNvSpPr/>
          <p:nvPr/>
        </p:nvSpPr>
        <p:spPr>
          <a:xfrm>
            <a:off x="3337559" y="3648456"/>
            <a:ext cx="2459421" cy="470940"/>
          </a:xfrm>
          <a:prstGeom prst="rect">
            <a:avLst/>
          </a:prstGeom>
          <a:solidFill>
            <a:srgbClr val="08111E"/>
          </a:solidFill>
          <a:ln/>
        </p:spPr>
        <p:txBody>
          <a:bodyPr wrap="square" rtlCol="0" anchor="ctr"/>
          <a:lstStyle/>
          <a:p>
            <a:pPr marL="0" indent="0">
              <a:buNone/>
            </a:pPr>
            <a:r>
              <a:rPr lang="en-US" sz="950" dirty="0">
                <a:solidFill>
                  <a:srgbClr val="9CA3AF"/>
                </a:solidFill>
                <a:latin typeface="Arial" pitchFamily="34" charset="0"/>
                <a:ea typeface="Arial" pitchFamily="34" charset="-122"/>
                <a:cs typeface="Arial" pitchFamily="34" charset="-120"/>
              </a:rPr>
              <a:t>Junction heat pulse eliminated</a:t>
            </a:r>
            <a:endParaRPr lang="en-US" sz="950" dirty="0"/>
          </a:p>
        </p:txBody>
      </p:sp>
      <p:sp>
        <p:nvSpPr>
          <p:cNvPr id="25" name="Shape 23"/>
          <p:cNvSpPr/>
          <p:nvPr/>
        </p:nvSpPr>
        <p:spPr>
          <a:xfrm>
            <a:off x="5989320" y="2770632"/>
            <a:ext cx="2743200" cy="1370006"/>
          </a:xfrm>
          <a:prstGeom prst="rect">
            <a:avLst/>
          </a:prstGeom>
          <a:solidFill>
            <a:srgbClr val="08111E"/>
          </a:solidFill>
          <a:ln w="12700">
            <a:solidFill>
              <a:srgbClr val="22F6AF"/>
            </a:solidFill>
            <a:prstDash val="solid"/>
          </a:ln>
        </p:spPr>
        <p:txBody>
          <a:bodyPr/>
          <a:lstStyle/>
          <a:p>
            <a:endParaRPr lang="en-GB">
              <a:solidFill>
                <a:srgbClr val="22F6AF"/>
              </a:solidFill>
            </a:endParaRPr>
          </a:p>
        </p:txBody>
      </p:sp>
      <p:sp>
        <p:nvSpPr>
          <p:cNvPr id="26" name="Text 24"/>
          <p:cNvSpPr/>
          <p:nvPr/>
        </p:nvSpPr>
        <p:spPr>
          <a:xfrm>
            <a:off x="6126479" y="2862072"/>
            <a:ext cx="2459421" cy="470940"/>
          </a:xfrm>
          <a:prstGeom prst="rect">
            <a:avLst/>
          </a:prstGeom>
          <a:solidFill>
            <a:srgbClr val="08111E"/>
          </a:solidFill>
          <a:ln/>
        </p:spPr>
        <p:txBody>
          <a:bodyPr wrap="square" rtlCol="0" anchor="ctr"/>
          <a:lstStyle/>
          <a:p>
            <a:pPr marL="0" indent="0">
              <a:buNone/>
            </a:pPr>
            <a:r>
              <a:rPr lang="en-US" sz="2600" b="1" dirty="0">
                <a:solidFill>
                  <a:srgbClr val="22F6AF"/>
                </a:solidFill>
                <a:latin typeface="Arial" pitchFamily="34" charset="0"/>
                <a:ea typeface="Arial" pitchFamily="34" charset="-122"/>
                <a:cs typeface="Arial" pitchFamily="34" charset="-120"/>
              </a:rPr>
              <a:t>~280 homes</a:t>
            </a:r>
            <a:endParaRPr lang="en-US" sz="2600" dirty="0">
              <a:solidFill>
                <a:srgbClr val="22F6AF"/>
              </a:solidFill>
            </a:endParaRPr>
          </a:p>
        </p:txBody>
      </p:sp>
      <p:sp>
        <p:nvSpPr>
          <p:cNvPr id="27" name="Text 25"/>
          <p:cNvSpPr/>
          <p:nvPr/>
        </p:nvSpPr>
        <p:spPr>
          <a:xfrm>
            <a:off x="6126479" y="3364992"/>
            <a:ext cx="2459421" cy="256876"/>
          </a:xfrm>
          <a:prstGeom prst="rect">
            <a:avLst/>
          </a:prstGeom>
          <a:solidFill>
            <a:srgbClr val="08111E"/>
          </a:solidFill>
          <a:ln/>
        </p:spPr>
        <p:txBody>
          <a:bodyPr wrap="square" rtlCol="0" anchor="ctr"/>
          <a:lstStyle/>
          <a:p>
            <a:pPr marL="0" indent="0">
              <a:buNone/>
            </a:pPr>
            <a:r>
              <a:rPr lang="en-US" sz="1100" b="1" dirty="0">
                <a:solidFill>
                  <a:srgbClr val="E5E0D8"/>
                </a:solidFill>
                <a:latin typeface="Arial" pitchFamily="34" charset="0"/>
                <a:ea typeface="Arial" pitchFamily="34" charset="-122"/>
                <a:cs typeface="Arial" pitchFamily="34" charset="-120"/>
              </a:rPr>
              <a:t>District heating served</a:t>
            </a:r>
            <a:endParaRPr lang="en-US" sz="1100" dirty="0"/>
          </a:p>
        </p:txBody>
      </p:sp>
      <p:sp>
        <p:nvSpPr>
          <p:cNvPr id="28" name="Text 26"/>
          <p:cNvSpPr/>
          <p:nvPr/>
        </p:nvSpPr>
        <p:spPr>
          <a:xfrm>
            <a:off x="6126479" y="3648456"/>
            <a:ext cx="2459421" cy="470940"/>
          </a:xfrm>
          <a:prstGeom prst="rect">
            <a:avLst/>
          </a:prstGeom>
          <a:solidFill>
            <a:srgbClr val="08111E"/>
          </a:solidFill>
          <a:ln/>
        </p:spPr>
        <p:txBody>
          <a:bodyPr wrap="square" rtlCol="0" anchor="ctr"/>
          <a:lstStyle/>
          <a:p>
            <a:pPr marL="0" indent="0">
              <a:buNone/>
            </a:pPr>
            <a:r>
              <a:rPr lang="en-US" sz="950" dirty="0">
                <a:solidFill>
                  <a:srgbClr val="9CA3AF"/>
                </a:solidFill>
                <a:latin typeface="Arial" pitchFamily="34" charset="0"/>
                <a:ea typeface="Arial" pitchFamily="34" charset="-122"/>
                <a:cs typeface="Arial" pitchFamily="34" charset="-120"/>
              </a:rPr>
              <a:t>GPU waste heat recovered</a:t>
            </a:r>
            <a:endParaRPr lang="en-US" sz="950" dirty="0"/>
          </a:p>
        </p:txBody>
      </p:sp>
      <p:sp>
        <p:nvSpPr>
          <p:cNvPr id="29" name="Shape 27"/>
          <p:cNvSpPr/>
          <p:nvPr/>
        </p:nvSpPr>
        <p:spPr>
          <a:xfrm>
            <a:off x="411480" y="4275449"/>
            <a:ext cx="8321040" cy="475488"/>
          </a:xfrm>
          <a:prstGeom prst="rect">
            <a:avLst/>
          </a:prstGeom>
          <a:solidFill>
            <a:srgbClr val="0D1B2E"/>
          </a:solidFill>
          <a:ln w="12700">
            <a:solidFill>
              <a:srgbClr val="F0B429"/>
            </a:solidFill>
            <a:prstDash val="solid"/>
          </a:ln>
        </p:spPr>
        <p:txBody>
          <a:bodyPr/>
          <a:lstStyle/>
          <a:p>
            <a:endParaRPr lang="en-GB"/>
          </a:p>
        </p:txBody>
      </p:sp>
      <p:sp>
        <p:nvSpPr>
          <p:cNvPr id="30" name="Text 28"/>
          <p:cNvSpPr/>
          <p:nvPr/>
        </p:nvSpPr>
        <p:spPr>
          <a:xfrm>
            <a:off x="548640" y="4331907"/>
            <a:ext cx="7955280" cy="384048"/>
          </a:xfrm>
          <a:prstGeom prst="rect">
            <a:avLst/>
          </a:prstGeom>
          <a:noFill/>
          <a:ln/>
        </p:spPr>
        <p:txBody>
          <a:bodyPr wrap="square" rtlCol="0" anchor="ctr"/>
          <a:lstStyle/>
          <a:p>
            <a:pPr marL="0" indent="0">
              <a:buNone/>
            </a:pPr>
            <a:r>
              <a:rPr lang="en-US" sz="1300" dirty="0">
                <a:solidFill>
                  <a:srgbClr val="E5E0D8"/>
                </a:solidFill>
                <a:latin typeface="Arial" pitchFamily="34" charset="0"/>
                <a:ea typeface="Arial" pitchFamily="34" charset="-122"/>
                <a:cs typeface="Arial" pitchFamily="34" charset="-120"/>
              </a:rPr>
              <a:t>Umpireal is the </a:t>
            </a:r>
            <a:r>
              <a:rPr lang="en-US" sz="1300" b="1" i="1" dirty="0">
                <a:solidFill>
                  <a:srgbClr val="F0B429"/>
                </a:solidFill>
                <a:latin typeface="Arial" pitchFamily="34" charset="0"/>
                <a:ea typeface="Arial" pitchFamily="34" charset="-122"/>
                <a:cs typeface="Arial" pitchFamily="34" charset="-120"/>
              </a:rPr>
              <a:t>Euro 10 for road infrastructure</a:t>
            </a:r>
            <a:r>
              <a:rPr lang="en-US" sz="1300" dirty="0">
                <a:solidFill>
                  <a:srgbClr val="E5E0D8"/>
                </a:solidFill>
                <a:latin typeface="Arial" pitchFamily="34" charset="0"/>
                <a:ea typeface="Arial" pitchFamily="34" charset="-122"/>
                <a:cs typeface="Arial" pitchFamily="34" charset="-120"/>
              </a:rPr>
              <a:t> — skipping straight from zero performance standard to best-in-class in a single move. Every junction is a policy gap. Every BÉAR Crossing closes it.</a:t>
            </a:r>
            <a:endParaRPr lang="en-US" sz="1300" dirty="0"/>
          </a:p>
        </p:txBody>
      </p:sp>
      <p:sp>
        <p:nvSpPr>
          <p:cNvPr id="31" name="Shape 29"/>
          <p:cNvSpPr/>
          <p:nvPr/>
        </p:nvSpPr>
        <p:spPr>
          <a:xfrm>
            <a:off x="0" y="4892040"/>
            <a:ext cx="9144000" cy="251460"/>
          </a:xfrm>
          <a:prstGeom prst="rect">
            <a:avLst/>
          </a:prstGeom>
          <a:solidFill>
            <a:srgbClr val="0D1B2E"/>
          </a:solidFill>
          <a:ln w="12700">
            <a:solidFill>
              <a:srgbClr val="0D1B2E"/>
            </a:solidFill>
            <a:prstDash val="solid"/>
          </a:ln>
        </p:spPr>
        <p:txBody>
          <a:bodyPr/>
          <a:lstStyle/>
          <a:p>
            <a:endParaRPr lang="en-GB"/>
          </a:p>
        </p:txBody>
      </p:sp>
      <p:sp>
        <p:nvSpPr>
          <p:cNvPr id="32" name="Shape 30"/>
          <p:cNvSpPr/>
          <p:nvPr/>
        </p:nvSpPr>
        <p:spPr>
          <a:xfrm>
            <a:off x="0" y="4892040"/>
            <a:ext cx="9144000" cy="27432"/>
          </a:xfrm>
          <a:prstGeom prst="rect">
            <a:avLst/>
          </a:prstGeom>
          <a:solidFill>
            <a:srgbClr val="B87333"/>
          </a:solidFill>
          <a:ln w="12700">
            <a:solidFill>
              <a:srgbClr val="B87333"/>
            </a:solidFill>
            <a:prstDash val="solid"/>
          </a:ln>
        </p:spPr>
        <p:txBody>
          <a:bodyPr/>
          <a:lstStyle/>
          <a:p>
            <a:endParaRPr lang="en-GB"/>
          </a:p>
        </p:txBody>
      </p:sp>
      <p:sp>
        <p:nvSpPr>
          <p:cNvPr id="33" name="Text 31"/>
          <p:cNvSpPr/>
          <p:nvPr/>
        </p:nvSpPr>
        <p:spPr>
          <a:xfrm>
            <a:off x="320040" y="4901184"/>
            <a:ext cx="4572000" cy="228600"/>
          </a:xfrm>
          <a:prstGeom prst="rect">
            <a:avLst/>
          </a:prstGeom>
          <a:noFill/>
          <a:ln/>
        </p:spPr>
        <p:txBody>
          <a:bodyPr wrap="square" rtlCol="0" anchor="ctr"/>
          <a:lstStyle/>
          <a:p>
            <a:pPr marL="0" indent="0">
              <a:buNone/>
            </a:pPr>
            <a:r>
              <a:rPr lang="en-US" sz="800" dirty="0">
                <a:solidFill>
                  <a:srgbClr val="B87333"/>
                </a:solidFill>
                <a:latin typeface="Arial" pitchFamily="34" charset="0"/>
                <a:ea typeface="Arial" pitchFamily="34" charset="-122"/>
                <a:cs typeface="Arial" pitchFamily="34" charset="-120"/>
              </a:rPr>
              <a:t>UMPIREAL  ·  CONFIDENTIAL</a:t>
            </a:r>
            <a:endParaRPr lang="en-US" sz="800" dirty="0"/>
          </a:p>
        </p:txBody>
      </p:sp>
      <p:sp>
        <p:nvSpPr>
          <p:cNvPr id="34" name="Text 32"/>
          <p:cNvSpPr/>
          <p:nvPr/>
        </p:nvSpPr>
        <p:spPr>
          <a:xfrm>
            <a:off x="4572000" y="4901184"/>
            <a:ext cx="4251960" cy="228600"/>
          </a:xfrm>
          <a:prstGeom prst="rect">
            <a:avLst/>
          </a:prstGeom>
          <a:noFill/>
          <a:ln/>
        </p:spPr>
        <p:txBody>
          <a:bodyPr wrap="square" rtlCol="0" anchor="ctr"/>
          <a:lstStyle/>
          <a:p>
            <a:pPr marL="0" indent="0" algn="r">
              <a:buNone/>
            </a:pPr>
            <a:r>
              <a:rPr lang="en-US" sz="800" dirty="0">
                <a:solidFill>
                  <a:srgbClr val="9CA3AF"/>
                </a:solidFill>
                <a:latin typeface="Arial" pitchFamily="34" charset="0"/>
                <a:ea typeface="Arial" pitchFamily="34" charset="-122"/>
                <a:cs typeface="Arial" pitchFamily="34" charset="-120"/>
              </a:rPr>
              <a:t>09 — Public Benefit</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11480" y="164592"/>
            <a:ext cx="54864" cy="384048"/>
          </a:xfrm>
          <a:prstGeom prst="rect">
            <a:avLst/>
          </a:prstGeom>
          <a:solidFill>
            <a:srgbClr val="B87333"/>
          </a:solidFill>
          <a:ln w="12700">
            <a:solidFill>
              <a:srgbClr val="B87333"/>
            </a:solidFill>
            <a:prstDash val="solid"/>
          </a:ln>
        </p:spPr>
        <p:txBody>
          <a:bodyPr/>
          <a:lstStyle/>
          <a:p>
            <a:endParaRPr lang="en-GB"/>
          </a:p>
        </p:txBody>
      </p:sp>
      <p:sp>
        <p:nvSpPr>
          <p:cNvPr id="3" name="Text 1"/>
          <p:cNvSpPr/>
          <p:nvPr/>
        </p:nvSpPr>
        <p:spPr>
          <a:xfrm>
            <a:off x="548640" y="155448"/>
            <a:ext cx="8229600" cy="411480"/>
          </a:xfrm>
          <a:prstGeom prst="rect">
            <a:avLst/>
          </a:prstGeom>
          <a:noFill/>
          <a:ln/>
        </p:spPr>
        <p:txBody>
          <a:bodyPr wrap="square" rtlCol="0" anchor="ctr"/>
          <a:lstStyle/>
          <a:p>
            <a:pPr marL="0" indent="0">
              <a:buNone/>
            </a:pPr>
            <a:r>
              <a:rPr lang="en-US" sz="1100" b="1" kern="0" spc="300" dirty="0">
                <a:solidFill>
                  <a:srgbClr val="B87333"/>
                </a:solidFill>
                <a:latin typeface="Arial" pitchFamily="34" charset="0"/>
                <a:ea typeface="Arial" pitchFamily="34" charset="-122"/>
                <a:cs typeface="Arial" pitchFamily="34" charset="-120"/>
              </a:rPr>
              <a:t>STRATEGIC PARTNERS</a:t>
            </a:r>
            <a:endParaRPr lang="en-US" sz="1100" dirty="0"/>
          </a:p>
        </p:txBody>
      </p:sp>
      <p:sp>
        <p:nvSpPr>
          <p:cNvPr id="4" name="Text 2"/>
          <p:cNvSpPr/>
          <p:nvPr/>
        </p:nvSpPr>
        <p:spPr>
          <a:xfrm>
            <a:off x="411480" y="594360"/>
            <a:ext cx="8321040" cy="457200"/>
          </a:xfrm>
          <a:prstGeom prst="rect">
            <a:avLst/>
          </a:prstGeom>
          <a:noFill/>
          <a:ln/>
        </p:spPr>
        <p:txBody>
          <a:bodyPr wrap="square" rtlCol="0" anchor="ctr"/>
          <a:lstStyle/>
          <a:p>
            <a:pPr marL="0" indent="0">
              <a:buNone/>
            </a:pPr>
            <a:r>
              <a:rPr lang="en-US" sz="2600" b="1" dirty="0">
                <a:solidFill>
                  <a:srgbClr val="E5E0D8"/>
                </a:solidFill>
                <a:latin typeface="Arial" pitchFamily="34" charset="0"/>
                <a:ea typeface="Arial" pitchFamily="34" charset="-122"/>
                <a:cs typeface="Arial" pitchFamily="34" charset="-120"/>
              </a:rPr>
              <a:t>IBM + NVIDIA + BYD — The Three-Layer Stack</a:t>
            </a:r>
            <a:endParaRPr lang="en-US" sz="2600" dirty="0"/>
          </a:p>
        </p:txBody>
      </p:sp>
      <p:sp>
        <p:nvSpPr>
          <p:cNvPr id="5" name="Shape 3"/>
          <p:cNvSpPr/>
          <p:nvPr/>
        </p:nvSpPr>
        <p:spPr>
          <a:xfrm>
            <a:off x="411480" y="1115568"/>
            <a:ext cx="8321040" cy="438912"/>
          </a:xfrm>
          <a:prstGeom prst="rect">
            <a:avLst/>
          </a:prstGeom>
          <a:solidFill>
            <a:srgbClr val="0D1B2E"/>
          </a:solidFill>
          <a:ln w="12700">
            <a:solidFill>
              <a:srgbClr val="F0B429"/>
            </a:solidFill>
            <a:prstDash val="solid"/>
          </a:ln>
        </p:spPr>
        <p:txBody>
          <a:bodyPr/>
          <a:lstStyle/>
          <a:p>
            <a:endParaRPr lang="en-GB"/>
          </a:p>
        </p:txBody>
      </p:sp>
      <p:sp>
        <p:nvSpPr>
          <p:cNvPr id="6" name="Text 4"/>
          <p:cNvSpPr/>
          <p:nvPr/>
        </p:nvSpPr>
        <p:spPr>
          <a:xfrm>
            <a:off x="566928" y="1161288"/>
            <a:ext cx="8046720" cy="347472"/>
          </a:xfrm>
          <a:prstGeom prst="rect">
            <a:avLst/>
          </a:prstGeom>
          <a:noFill/>
          <a:ln/>
        </p:spPr>
        <p:txBody>
          <a:bodyPr wrap="square" rtlCol="0" anchor="ctr"/>
          <a:lstStyle/>
          <a:p>
            <a:pPr marL="0" indent="0">
              <a:buNone/>
            </a:pPr>
            <a:r>
              <a:rPr lang="en-US" sz="1100" dirty="0">
                <a:solidFill>
                  <a:srgbClr val="9CA3AF"/>
                </a:solidFill>
                <a:latin typeface="Arial" pitchFamily="34" charset="0"/>
                <a:ea typeface="Arial" pitchFamily="34" charset="-122"/>
                <a:cs typeface="Arial" pitchFamily="34" charset="-120"/>
              </a:rPr>
              <a:t>At 1,000 nodes: IBM + NVIDIA deploy sovereign AI at urban scale · BYD ships </a:t>
            </a:r>
            <a:r>
              <a:rPr lang="en-US" sz="1100" b="1" dirty="0">
                <a:solidFill>
                  <a:srgbClr val="22D3EE"/>
                </a:solidFill>
                <a:latin typeface="Arial" pitchFamily="34" charset="0"/>
                <a:ea typeface="Arial" pitchFamily="34" charset="-122"/>
                <a:cs typeface="Arial" pitchFamily="34" charset="-120"/>
              </a:rPr>
              <a:t>€1.05T </a:t>
            </a:r>
            <a:r>
              <a:rPr lang="en-US" sz="1100" dirty="0">
                <a:solidFill>
                  <a:srgbClr val="9CA3AF"/>
                </a:solidFill>
                <a:latin typeface="Arial" pitchFamily="34" charset="0"/>
                <a:ea typeface="Arial" pitchFamily="34" charset="-122"/>
                <a:cs typeface="Arial" pitchFamily="34" charset="-120"/>
              </a:rPr>
              <a:t>of VR NVL72 compute. BYD ships </a:t>
            </a:r>
            <a:r>
              <a:rPr lang="en-US" sz="1100" b="1" dirty="0">
                <a:solidFill>
                  <a:srgbClr val="F0B429"/>
                </a:solidFill>
                <a:latin typeface="Arial" pitchFamily="34" charset="0"/>
                <a:ea typeface="Arial" pitchFamily="34" charset="-122"/>
                <a:cs typeface="Arial" pitchFamily="34" charset="-120"/>
              </a:rPr>
              <a:t>€1.9B </a:t>
            </a:r>
            <a:r>
              <a:rPr lang="en-US" sz="1100" dirty="0">
                <a:solidFill>
                  <a:srgbClr val="9CA3AF"/>
                </a:solidFill>
                <a:latin typeface="Arial" pitchFamily="34" charset="0"/>
                <a:ea typeface="Arial" pitchFamily="34" charset="-122"/>
                <a:cs typeface="Arial" pitchFamily="34" charset="-120"/>
              </a:rPr>
              <a:t>of BESS units. Addressable market: </a:t>
            </a:r>
            <a:r>
              <a:rPr lang="en-US" sz="1100" b="1" dirty="0">
                <a:solidFill>
                  <a:srgbClr val="E5E0D8"/>
                </a:solidFill>
                <a:latin typeface="Arial" pitchFamily="34" charset="0"/>
                <a:ea typeface="Arial" pitchFamily="34" charset="-122"/>
                <a:cs typeface="Arial" pitchFamily="34" charset="-120"/>
              </a:rPr>
              <a:t>~5 million viable junctions globally.</a:t>
            </a:r>
            <a:endParaRPr lang="en-US" sz="1100" dirty="0"/>
          </a:p>
        </p:txBody>
      </p:sp>
      <p:sp>
        <p:nvSpPr>
          <p:cNvPr id="7" name="Shape 5"/>
          <p:cNvSpPr/>
          <p:nvPr/>
        </p:nvSpPr>
        <p:spPr>
          <a:xfrm>
            <a:off x="411480" y="1664208"/>
            <a:ext cx="4069080" cy="2907792"/>
          </a:xfrm>
          <a:prstGeom prst="rect">
            <a:avLst/>
          </a:prstGeom>
          <a:solidFill>
            <a:srgbClr val="03070D"/>
          </a:solidFill>
          <a:ln w="12700">
            <a:solidFill>
              <a:srgbClr val="22F6AF"/>
            </a:solidFill>
            <a:prstDash val="solid"/>
          </a:ln>
        </p:spPr>
        <p:txBody>
          <a:bodyPr/>
          <a:lstStyle/>
          <a:p>
            <a:endParaRPr lang="en-GB"/>
          </a:p>
        </p:txBody>
      </p:sp>
      <p:sp>
        <p:nvSpPr>
          <p:cNvPr id="8" name="Shape 6"/>
          <p:cNvSpPr/>
          <p:nvPr/>
        </p:nvSpPr>
        <p:spPr>
          <a:xfrm>
            <a:off x="411480" y="1664208"/>
            <a:ext cx="4069080" cy="54864"/>
          </a:xfrm>
          <a:prstGeom prst="rect">
            <a:avLst/>
          </a:prstGeom>
          <a:solidFill>
            <a:srgbClr val="22F6AF"/>
          </a:solidFill>
          <a:ln w="12700">
            <a:solidFill>
              <a:srgbClr val="76B900"/>
            </a:solidFill>
            <a:prstDash val="solid"/>
          </a:ln>
        </p:spPr>
        <p:txBody>
          <a:bodyPr/>
          <a:lstStyle/>
          <a:p>
            <a:endParaRPr lang="en-GB"/>
          </a:p>
        </p:txBody>
      </p:sp>
      <p:sp>
        <p:nvSpPr>
          <p:cNvPr id="9" name="Text 7"/>
          <p:cNvSpPr/>
          <p:nvPr/>
        </p:nvSpPr>
        <p:spPr>
          <a:xfrm>
            <a:off x="566928" y="1737360"/>
            <a:ext cx="1828800" cy="274320"/>
          </a:xfrm>
          <a:prstGeom prst="rect">
            <a:avLst/>
          </a:prstGeom>
          <a:noFill/>
          <a:ln/>
        </p:spPr>
        <p:txBody>
          <a:bodyPr wrap="square" rtlCol="0" anchor="ctr"/>
          <a:lstStyle/>
          <a:p>
            <a:pPr marL="0" indent="0">
              <a:buNone/>
            </a:pPr>
            <a:r>
              <a:rPr lang="en-US" sz="1500" b="1" dirty="0">
                <a:solidFill>
                  <a:srgbClr val="22F6AF"/>
                </a:solidFill>
                <a:latin typeface="Arial" pitchFamily="34" charset="0"/>
                <a:ea typeface="Arial" pitchFamily="34" charset="-122"/>
                <a:cs typeface="Arial" pitchFamily="34" charset="-120"/>
              </a:rPr>
              <a:t>NVIDIA</a:t>
            </a:r>
            <a:endParaRPr lang="en-US" sz="1500" dirty="0">
              <a:solidFill>
                <a:srgbClr val="22F6AF"/>
              </a:solidFill>
            </a:endParaRPr>
          </a:p>
        </p:txBody>
      </p:sp>
      <p:sp>
        <p:nvSpPr>
          <p:cNvPr id="10" name="Text 8"/>
          <p:cNvSpPr/>
          <p:nvPr/>
        </p:nvSpPr>
        <p:spPr>
          <a:xfrm>
            <a:off x="566928" y="2029968"/>
            <a:ext cx="3749040" cy="228600"/>
          </a:xfrm>
          <a:prstGeom prst="rect">
            <a:avLst/>
          </a:prstGeom>
          <a:noFill/>
          <a:ln/>
        </p:spPr>
        <p:txBody>
          <a:bodyPr wrap="square" rtlCol="0" anchor="ctr"/>
          <a:lstStyle/>
          <a:p>
            <a:pPr marL="0" indent="0">
              <a:buNone/>
            </a:pPr>
            <a:r>
              <a:rPr lang="en-US" sz="900" i="1" dirty="0">
                <a:solidFill>
                  <a:srgbClr val="9CA3AF"/>
                </a:solidFill>
                <a:latin typeface="Arial" pitchFamily="34" charset="0"/>
                <a:ea typeface="Arial" pitchFamily="34" charset="-122"/>
                <a:cs typeface="Arial" pitchFamily="34" charset="-120"/>
              </a:rPr>
              <a:t>VR NVL72 (Vera Rubin) · 32 racks per node · 6,080 kW · IBM watsonx + Red Hat AI Factory</a:t>
            </a:r>
            <a:endParaRPr lang="en-US" sz="900" dirty="0"/>
          </a:p>
        </p:txBody>
      </p:sp>
      <p:sp>
        <p:nvSpPr>
          <p:cNvPr id="11" name="Text 9"/>
          <p:cNvSpPr/>
          <p:nvPr/>
        </p:nvSpPr>
        <p:spPr>
          <a:xfrm>
            <a:off x="566928" y="2304288"/>
            <a:ext cx="3749040" cy="2084832"/>
          </a:xfrm>
          <a:prstGeom prst="rect">
            <a:avLst/>
          </a:prstGeom>
          <a:noFill/>
          <a:ln/>
        </p:spPr>
        <p:txBody>
          <a:bodyPr wrap="square" rtlCol="0" anchor="ctr"/>
          <a:lstStyle/>
          <a:p>
            <a:pPr marL="0" indent="0">
              <a:buNone/>
            </a:pPr>
            <a:endParaRPr lang="en-US" sz="1050" b="1" dirty="0">
              <a:solidFill>
                <a:srgbClr val="E5E0D8"/>
              </a:solidFill>
              <a:latin typeface="Arial" pitchFamily="34" charset="0"/>
              <a:ea typeface="Arial" pitchFamily="34" charset="-122"/>
              <a:cs typeface="Arial" pitchFamily="34" charset="-120"/>
            </a:endParaRPr>
          </a:p>
          <a:p>
            <a:pPr marL="0" indent="0">
              <a:buNone/>
            </a:pPr>
            <a:r>
              <a:rPr lang="en-US" sz="1050" b="1" dirty="0">
                <a:solidFill>
                  <a:srgbClr val="E5E0D8"/>
                </a:solidFill>
                <a:latin typeface="Arial" pitchFamily="34" charset="0"/>
                <a:ea typeface="Arial" pitchFamily="34" charset="-122"/>
                <a:cs typeface="Arial" pitchFamily="34" charset="-120"/>
              </a:rPr>
              <a:t>Why NVIDIA + IBM:</a:t>
            </a:r>
            <a:endParaRPr lang="en-US" sz="1050" dirty="0"/>
          </a:p>
          <a:p>
            <a:pPr marL="0" indent="0">
              <a:buNone/>
            </a:pPr>
            <a:r>
              <a:rPr lang="en-US" sz="1050" dirty="0">
                <a:solidFill>
                  <a:srgbClr val="E5E0D8"/>
                </a:solidFill>
                <a:latin typeface="Arial" pitchFamily="34" charset="0"/>
                <a:ea typeface="Arial" pitchFamily="34" charset="-122"/>
                <a:cs typeface="Arial" pitchFamily="34" charset="-120"/>
              </a:rPr>
              <a:t>· The GB200 needs liquid cooling — 95% of buildings can't support it</a:t>
            </a:r>
            <a:endParaRPr lang="en-US" sz="1050" dirty="0"/>
          </a:p>
          <a:p>
            <a:pPr marL="0" indent="0">
              <a:buNone/>
            </a:pPr>
            <a:r>
              <a:rPr lang="en-US" sz="1050" dirty="0">
                <a:solidFill>
                  <a:srgbClr val="E5E0D8"/>
                </a:solidFill>
                <a:latin typeface="Arial" pitchFamily="34" charset="0"/>
                <a:ea typeface="Arial" pitchFamily="34" charset="-122"/>
                <a:cs typeface="Arial" pitchFamily="34" charset="-120"/>
              </a:rPr>
              <a:t>· Umpireal is 80% cheaper per MW than conventional DC build</a:t>
            </a:r>
            <a:endParaRPr lang="en-US" sz="1050" dirty="0"/>
          </a:p>
          <a:p>
            <a:pPr marL="0" indent="0">
              <a:buNone/>
            </a:pPr>
            <a:r>
              <a:rPr lang="en-US" sz="1050" dirty="0">
                <a:solidFill>
                  <a:srgbClr val="E5E0D8"/>
                </a:solidFill>
                <a:latin typeface="Arial" pitchFamily="34" charset="0"/>
                <a:ea typeface="Arial" pitchFamily="34" charset="-122"/>
                <a:cs typeface="Arial" pitchFamily="34" charset="-120"/>
              </a:rPr>
              <a:t>· IBM Sovereign Core + VR NVL72 = regulated AI that never leaves the jurisdiction</a:t>
            </a:r>
            <a:endParaRPr lang="en-US" sz="1050" dirty="0"/>
          </a:p>
          <a:p>
            <a:pPr marL="0" indent="0">
              <a:buNone/>
            </a:pPr>
            <a:r>
              <a:rPr lang="en-US" sz="1050" dirty="0">
                <a:solidFill>
                  <a:srgbClr val="E5E0D8"/>
                </a:solidFill>
                <a:latin typeface="Arial" pitchFamily="34" charset="0"/>
                <a:ea typeface="Arial" pitchFamily="34" charset="-122"/>
                <a:cs typeface="Arial" pitchFamily="34" charset="-120"/>
              </a:rPr>
              <a:t>· Slab-on-grade shell natively supports 1,875 kg/m² rack load</a:t>
            </a:r>
            <a:endParaRPr lang="en-US" sz="1050" dirty="0"/>
          </a:p>
          <a:p>
            <a:pPr marL="0" indent="0">
              <a:buNone/>
            </a:pPr>
            <a:r>
              <a:rPr lang="en-US" sz="1050" b="1" dirty="0">
                <a:solidFill>
                  <a:srgbClr val="22F6AF"/>
                </a:solidFill>
                <a:latin typeface="Arial" pitchFamily="34" charset="0"/>
                <a:ea typeface="Arial" pitchFamily="34" charset="-122"/>
                <a:cs typeface="Arial" pitchFamily="34" charset="-120"/>
              </a:rPr>
              <a:t>What we want:</a:t>
            </a:r>
            <a:endParaRPr lang="en-US" sz="1050" dirty="0">
              <a:solidFill>
                <a:srgbClr val="22F6AF"/>
              </a:solidFill>
            </a:endParaRPr>
          </a:p>
          <a:p>
            <a:pPr marL="0" indent="0">
              <a:buNone/>
            </a:pPr>
            <a:r>
              <a:rPr lang="en-US" sz="1050" dirty="0">
                <a:solidFill>
                  <a:srgbClr val="E5E0D8"/>
                </a:solidFill>
                <a:latin typeface="Arial" pitchFamily="34" charset="0"/>
                <a:ea typeface="Arial" pitchFamily="34" charset="-122"/>
                <a:cs typeface="Arial" pitchFamily="34" charset="-120"/>
              </a:rPr>
              <a:t>IBM Ventures co-investment · VR NVL72 preferred partner</a:t>
            </a:r>
            <a:endParaRPr lang="en-US" sz="1050" dirty="0"/>
          </a:p>
          <a:p>
            <a:pPr marL="0" indent="0">
              <a:buNone/>
            </a:pPr>
            <a:r>
              <a:rPr lang="en-US" sz="1050" dirty="0">
                <a:solidFill>
                  <a:srgbClr val="E5E0D8"/>
                </a:solidFill>
                <a:latin typeface="Arial" pitchFamily="34" charset="0"/>
                <a:ea typeface="Arial" pitchFamily="34" charset="-122"/>
                <a:cs typeface="Arial" pitchFamily="34" charset="-120"/>
              </a:rPr>
              <a:t>Joint pilot node · Metropolis / sovereign AI introductions</a:t>
            </a:r>
            <a:endParaRPr lang="en-US" sz="1050" dirty="0"/>
          </a:p>
        </p:txBody>
      </p:sp>
      <p:sp>
        <p:nvSpPr>
          <p:cNvPr id="12" name="Shape 10"/>
          <p:cNvSpPr/>
          <p:nvPr/>
        </p:nvSpPr>
        <p:spPr>
          <a:xfrm>
            <a:off x="4663440" y="1711981"/>
            <a:ext cx="4069080" cy="2907792"/>
          </a:xfrm>
          <a:prstGeom prst="rect">
            <a:avLst/>
          </a:prstGeom>
          <a:solidFill>
            <a:srgbClr val="03070D"/>
          </a:solidFill>
          <a:ln w="12700">
            <a:solidFill>
              <a:srgbClr val="E24B4A"/>
            </a:solidFill>
            <a:prstDash val="solid"/>
          </a:ln>
        </p:spPr>
        <p:txBody>
          <a:bodyPr/>
          <a:lstStyle/>
          <a:p>
            <a:endParaRPr lang="en-GB"/>
          </a:p>
        </p:txBody>
      </p:sp>
      <p:sp>
        <p:nvSpPr>
          <p:cNvPr id="13" name="Shape 11"/>
          <p:cNvSpPr/>
          <p:nvPr/>
        </p:nvSpPr>
        <p:spPr>
          <a:xfrm>
            <a:off x="4663440" y="1664208"/>
            <a:ext cx="4069080" cy="54864"/>
          </a:xfrm>
          <a:prstGeom prst="rect">
            <a:avLst/>
          </a:prstGeom>
          <a:solidFill>
            <a:srgbClr val="E24B4A"/>
          </a:solidFill>
          <a:ln w="12700">
            <a:solidFill>
              <a:srgbClr val="1A56A0"/>
            </a:solidFill>
            <a:prstDash val="solid"/>
          </a:ln>
        </p:spPr>
        <p:txBody>
          <a:bodyPr/>
          <a:lstStyle/>
          <a:p>
            <a:endParaRPr lang="en-GB"/>
          </a:p>
        </p:txBody>
      </p:sp>
      <p:sp>
        <p:nvSpPr>
          <p:cNvPr id="14" name="Text 12"/>
          <p:cNvSpPr/>
          <p:nvPr/>
        </p:nvSpPr>
        <p:spPr>
          <a:xfrm>
            <a:off x="4818888" y="1737360"/>
            <a:ext cx="3749040" cy="274320"/>
          </a:xfrm>
          <a:prstGeom prst="rect">
            <a:avLst/>
          </a:prstGeom>
          <a:noFill/>
          <a:ln/>
        </p:spPr>
        <p:txBody>
          <a:bodyPr wrap="square" rtlCol="0" anchor="ctr"/>
          <a:lstStyle/>
          <a:p>
            <a:pPr marL="0" indent="0">
              <a:buNone/>
            </a:pPr>
            <a:r>
              <a:rPr lang="en-US" sz="1300" b="1" dirty="0">
                <a:solidFill>
                  <a:srgbClr val="E24B4A"/>
                </a:solidFill>
                <a:latin typeface="Arial" pitchFamily="34" charset="0"/>
                <a:ea typeface="Arial" pitchFamily="34" charset="-122"/>
                <a:cs typeface="Arial" pitchFamily="34" charset="-120"/>
              </a:rPr>
              <a:t>BYD ENERGY STORAGE</a:t>
            </a:r>
            <a:endParaRPr lang="en-US" sz="1300" dirty="0">
              <a:solidFill>
                <a:srgbClr val="E24B4A"/>
              </a:solidFill>
            </a:endParaRPr>
          </a:p>
        </p:txBody>
      </p:sp>
      <p:sp>
        <p:nvSpPr>
          <p:cNvPr id="15" name="Text 13"/>
          <p:cNvSpPr/>
          <p:nvPr/>
        </p:nvSpPr>
        <p:spPr>
          <a:xfrm>
            <a:off x="4818888" y="2029968"/>
            <a:ext cx="3749040" cy="228600"/>
          </a:xfrm>
          <a:prstGeom prst="rect">
            <a:avLst/>
          </a:prstGeom>
          <a:noFill/>
          <a:ln/>
        </p:spPr>
        <p:txBody>
          <a:bodyPr wrap="square" rtlCol="0" anchor="ctr"/>
          <a:lstStyle/>
          <a:p>
            <a:pPr marL="0" indent="0">
              <a:buNone/>
            </a:pPr>
            <a:r>
              <a:rPr lang="en-US" sz="900" i="1" dirty="0">
                <a:solidFill>
                  <a:srgbClr val="9CA3AF"/>
                </a:solidFill>
                <a:latin typeface="Arial" pitchFamily="34" charset="0"/>
                <a:ea typeface="Arial" pitchFamily="34" charset="-122"/>
                <a:cs typeface="Arial" pitchFamily="34" charset="-120"/>
              </a:rPr>
              <a:t>Blade LFP · 7MWh per node · 2 rooms · €1.9M per node · safest chemistry for enclosed nodes</a:t>
            </a:r>
            <a:endParaRPr lang="en-US" sz="900" dirty="0"/>
          </a:p>
        </p:txBody>
      </p:sp>
      <p:sp>
        <p:nvSpPr>
          <p:cNvPr id="16" name="Text 14"/>
          <p:cNvSpPr/>
          <p:nvPr/>
        </p:nvSpPr>
        <p:spPr>
          <a:xfrm>
            <a:off x="4818888" y="2304288"/>
            <a:ext cx="3749040" cy="2148840"/>
          </a:xfrm>
          <a:prstGeom prst="rect">
            <a:avLst/>
          </a:prstGeom>
          <a:noFill/>
          <a:ln/>
        </p:spPr>
        <p:txBody>
          <a:bodyPr wrap="square" rtlCol="0" anchor="ctr"/>
          <a:lstStyle/>
          <a:p>
            <a:pPr marL="0" indent="0">
              <a:buNone/>
            </a:pPr>
            <a:r>
              <a:rPr lang="en-US" sz="1050" b="1" dirty="0">
                <a:solidFill>
                  <a:srgbClr val="E5E0D8"/>
                </a:solidFill>
                <a:latin typeface="Arial" pitchFamily="34" charset="0"/>
                <a:ea typeface="Arial" pitchFamily="34" charset="-122"/>
                <a:cs typeface="Arial" pitchFamily="34" charset="-120"/>
              </a:rPr>
              <a:t>Why BYD:</a:t>
            </a:r>
            <a:endParaRPr lang="en-US" sz="1050" dirty="0"/>
          </a:p>
          <a:p>
            <a:pPr marL="0" indent="0">
              <a:buNone/>
            </a:pPr>
            <a:r>
              <a:rPr lang="en-US" sz="1050" dirty="0">
                <a:solidFill>
                  <a:srgbClr val="E5E0D8"/>
                </a:solidFill>
                <a:latin typeface="Arial" pitchFamily="34" charset="0"/>
                <a:ea typeface="Arial" pitchFamily="34" charset="-122"/>
                <a:cs typeface="Arial" pitchFamily="34" charset="-120"/>
              </a:rPr>
              <a:t>· Blade LFP — safest chemistry for enclosed underground nodes (nail penetration certified)</a:t>
            </a:r>
            <a:endParaRPr lang="en-US" sz="1050" dirty="0"/>
          </a:p>
          <a:p>
            <a:pPr marL="0" indent="0">
              <a:buNone/>
            </a:pPr>
            <a:r>
              <a:rPr lang="en-US" sz="1050" dirty="0">
                <a:solidFill>
                  <a:srgbClr val="E5E0D8"/>
                </a:solidFill>
                <a:latin typeface="Arial" pitchFamily="34" charset="0"/>
                <a:ea typeface="Arial" pitchFamily="34" charset="-122"/>
                <a:cs typeface="Arial" pitchFamily="34" charset="-120"/>
              </a:rPr>
              <a:t>· Urban road infrastructure = new channel BYD doesn't have</a:t>
            </a:r>
            <a:endParaRPr lang="en-US" sz="1050" dirty="0"/>
          </a:p>
          <a:p>
            <a:pPr marL="0" indent="0">
              <a:buNone/>
            </a:pPr>
            <a:r>
              <a:rPr lang="en-US" sz="1050" dirty="0">
                <a:solidFill>
                  <a:srgbClr val="E5E0D8"/>
                </a:solidFill>
                <a:latin typeface="Arial" pitchFamily="34" charset="0"/>
                <a:ea typeface="Arial" pitchFamily="34" charset="-122"/>
                <a:cs typeface="Arial" pitchFamily="34" charset="-120"/>
              </a:rPr>
              <a:t>· 7MWh per node · 3.5MW · 6,000+ cycle life — ideal for high-frequency grid services</a:t>
            </a:r>
            <a:endParaRPr lang="en-US" sz="1050" dirty="0"/>
          </a:p>
          <a:p>
            <a:pPr marL="0" indent="0">
              <a:buNone/>
            </a:pPr>
            <a:r>
              <a:rPr lang="en-US" sz="1050" dirty="0">
                <a:solidFill>
                  <a:srgbClr val="E5E0D8"/>
                </a:solidFill>
                <a:latin typeface="Arial" pitchFamily="34" charset="0"/>
                <a:ea typeface="Arial" pitchFamily="34" charset="-122"/>
                <a:cs typeface="Arial" pitchFamily="34" charset="-120"/>
              </a:rPr>
              <a:t>· BYD operates in 70+ countries — accelerates global rollout
</a:t>
            </a:r>
            <a:endParaRPr lang="en-US" sz="1050" dirty="0"/>
          </a:p>
          <a:p>
            <a:pPr marL="0" indent="0">
              <a:buNone/>
            </a:pPr>
            <a:r>
              <a:rPr lang="en-US" sz="1050" b="1" dirty="0">
                <a:solidFill>
                  <a:srgbClr val="E24B4A"/>
                </a:solidFill>
                <a:latin typeface="Arial" pitchFamily="34" charset="0"/>
                <a:ea typeface="Arial" pitchFamily="34" charset="-122"/>
                <a:cs typeface="Arial" pitchFamily="34" charset="-120"/>
              </a:rPr>
              <a:t>What we want:</a:t>
            </a:r>
            <a:endParaRPr lang="en-US" sz="1050" dirty="0">
              <a:solidFill>
                <a:srgbClr val="E24B4A"/>
              </a:solidFill>
            </a:endParaRPr>
          </a:p>
          <a:p>
            <a:pPr marL="0" indent="0">
              <a:buNone/>
            </a:pPr>
            <a:r>
              <a:rPr lang="en-US" sz="1050" dirty="0">
                <a:solidFill>
                  <a:srgbClr val="E5E0D8"/>
                </a:solidFill>
                <a:latin typeface="Arial" pitchFamily="34" charset="0"/>
                <a:ea typeface="Arial" pitchFamily="34" charset="-122"/>
                <a:cs typeface="Arial" pitchFamily="34" charset="-120"/>
              </a:rPr>
              <a:t>Preferred partner + volume pricing · Joint pilot node</a:t>
            </a:r>
            <a:endParaRPr lang="en-US" sz="1050" dirty="0"/>
          </a:p>
          <a:p>
            <a:pPr marL="0" indent="0">
              <a:buNone/>
            </a:pPr>
            <a:r>
              <a:rPr lang="en-US" sz="1050" dirty="0">
                <a:solidFill>
                  <a:srgbClr val="E5E0D8"/>
                </a:solidFill>
                <a:latin typeface="Arial" pitchFamily="34" charset="0"/>
                <a:ea typeface="Arial" pitchFamily="34" charset="-122"/>
                <a:cs typeface="Arial" pitchFamily="34" charset="-120"/>
              </a:rPr>
              <a:t>Volume pricing · Joint pilot node · Access to BYD's 70-country government/utility network</a:t>
            </a:r>
            <a:endParaRPr lang="en-US" sz="1050" dirty="0"/>
          </a:p>
        </p:txBody>
      </p:sp>
      <p:sp>
        <p:nvSpPr>
          <p:cNvPr id="17" name="Shape 15"/>
          <p:cNvSpPr/>
          <p:nvPr/>
        </p:nvSpPr>
        <p:spPr>
          <a:xfrm>
            <a:off x="0" y="4892040"/>
            <a:ext cx="9144000" cy="251460"/>
          </a:xfrm>
          <a:prstGeom prst="rect">
            <a:avLst/>
          </a:prstGeom>
          <a:solidFill>
            <a:srgbClr val="0D1B2E"/>
          </a:solidFill>
          <a:ln w="12700">
            <a:solidFill>
              <a:srgbClr val="0D1B2E"/>
            </a:solidFill>
            <a:prstDash val="solid"/>
          </a:ln>
        </p:spPr>
        <p:txBody>
          <a:bodyPr/>
          <a:lstStyle/>
          <a:p>
            <a:endParaRPr lang="en-GB"/>
          </a:p>
        </p:txBody>
      </p:sp>
      <p:sp>
        <p:nvSpPr>
          <p:cNvPr id="18" name="Shape 16"/>
          <p:cNvSpPr/>
          <p:nvPr/>
        </p:nvSpPr>
        <p:spPr>
          <a:xfrm>
            <a:off x="0" y="4892040"/>
            <a:ext cx="9144000" cy="27432"/>
          </a:xfrm>
          <a:prstGeom prst="rect">
            <a:avLst/>
          </a:prstGeom>
          <a:solidFill>
            <a:srgbClr val="B87333"/>
          </a:solidFill>
          <a:ln w="12700">
            <a:solidFill>
              <a:srgbClr val="B87333"/>
            </a:solidFill>
            <a:prstDash val="solid"/>
          </a:ln>
        </p:spPr>
        <p:txBody>
          <a:bodyPr/>
          <a:lstStyle/>
          <a:p>
            <a:endParaRPr lang="en-GB"/>
          </a:p>
        </p:txBody>
      </p:sp>
      <p:sp>
        <p:nvSpPr>
          <p:cNvPr id="19" name="Text 17"/>
          <p:cNvSpPr/>
          <p:nvPr/>
        </p:nvSpPr>
        <p:spPr>
          <a:xfrm>
            <a:off x="320040" y="4901184"/>
            <a:ext cx="4572000" cy="228600"/>
          </a:xfrm>
          <a:prstGeom prst="rect">
            <a:avLst/>
          </a:prstGeom>
          <a:noFill/>
          <a:ln/>
        </p:spPr>
        <p:txBody>
          <a:bodyPr wrap="square" rtlCol="0" anchor="ctr"/>
          <a:lstStyle/>
          <a:p>
            <a:pPr marL="0" indent="0">
              <a:buNone/>
            </a:pPr>
            <a:r>
              <a:rPr lang="en-US" sz="800" dirty="0">
                <a:solidFill>
                  <a:srgbClr val="B87333"/>
                </a:solidFill>
                <a:latin typeface="Arial" pitchFamily="34" charset="0"/>
                <a:ea typeface="Arial" pitchFamily="34" charset="-122"/>
                <a:cs typeface="Arial" pitchFamily="34" charset="-120"/>
              </a:rPr>
              <a:t>UMPIREAL  ·  CONFIDENTIAL</a:t>
            </a:r>
            <a:endParaRPr lang="en-US" sz="800" dirty="0"/>
          </a:p>
        </p:txBody>
      </p:sp>
      <p:sp>
        <p:nvSpPr>
          <p:cNvPr id="20" name="Text 18"/>
          <p:cNvSpPr/>
          <p:nvPr/>
        </p:nvSpPr>
        <p:spPr>
          <a:xfrm>
            <a:off x="4572000" y="4901184"/>
            <a:ext cx="4251960" cy="228600"/>
          </a:xfrm>
          <a:prstGeom prst="rect">
            <a:avLst/>
          </a:prstGeom>
          <a:noFill/>
          <a:ln/>
        </p:spPr>
        <p:txBody>
          <a:bodyPr wrap="square" rtlCol="0" anchor="ctr"/>
          <a:lstStyle/>
          <a:p>
            <a:pPr marL="0" indent="0" algn="r">
              <a:buNone/>
            </a:pPr>
            <a:r>
              <a:rPr lang="en-US" sz="800" dirty="0">
                <a:solidFill>
                  <a:srgbClr val="9CA3AF"/>
                </a:solidFill>
                <a:latin typeface="Arial" pitchFamily="34" charset="0"/>
                <a:ea typeface="Arial" pitchFamily="34" charset="-122"/>
                <a:cs typeface="Arial" pitchFamily="34" charset="-120"/>
              </a:rPr>
              <a:t>10 — Strategic Partners</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11480" y="164592"/>
            <a:ext cx="54864" cy="384048"/>
          </a:xfrm>
          <a:prstGeom prst="rect">
            <a:avLst/>
          </a:prstGeom>
          <a:solidFill>
            <a:srgbClr val="B87333"/>
          </a:solidFill>
          <a:ln w="12700">
            <a:solidFill>
              <a:srgbClr val="B87333"/>
            </a:solidFill>
            <a:prstDash val="solid"/>
          </a:ln>
        </p:spPr>
        <p:txBody>
          <a:bodyPr/>
          <a:lstStyle/>
          <a:p>
            <a:endParaRPr lang="en-GB"/>
          </a:p>
        </p:txBody>
      </p:sp>
      <p:sp>
        <p:nvSpPr>
          <p:cNvPr id="3" name="Text 1"/>
          <p:cNvSpPr/>
          <p:nvPr/>
        </p:nvSpPr>
        <p:spPr>
          <a:xfrm>
            <a:off x="548640" y="155448"/>
            <a:ext cx="8229600" cy="411480"/>
          </a:xfrm>
          <a:prstGeom prst="rect">
            <a:avLst/>
          </a:prstGeom>
          <a:noFill/>
          <a:ln/>
        </p:spPr>
        <p:txBody>
          <a:bodyPr wrap="square" rtlCol="0" anchor="ctr"/>
          <a:lstStyle/>
          <a:p>
            <a:pPr marL="0" indent="0">
              <a:buNone/>
            </a:pPr>
            <a:r>
              <a:rPr lang="en-US" sz="1100" b="1" kern="0" spc="300" dirty="0">
                <a:solidFill>
                  <a:srgbClr val="B87333"/>
                </a:solidFill>
                <a:latin typeface="Arial" pitchFamily="34" charset="0"/>
                <a:ea typeface="Arial" pitchFamily="34" charset="-122"/>
                <a:cs typeface="Arial" pitchFamily="34" charset="-120"/>
              </a:rPr>
              <a:t>COMMERCIAL USES</a:t>
            </a:r>
            <a:endParaRPr lang="en-US" sz="1100" dirty="0"/>
          </a:p>
        </p:txBody>
      </p:sp>
      <p:sp>
        <p:nvSpPr>
          <p:cNvPr id="4" name="Text 2"/>
          <p:cNvSpPr/>
          <p:nvPr/>
        </p:nvSpPr>
        <p:spPr>
          <a:xfrm>
            <a:off x="411480" y="535637"/>
            <a:ext cx="8321040" cy="457200"/>
          </a:xfrm>
          <a:prstGeom prst="rect">
            <a:avLst/>
          </a:prstGeom>
          <a:noFill/>
          <a:ln/>
        </p:spPr>
        <p:txBody>
          <a:bodyPr wrap="square" rtlCol="0" anchor="ctr"/>
          <a:lstStyle/>
          <a:p>
            <a:pPr marL="0" indent="0">
              <a:buNone/>
            </a:pPr>
            <a:r>
              <a:rPr lang="en-US" sz="2000" b="1" dirty="0">
                <a:solidFill>
                  <a:srgbClr val="E5E0D8"/>
                </a:solidFill>
                <a:latin typeface="Arial" pitchFamily="34" charset="0"/>
                <a:ea typeface="Arial" pitchFamily="34" charset="-122"/>
                <a:cs typeface="Arial" pitchFamily="34" charset="-120"/>
              </a:rPr>
              <a:t>The Under-Crest Space — Configured to Location</a:t>
            </a:r>
            <a:endParaRPr lang="en-US" sz="2000" dirty="0"/>
          </a:p>
        </p:txBody>
      </p:sp>
      <p:sp>
        <p:nvSpPr>
          <p:cNvPr id="5" name="Text 3"/>
          <p:cNvSpPr/>
          <p:nvPr/>
        </p:nvSpPr>
        <p:spPr>
          <a:xfrm>
            <a:off x="411480" y="956177"/>
            <a:ext cx="8321040" cy="347472"/>
          </a:xfrm>
          <a:prstGeom prst="rect">
            <a:avLst/>
          </a:prstGeom>
          <a:noFill/>
          <a:ln/>
        </p:spPr>
        <p:txBody>
          <a:bodyPr wrap="square" rtlCol="0" anchor="ctr"/>
          <a:lstStyle/>
          <a:p>
            <a:pPr marL="0" indent="0">
              <a:buNone/>
            </a:pPr>
            <a:r>
              <a:rPr lang="en-US" sz="1100" dirty="0">
                <a:solidFill>
                  <a:srgbClr val="9CA3AF"/>
                </a:solidFill>
                <a:latin typeface="Arial" pitchFamily="34" charset="0"/>
                <a:ea typeface="Arial" pitchFamily="34" charset="-122"/>
                <a:cs typeface="Arial" pitchFamily="34" charset="-120"/>
              </a:rPr>
              <a:t>The BÉAR Crossing creates enclosed, structurally sound real estate at every junction. The configuration is entirely location-driven — from a single café to a full commercial frontage with housing above.</a:t>
            </a:r>
            <a:endParaRPr lang="en-US" sz="1100" dirty="0"/>
          </a:p>
        </p:txBody>
      </p:sp>
      <p:sp>
        <p:nvSpPr>
          <p:cNvPr id="6" name="Shape 4"/>
          <p:cNvSpPr/>
          <p:nvPr/>
        </p:nvSpPr>
        <p:spPr>
          <a:xfrm>
            <a:off x="411480" y="1354654"/>
            <a:ext cx="2743200" cy="1382296"/>
          </a:xfrm>
          <a:prstGeom prst="rect">
            <a:avLst/>
          </a:prstGeom>
          <a:solidFill>
            <a:srgbClr val="0D1B2E"/>
          </a:solidFill>
          <a:ln w="12700">
            <a:solidFill>
              <a:srgbClr val="F0B429"/>
            </a:solidFill>
            <a:prstDash val="solid"/>
          </a:ln>
        </p:spPr>
        <p:txBody>
          <a:bodyPr/>
          <a:lstStyle/>
          <a:p>
            <a:endParaRPr lang="en-GB"/>
          </a:p>
        </p:txBody>
      </p:sp>
      <p:sp>
        <p:nvSpPr>
          <p:cNvPr id="7" name="Shape 5"/>
          <p:cNvSpPr/>
          <p:nvPr/>
        </p:nvSpPr>
        <p:spPr>
          <a:xfrm>
            <a:off x="411480" y="1354654"/>
            <a:ext cx="2743200" cy="45719"/>
          </a:xfrm>
          <a:prstGeom prst="rect">
            <a:avLst/>
          </a:prstGeom>
          <a:solidFill>
            <a:srgbClr val="F0B429"/>
          </a:solidFill>
          <a:ln w="12700">
            <a:solidFill>
              <a:srgbClr val="F0B429"/>
            </a:solidFill>
            <a:prstDash val="solid"/>
          </a:ln>
        </p:spPr>
        <p:txBody>
          <a:bodyPr/>
          <a:lstStyle/>
          <a:p>
            <a:endParaRPr lang="en-GB"/>
          </a:p>
        </p:txBody>
      </p:sp>
      <p:sp>
        <p:nvSpPr>
          <p:cNvPr id="8" name="Text 6"/>
          <p:cNvSpPr/>
          <p:nvPr/>
        </p:nvSpPr>
        <p:spPr>
          <a:xfrm>
            <a:off x="548639" y="1446094"/>
            <a:ext cx="2459421" cy="230383"/>
          </a:xfrm>
          <a:prstGeom prst="rect">
            <a:avLst/>
          </a:prstGeom>
          <a:noFill/>
          <a:ln/>
        </p:spPr>
        <p:txBody>
          <a:bodyPr wrap="square" rtlCol="0" anchor="ctr"/>
          <a:lstStyle/>
          <a:p>
            <a:pPr marL="0" indent="0">
              <a:buNone/>
            </a:pPr>
            <a:r>
              <a:rPr lang="en-US" sz="1200" b="1" dirty="0">
                <a:solidFill>
                  <a:srgbClr val="F0B429"/>
                </a:solidFill>
                <a:latin typeface="Arial" pitchFamily="34" charset="0"/>
                <a:ea typeface="Arial" pitchFamily="34" charset="-122"/>
                <a:cs typeface="Arial" pitchFamily="34" charset="-120"/>
              </a:rPr>
              <a:t>Fast Food &amp; QSR</a:t>
            </a:r>
            <a:endParaRPr lang="en-US" sz="1200" dirty="0"/>
          </a:p>
        </p:txBody>
      </p:sp>
      <p:sp>
        <p:nvSpPr>
          <p:cNvPr id="9" name="Text 7"/>
          <p:cNvSpPr/>
          <p:nvPr/>
        </p:nvSpPr>
        <p:spPr>
          <a:xfrm>
            <a:off x="548639" y="1692982"/>
            <a:ext cx="2459421" cy="187719"/>
          </a:xfrm>
          <a:prstGeom prst="rect">
            <a:avLst/>
          </a:prstGeom>
          <a:noFill/>
          <a:ln/>
        </p:spPr>
        <p:txBody>
          <a:bodyPr wrap="square" rtlCol="0" anchor="ctr"/>
          <a:lstStyle/>
          <a:p>
            <a:pPr marL="0" indent="0">
              <a:buNone/>
            </a:pPr>
            <a:r>
              <a:rPr lang="en-US" sz="900" i="1" dirty="0">
                <a:solidFill>
                  <a:srgbClr val="9CA3AF"/>
                </a:solidFill>
                <a:latin typeface="Arial" pitchFamily="34" charset="0"/>
                <a:ea typeface="Arial" pitchFamily="34" charset="-122"/>
                <a:cs typeface="Arial" pitchFamily="34" charset="-120"/>
              </a:rPr>
              <a:t>McDonald's · Burger King · KFC · Subway</a:t>
            </a:r>
            <a:endParaRPr lang="en-US" sz="900" dirty="0"/>
          </a:p>
        </p:txBody>
      </p:sp>
      <p:sp>
        <p:nvSpPr>
          <p:cNvPr id="10" name="Text 8"/>
          <p:cNvSpPr/>
          <p:nvPr/>
        </p:nvSpPr>
        <p:spPr>
          <a:xfrm>
            <a:off x="548640" y="1854470"/>
            <a:ext cx="2601310" cy="767942"/>
          </a:xfrm>
          <a:prstGeom prst="rect">
            <a:avLst/>
          </a:prstGeom>
          <a:noFill/>
          <a:ln/>
        </p:spPr>
        <p:txBody>
          <a:bodyPr wrap="square" rtlCol="0" anchor="ctr"/>
          <a:lstStyle/>
          <a:p>
            <a:pPr marL="0" indent="0">
              <a:buNone/>
            </a:pPr>
            <a:r>
              <a:rPr lang="en-US" sz="950" dirty="0">
                <a:solidFill>
                  <a:srgbClr val="E5E0D8"/>
                </a:solidFill>
                <a:latin typeface="Arial" pitchFamily="34" charset="0"/>
                <a:ea typeface="Arial" pitchFamily="34" charset="-122"/>
                <a:cs typeface="Arial" pitchFamily="34" charset="-120"/>
              </a:rPr>
              <a:t>Captive high-footfall audience — commuters who no longer stop at the light but choose to pull in. A junction that never stops traffic is a franchise operator's dream location. Landlord rent: €120–180K/yr per unit.</a:t>
            </a:r>
            <a:endParaRPr lang="en-US" sz="950" dirty="0"/>
          </a:p>
        </p:txBody>
      </p:sp>
      <p:sp>
        <p:nvSpPr>
          <p:cNvPr id="11" name="Shape 9"/>
          <p:cNvSpPr/>
          <p:nvPr/>
        </p:nvSpPr>
        <p:spPr>
          <a:xfrm>
            <a:off x="3200400" y="1354654"/>
            <a:ext cx="2743200" cy="1382296"/>
          </a:xfrm>
          <a:prstGeom prst="rect">
            <a:avLst/>
          </a:prstGeom>
          <a:solidFill>
            <a:srgbClr val="0D1B2E"/>
          </a:solidFill>
          <a:ln w="12700">
            <a:solidFill>
              <a:srgbClr val="22D3EE"/>
            </a:solidFill>
            <a:prstDash val="solid"/>
          </a:ln>
        </p:spPr>
        <p:txBody>
          <a:bodyPr/>
          <a:lstStyle/>
          <a:p>
            <a:endParaRPr lang="en-GB"/>
          </a:p>
        </p:txBody>
      </p:sp>
      <p:sp>
        <p:nvSpPr>
          <p:cNvPr id="12" name="Shape 10"/>
          <p:cNvSpPr/>
          <p:nvPr/>
        </p:nvSpPr>
        <p:spPr>
          <a:xfrm>
            <a:off x="3200400" y="1354654"/>
            <a:ext cx="2743200" cy="45719"/>
          </a:xfrm>
          <a:prstGeom prst="rect">
            <a:avLst/>
          </a:prstGeom>
          <a:solidFill>
            <a:srgbClr val="22D3EE"/>
          </a:solidFill>
          <a:ln w="12700">
            <a:solidFill>
              <a:srgbClr val="22D3EE"/>
            </a:solidFill>
            <a:prstDash val="solid"/>
          </a:ln>
        </p:spPr>
        <p:txBody>
          <a:bodyPr/>
          <a:lstStyle/>
          <a:p>
            <a:endParaRPr lang="en-GB"/>
          </a:p>
        </p:txBody>
      </p:sp>
      <p:sp>
        <p:nvSpPr>
          <p:cNvPr id="13" name="Text 11"/>
          <p:cNvSpPr/>
          <p:nvPr/>
        </p:nvSpPr>
        <p:spPr>
          <a:xfrm>
            <a:off x="3337559" y="1446094"/>
            <a:ext cx="2459421" cy="230383"/>
          </a:xfrm>
          <a:prstGeom prst="rect">
            <a:avLst/>
          </a:prstGeom>
          <a:noFill/>
          <a:ln/>
        </p:spPr>
        <p:txBody>
          <a:bodyPr wrap="square" rtlCol="0" anchor="ctr"/>
          <a:lstStyle/>
          <a:p>
            <a:pPr marL="0" indent="0">
              <a:buNone/>
            </a:pPr>
            <a:r>
              <a:rPr lang="en-US" sz="1200" b="1" dirty="0">
                <a:solidFill>
                  <a:srgbClr val="22D3EE"/>
                </a:solidFill>
                <a:latin typeface="Arial" pitchFamily="34" charset="0"/>
                <a:ea typeface="Arial" pitchFamily="34" charset="-122"/>
                <a:cs typeface="Arial" pitchFamily="34" charset="-120"/>
              </a:rPr>
              <a:t>Key Worker Housing</a:t>
            </a:r>
            <a:endParaRPr lang="en-US" sz="1200" dirty="0"/>
          </a:p>
        </p:txBody>
      </p:sp>
      <p:sp>
        <p:nvSpPr>
          <p:cNvPr id="14" name="Text 12"/>
          <p:cNvSpPr/>
          <p:nvPr/>
        </p:nvSpPr>
        <p:spPr>
          <a:xfrm>
            <a:off x="3337559" y="1692982"/>
            <a:ext cx="2459421" cy="187719"/>
          </a:xfrm>
          <a:prstGeom prst="rect">
            <a:avLst/>
          </a:prstGeom>
          <a:noFill/>
          <a:ln/>
        </p:spPr>
        <p:txBody>
          <a:bodyPr wrap="square" rtlCol="0" anchor="ctr"/>
          <a:lstStyle/>
          <a:p>
            <a:pPr marL="0" indent="0">
              <a:buNone/>
            </a:pPr>
            <a:r>
              <a:rPr lang="en-US" sz="900" i="1" dirty="0">
                <a:solidFill>
                  <a:srgbClr val="9CA3AF"/>
                </a:solidFill>
                <a:latin typeface="Arial" pitchFamily="34" charset="0"/>
                <a:ea typeface="Arial" pitchFamily="34" charset="-122"/>
                <a:cs typeface="Arial" pitchFamily="34" charset="-120"/>
              </a:rPr>
              <a:t>Nurses · teachers · emergency services</a:t>
            </a:r>
            <a:endParaRPr lang="en-US" sz="900" dirty="0"/>
          </a:p>
        </p:txBody>
      </p:sp>
      <p:sp>
        <p:nvSpPr>
          <p:cNvPr id="15" name="Text 13"/>
          <p:cNvSpPr/>
          <p:nvPr/>
        </p:nvSpPr>
        <p:spPr>
          <a:xfrm>
            <a:off x="3337560" y="1921582"/>
            <a:ext cx="2601310" cy="767942"/>
          </a:xfrm>
          <a:prstGeom prst="rect">
            <a:avLst/>
          </a:prstGeom>
          <a:noFill/>
          <a:ln/>
        </p:spPr>
        <p:txBody>
          <a:bodyPr wrap="square" rtlCol="0" anchor="ctr"/>
          <a:lstStyle/>
          <a:p>
            <a:pPr marL="0" indent="0">
              <a:buNone/>
            </a:pPr>
            <a:r>
              <a:rPr lang="en-US" sz="950" dirty="0">
                <a:solidFill>
                  <a:srgbClr val="E5E0D8"/>
                </a:solidFill>
                <a:latin typeface="Arial" pitchFamily="34" charset="0"/>
                <a:ea typeface="Arial" pitchFamily="34" charset="-122"/>
                <a:cs typeface="Arial" pitchFamily="34" charset="-120"/>
              </a:rPr>
              <a:t>Modular residential units above or alongside the crossing — built in the infrastructure that's already there. No greenfield land. No planning battle. Lower delivery cost, faster build time, and a commute that's permanently faster.</a:t>
            </a:r>
            <a:endParaRPr lang="en-US" sz="950" dirty="0"/>
          </a:p>
        </p:txBody>
      </p:sp>
      <p:sp>
        <p:nvSpPr>
          <p:cNvPr id="16" name="Shape 14"/>
          <p:cNvSpPr/>
          <p:nvPr/>
        </p:nvSpPr>
        <p:spPr>
          <a:xfrm>
            <a:off x="5989320" y="1354654"/>
            <a:ext cx="2743200" cy="1382296"/>
          </a:xfrm>
          <a:prstGeom prst="rect">
            <a:avLst/>
          </a:prstGeom>
          <a:solidFill>
            <a:srgbClr val="0D1B2E"/>
          </a:solidFill>
          <a:ln w="12700">
            <a:solidFill>
              <a:srgbClr val="D4956A"/>
            </a:solidFill>
            <a:prstDash val="solid"/>
          </a:ln>
        </p:spPr>
        <p:txBody>
          <a:bodyPr/>
          <a:lstStyle/>
          <a:p>
            <a:endParaRPr lang="en-GB"/>
          </a:p>
        </p:txBody>
      </p:sp>
      <p:sp>
        <p:nvSpPr>
          <p:cNvPr id="17" name="Shape 15"/>
          <p:cNvSpPr/>
          <p:nvPr/>
        </p:nvSpPr>
        <p:spPr>
          <a:xfrm>
            <a:off x="5989320" y="1354654"/>
            <a:ext cx="2743200" cy="45719"/>
          </a:xfrm>
          <a:prstGeom prst="rect">
            <a:avLst/>
          </a:prstGeom>
          <a:solidFill>
            <a:srgbClr val="D4956A"/>
          </a:solidFill>
          <a:ln w="12700">
            <a:solidFill>
              <a:srgbClr val="D4956A"/>
            </a:solidFill>
            <a:prstDash val="solid"/>
          </a:ln>
        </p:spPr>
        <p:txBody>
          <a:bodyPr/>
          <a:lstStyle/>
          <a:p>
            <a:endParaRPr lang="en-GB"/>
          </a:p>
        </p:txBody>
      </p:sp>
      <p:sp>
        <p:nvSpPr>
          <p:cNvPr id="18" name="Text 16"/>
          <p:cNvSpPr/>
          <p:nvPr/>
        </p:nvSpPr>
        <p:spPr>
          <a:xfrm>
            <a:off x="6126479" y="1446094"/>
            <a:ext cx="2459421" cy="230383"/>
          </a:xfrm>
          <a:prstGeom prst="rect">
            <a:avLst/>
          </a:prstGeom>
          <a:noFill/>
          <a:ln/>
        </p:spPr>
        <p:txBody>
          <a:bodyPr wrap="square" rtlCol="0" anchor="ctr"/>
          <a:lstStyle/>
          <a:p>
            <a:pPr marL="0" indent="0">
              <a:buNone/>
            </a:pPr>
            <a:r>
              <a:rPr lang="en-US" sz="1200" b="1" dirty="0">
                <a:solidFill>
                  <a:srgbClr val="D4956A"/>
                </a:solidFill>
                <a:latin typeface="Arial" pitchFamily="34" charset="0"/>
                <a:ea typeface="Arial" pitchFamily="34" charset="-122"/>
                <a:cs typeface="Arial" pitchFamily="34" charset="-120"/>
              </a:rPr>
              <a:t>Student Accommodation</a:t>
            </a:r>
            <a:endParaRPr lang="en-US" sz="1200" dirty="0"/>
          </a:p>
        </p:txBody>
      </p:sp>
      <p:sp>
        <p:nvSpPr>
          <p:cNvPr id="19" name="Text 17"/>
          <p:cNvSpPr/>
          <p:nvPr/>
        </p:nvSpPr>
        <p:spPr>
          <a:xfrm>
            <a:off x="6126479" y="1692982"/>
            <a:ext cx="2459421" cy="187719"/>
          </a:xfrm>
          <a:prstGeom prst="rect">
            <a:avLst/>
          </a:prstGeom>
          <a:noFill/>
          <a:ln/>
        </p:spPr>
        <p:txBody>
          <a:bodyPr wrap="square" rtlCol="0" anchor="ctr"/>
          <a:lstStyle/>
          <a:p>
            <a:pPr marL="0" indent="0">
              <a:buNone/>
            </a:pPr>
            <a:r>
              <a:rPr lang="en-US" sz="900" i="1" dirty="0">
                <a:solidFill>
                  <a:srgbClr val="9CA3AF"/>
                </a:solidFill>
                <a:latin typeface="Arial" pitchFamily="34" charset="0"/>
                <a:ea typeface="Arial" pitchFamily="34" charset="-122"/>
                <a:cs typeface="Arial" pitchFamily="34" charset="-120"/>
              </a:rPr>
              <a:t>Urban campuses · city centre locations</a:t>
            </a:r>
            <a:endParaRPr lang="en-US" sz="900" dirty="0"/>
          </a:p>
        </p:txBody>
      </p:sp>
      <p:sp>
        <p:nvSpPr>
          <p:cNvPr id="20" name="Text 18"/>
          <p:cNvSpPr/>
          <p:nvPr/>
        </p:nvSpPr>
        <p:spPr>
          <a:xfrm>
            <a:off x="6126480" y="1862859"/>
            <a:ext cx="2572932" cy="767942"/>
          </a:xfrm>
          <a:prstGeom prst="rect">
            <a:avLst/>
          </a:prstGeom>
          <a:noFill/>
          <a:ln/>
        </p:spPr>
        <p:txBody>
          <a:bodyPr wrap="square" rtlCol="0" anchor="ctr"/>
          <a:lstStyle/>
          <a:p>
            <a:pPr marL="0" indent="0">
              <a:buNone/>
            </a:pPr>
            <a:r>
              <a:rPr lang="en-US" sz="950" dirty="0">
                <a:solidFill>
                  <a:srgbClr val="E5E0D8"/>
                </a:solidFill>
                <a:latin typeface="Arial" pitchFamily="34" charset="0"/>
                <a:ea typeface="Arial" pitchFamily="34" charset="-122"/>
                <a:cs typeface="Arial" pitchFamily="34" charset="-120"/>
              </a:rPr>
              <a:t>High-density, affordable student housing units integrated into junction infrastructure near universities. Solves the student housing crisis at the junction level — where students actually need to be.</a:t>
            </a:r>
            <a:endParaRPr lang="en-US" sz="950" dirty="0"/>
          </a:p>
        </p:txBody>
      </p:sp>
      <p:sp>
        <p:nvSpPr>
          <p:cNvPr id="21" name="Shape 19"/>
          <p:cNvSpPr/>
          <p:nvPr/>
        </p:nvSpPr>
        <p:spPr>
          <a:xfrm>
            <a:off x="411480" y="2879353"/>
            <a:ext cx="2743200" cy="1382296"/>
          </a:xfrm>
          <a:prstGeom prst="rect">
            <a:avLst/>
          </a:prstGeom>
          <a:solidFill>
            <a:srgbClr val="0D1B2E"/>
          </a:solidFill>
          <a:ln w="12700">
            <a:solidFill>
              <a:srgbClr val="10B981"/>
            </a:solidFill>
            <a:prstDash val="solid"/>
          </a:ln>
        </p:spPr>
        <p:txBody>
          <a:bodyPr/>
          <a:lstStyle/>
          <a:p>
            <a:endParaRPr lang="en-GB"/>
          </a:p>
        </p:txBody>
      </p:sp>
      <p:sp>
        <p:nvSpPr>
          <p:cNvPr id="22" name="Shape 20"/>
          <p:cNvSpPr/>
          <p:nvPr/>
        </p:nvSpPr>
        <p:spPr>
          <a:xfrm>
            <a:off x="411480" y="2879353"/>
            <a:ext cx="2743200" cy="45719"/>
          </a:xfrm>
          <a:prstGeom prst="rect">
            <a:avLst/>
          </a:prstGeom>
          <a:solidFill>
            <a:srgbClr val="10B981"/>
          </a:solidFill>
          <a:ln w="12700">
            <a:solidFill>
              <a:srgbClr val="10B981"/>
            </a:solidFill>
            <a:prstDash val="solid"/>
          </a:ln>
        </p:spPr>
        <p:txBody>
          <a:bodyPr/>
          <a:lstStyle/>
          <a:p>
            <a:endParaRPr lang="en-GB"/>
          </a:p>
        </p:txBody>
      </p:sp>
      <p:sp>
        <p:nvSpPr>
          <p:cNvPr id="23" name="Text 21"/>
          <p:cNvSpPr/>
          <p:nvPr/>
        </p:nvSpPr>
        <p:spPr>
          <a:xfrm>
            <a:off x="548639" y="2970793"/>
            <a:ext cx="2459421" cy="230383"/>
          </a:xfrm>
          <a:prstGeom prst="rect">
            <a:avLst/>
          </a:prstGeom>
          <a:noFill/>
          <a:ln/>
        </p:spPr>
        <p:txBody>
          <a:bodyPr wrap="square" rtlCol="0" anchor="ctr"/>
          <a:lstStyle/>
          <a:p>
            <a:pPr marL="0" indent="0">
              <a:buNone/>
            </a:pPr>
            <a:r>
              <a:rPr lang="en-US" sz="1200" b="1" dirty="0">
                <a:solidFill>
                  <a:srgbClr val="10B981"/>
                </a:solidFill>
                <a:latin typeface="Arial" pitchFamily="34" charset="0"/>
                <a:ea typeface="Arial" pitchFamily="34" charset="-122"/>
                <a:cs typeface="Arial" pitchFamily="34" charset="-120"/>
              </a:rPr>
              <a:t>Café &amp; Hospitality</a:t>
            </a:r>
            <a:endParaRPr lang="en-US" sz="1200" dirty="0"/>
          </a:p>
        </p:txBody>
      </p:sp>
      <p:sp>
        <p:nvSpPr>
          <p:cNvPr id="24" name="Text 22"/>
          <p:cNvSpPr/>
          <p:nvPr/>
        </p:nvSpPr>
        <p:spPr>
          <a:xfrm>
            <a:off x="548639" y="3217681"/>
            <a:ext cx="2459421" cy="187719"/>
          </a:xfrm>
          <a:prstGeom prst="rect">
            <a:avLst/>
          </a:prstGeom>
          <a:noFill/>
          <a:ln/>
        </p:spPr>
        <p:txBody>
          <a:bodyPr wrap="square" rtlCol="0" anchor="ctr"/>
          <a:lstStyle/>
          <a:p>
            <a:pPr marL="0" indent="0">
              <a:buNone/>
            </a:pPr>
            <a:r>
              <a:rPr lang="en-US" sz="900" i="1" dirty="0">
                <a:solidFill>
                  <a:srgbClr val="9CA3AF"/>
                </a:solidFill>
                <a:latin typeface="Arial" pitchFamily="34" charset="0"/>
                <a:ea typeface="Arial" pitchFamily="34" charset="-122"/>
                <a:cs typeface="Arial" pitchFamily="34" charset="-120"/>
              </a:rPr>
              <a:t>Coffee · bakery · convenience retail</a:t>
            </a:r>
            <a:endParaRPr lang="en-US" sz="900" dirty="0"/>
          </a:p>
        </p:txBody>
      </p:sp>
      <p:sp>
        <p:nvSpPr>
          <p:cNvPr id="25" name="Text 23"/>
          <p:cNvSpPr/>
          <p:nvPr/>
        </p:nvSpPr>
        <p:spPr>
          <a:xfrm>
            <a:off x="548640" y="3387558"/>
            <a:ext cx="2601310" cy="767942"/>
          </a:xfrm>
          <a:prstGeom prst="rect">
            <a:avLst/>
          </a:prstGeom>
          <a:noFill/>
          <a:ln/>
        </p:spPr>
        <p:txBody>
          <a:bodyPr wrap="square" rtlCol="0" anchor="ctr"/>
          <a:lstStyle/>
          <a:p>
            <a:pPr marL="0" indent="0">
              <a:buNone/>
            </a:pPr>
            <a:r>
              <a:rPr lang="en-US" sz="950" dirty="0">
                <a:solidFill>
                  <a:srgbClr val="E5E0D8"/>
                </a:solidFill>
                <a:latin typeface="Arial" pitchFamily="34" charset="0"/>
                <a:ea typeface="Arial" pitchFamily="34" charset="-122"/>
                <a:cs typeface="Arial" pitchFamily="34" charset="-120"/>
              </a:rPr>
              <a:t>The basic 5-room node includes a café unit. Scales to full hospitality frontage on larger nodes. Dwell time at the junction is now a commercial opportunity — not a traffic management problem.</a:t>
            </a:r>
            <a:endParaRPr lang="en-US" sz="950" dirty="0"/>
          </a:p>
        </p:txBody>
      </p:sp>
      <p:sp>
        <p:nvSpPr>
          <p:cNvPr id="26" name="Shape 24"/>
          <p:cNvSpPr/>
          <p:nvPr/>
        </p:nvSpPr>
        <p:spPr>
          <a:xfrm>
            <a:off x="3200400" y="2879353"/>
            <a:ext cx="2743200" cy="1382296"/>
          </a:xfrm>
          <a:prstGeom prst="rect">
            <a:avLst/>
          </a:prstGeom>
          <a:solidFill>
            <a:srgbClr val="0D1B2E"/>
          </a:solidFill>
          <a:ln w="12700">
            <a:solidFill>
              <a:srgbClr val="D4956A"/>
            </a:solidFill>
            <a:prstDash val="solid"/>
          </a:ln>
        </p:spPr>
        <p:txBody>
          <a:bodyPr/>
          <a:lstStyle/>
          <a:p>
            <a:endParaRPr lang="en-GB"/>
          </a:p>
        </p:txBody>
      </p:sp>
      <p:sp>
        <p:nvSpPr>
          <p:cNvPr id="27" name="Shape 25"/>
          <p:cNvSpPr/>
          <p:nvPr/>
        </p:nvSpPr>
        <p:spPr>
          <a:xfrm>
            <a:off x="3200400" y="2879353"/>
            <a:ext cx="2743200" cy="45719"/>
          </a:xfrm>
          <a:prstGeom prst="rect">
            <a:avLst/>
          </a:prstGeom>
          <a:solidFill>
            <a:srgbClr val="D4956A"/>
          </a:solidFill>
          <a:ln w="12700">
            <a:solidFill>
              <a:srgbClr val="D4956A"/>
            </a:solidFill>
            <a:prstDash val="solid"/>
          </a:ln>
        </p:spPr>
        <p:txBody>
          <a:bodyPr/>
          <a:lstStyle/>
          <a:p>
            <a:endParaRPr lang="en-GB"/>
          </a:p>
        </p:txBody>
      </p:sp>
      <p:sp>
        <p:nvSpPr>
          <p:cNvPr id="28" name="Text 26"/>
          <p:cNvSpPr/>
          <p:nvPr/>
        </p:nvSpPr>
        <p:spPr>
          <a:xfrm>
            <a:off x="3337559" y="2970793"/>
            <a:ext cx="2459421" cy="230383"/>
          </a:xfrm>
          <a:prstGeom prst="rect">
            <a:avLst/>
          </a:prstGeom>
          <a:noFill/>
          <a:ln/>
        </p:spPr>
        <p:txBody>
          <a:bodyPr wrap="square" rtlCol="0" anchor="ctr"/>
          <a:lstStyle/>
          <a:p>
            <a:pPr marL="0" indent="0">
              <a:buNone/>
            </a:pPr>
            <a:r>
              <a:rPr lang="en-US" sz="1200" b="1" dirty="0">
                <a:solidFill>
                  <a:srgbClr val="D4956A"/>
                </a:solidFill>
                <a:latin typeface="Arial" pitchFamily="34" charset="0"/>
                <a:ea typeface="Arial" pitchFamily="34" charset="-122"/>
                <a:cs typeface="Arial" pitchFamily="34" charset="-120"/>
              </a:rPr>
              <a:t>Office &amp; Civic Space</a:t>
            </a:r>
            <a:endParaRPr lang="en-US" sz="1200" dirty="0"/>
          </a:p>
        </p:txBody>
      </p:sp>
      <p:sp>
        <p:nvSpPr>
          <p:cNvPr id="29" name="Text 27"/>
          <p:cNvSpPr/>
          <p:nvPr/>
        </p:nvSpPr>
        <p:spPr>
          <a:xfrm>
            <a:off x="3337559" y="3217681"/>
            <a:ext cx="2459421" cy="187719"/>
          </a:xfrm>
          <a:prstGeom prst="rect">
            <a:avLst/>
          </a:prstGeom>
          <a:noFill/>
          <a:ln/>
        </p:spPr>
        <p:txBody>
          <a:bodyPr wrap="square" rtlCol="0" anchor="ctr"/>
          <a:lstStyle/>
          <a:p>
            <a:pPr marL="0" indent="0">
              <a:buNone/>
            </a:pPr>
            <a:r>
              <a:rPr lang="en-US" sz="900" i="1" dirty="0">
                <a:solidFill>
                  <a:srgbClr val="9CA3AF"/>
                </a:solidFill>
                <a:latin typeface="Arial" pitchFamily="34" charset="0"/>
                <a:ea typeface="Arial" pitchFamily="34" charset="-122"/>
                <a:cs typeface="Arial" pitchFamily="34" charset="-120"/>
              </a:rPr>
              <a:t>Co-working · community · services</a:t>
            </a:r>
            <a:endParaRPr lang="en-US" sz="900" dirty="0"/>
          </a:p>
        </p:txBody>
      </p:sp>
      <p:sp>
        <p:nvSpPr>
          <p:cNvPr id="30" name="Text 28"/>
          <p:cNvSpPr/>
          <p:nvPr/>
        </p:nvSpPr>
        <p:spPr>
          <a:xfrm>
            <a:off x="3337560" y="3446281"/>
            <a:ext cx="2601310" cy="767942"/>
          </a:xfrm>
          <a:prstGeom prst="rect">
            <a:avLst/>
          </a:prstGeom>
          <a:noFill/>
          <a:ln/>
        </p:spPr>
        <p:txBody>
          <a:bodyPr wrap="square" rtlCol="0" anchor="ctr"/>
          <a:lstStyle/>
          <a:p>
            <a:pPr marL="0" indent="0">
              <a:buNone/>
            </a:pPr>
            <a:r>
              <a:rPr lang="en-US" sz="950" dirty="0">
                <a:solidFill>
                  <a:srgbClr val="E5E0D8"/>
                </a:solidFill>
                <a:latin typeface="Arial" pitchFamily="34" charset="0"/>
                <a:ea typeface="Arial" pitchFamily="34" charset="-122"/>
                <a:cs typeface="Arial" pitchFamily="34" charset="-120"/>
              </a:rPr>
              <a:t>Local authority services, health clinics, community hubs and co-working space embedded in transport infrastructure. Reduces car journeys by bringing services to the junction rather than the other way around.</a:t>
            </a:r>
            <a:endParaRPr lang="en-US" sz="950" dirty="0"/>
          </a:p>
        </p:txBody>
      </p:sp>
      <p:sp>
        <p:nvSpPr>
          <p:cNvPr id="31" name="Shape 29"/>
          <p:cNvSpPr/>
          <p:nvPr/>
        </p:nvSpPr>
        <p:spPr>
          <a:xfrm>
            <a:off x="5989320" y="2879353"/>
            <a:ext cx="2743200" cy="1382296"/>
          </a:xfrm>
          <a:prstGeom prst="rect">
            <a:avLst/>
          </a:prstGeom>
          <a:solidFill>
            <a:srgbClr val="0D1B2E"/>
          </a:solidFill>
          <a:ln w="12700">
            <a:solidFill>
              <a:srgbClr val="22D3EE"/>
            </a:solidFill>
            <a:prstDash val="solid"/>
          </a:ln>
        </p:spPr>
        <p:txBody>
          <a:bodyPr/>
          <a:lstStyle/>
          <a:p>
            <a:endParaRPr lang="en-GB"/>
          </a:p>
        </p:txBody>
      </p:sp>
      <p:sp>
        <p:nvSpPr>
          <p:cNvPr id="32" name="Shape 30"/>
          <p:cNvSpPr/>
          <p:nvPr/>
        </p:nvSpPr>
        <p:spPr>
          <a:xfrm>
            <a:off x="5989320" y="2879353"/>
            <a:ext cx="2743200" cy="45719"/>
          </a:xfrm>
          <a:prstGeom prst="rect">
            <a:avLst/>
          </a:prstGeom>
          <a:solidFill>
            <a:srgbClr val="22D3EE"/>
          </a:solidFill>
          <a:ln w="12700">
            <a:solidFill>
              <a:srgbClr val="22D3EE"/>
            </a:solidFill>
            <a:prstDash val="solid"/>
          </a:ln>
        </p:spPr>
        <p:txBody>
          <a:bodyPr/>
          <a:lstStyle/>
          <a:p>
            <a:endParaRPr lang="en-GB"/>
          </a:p>
        </p:txBody>
      </p:sp>
      <p:sp>
        <p:nvSpPr>
          <p:cNvPr id="33" name="Text 31"/>
          <p:cNvSpPr/>
          <p:nvPr/>
        </p:nvSpPr>
        <p:spPr>
          <a:xfrm>
            <a:off x="6126479" y="2970793"/>
            <a:ext cx="2459421" cy="230383"/>
          </a:xfrm>
          <a:prstGeom prst="rect">
            <a:avLst/>
          </a:prstGeom>
          <a:noFill/>
          <a:ln/>
        </p:spPr>
        <p:txBody>
          <a:bodyPr wrap="square" rtlCol="0" anchor="ctr"/>
          <a:lstStyle/>
          <a:p>
            <a:pPr marL="0" indent="0">
              <a:buNone/>
            </a:pPr>
            <a:r>
              <a:rPr lang="en-US" sz="1200" b="1" dirty="0">
                <a:solidFill>
                  <a:srgbClr val="22D3EE"/>
                </a:solidFill>
                <a:latin typeface="Arial" pitchFamily="34" charset="0"/>
                <a:ea typeface="Arial" pitchFamily="34" charset="-122"/>
                <a:cs typeface="Arial" pitchFamily="34" charset="-120"/>
              </a:rPr>
              <a:t>EV Charging Hub</a:t>
            </a:r>
            <a:endParaRPr lang="en-US" sz="1200" dirty="0"/>
          </a:p>
        </p:txBody>
      </p:sp>
      <p:sp>
        <p:nvSpPr>
          <p:cNvPr id="34" name="Text 32"/>
          <p:cNvSpPr/>
          <p:nvPr/>
        </p:nvSpPr>
        <p:spPr>
          <a:xfrm>
            <a:off x="6126479" y="3217681"/>
            <a:ext cx="2459421" cy="187719"/>
          </a:xfrm>
          <a:prstGeom prst="rect">
            <a:avLst/>
          </a:prstGeom>
          <a:noFill/>
          <a:ln/>
        </p:spPr>
        <p:txBody>
          <a:bodyPr wrap="square" rtlCol="0" anchor="ctr"/>
          <a:lstStyle/>
          <a:p>
            <a:pPr marL="0" indent="0">
              <a:buNone/>
            </a:pPr>
            <a:r>
              <a:rPr lang="en-US" sz="900" i="1" dirty="0">
                <a:solidFill>
                  <a:srgbClr val="9CA3AF"/>
                </a:solidFill>
                <a:latin typeface="Arial" pitchFamily="34" charset="0"/>
                <a:ea typeface="Arial" pitchFamily="34" charset="-122"/>
                <a:cs typeface="Arial" pitchFamily="34" charset="-120"/>
              </a:rPr>
              <a:t>Tier 2–3 nodes · forecourt model</a:t>
            </a:r>
            <a:endParaRPr lang="en-US" sz="900" dirty="0"/>
          </a:p>
        </p:txBody>
      </p:sp>
      <p:sp>
        <p:nvSpPr>
          <p:cNvPr id="35" name="Text 33"/>
          <p:cNvSpPr/>
          <p:nvPr/>
        </p:nvSpPr>
        <p:spPr>
          <a:xfrm>
            <a:off x="6126480" y="3387558"/>
            <a:ext cx="2572932" cy="767942"/>
          </a:xfrm>
          <a:prstGeom prst="rect">
            <a:avLst/>
          </a:prstGeom>
          <a:noFill/>
          <a:ln/>
        </p:spPr>
        <p:txBody>
          <a:bodyPr wrap="square" rtlCol="0" anchor="ctr"/>
          <a:lstStyle/>
          <a:p>
            <a:pPr marL="0" indent="0">
              <a:buNone/>
            </a:pPr>
            <a:r>
              <a:rPr lang="en-US" sz="950" dirty="0">
                <a:solidFill>
                  <a:srgbClr val="E5E0D8"/>
                </a:solidFill>
                <a:latin typeface="Arial" pitchFamily="34" charset="0"/>
                <a:ea typeface="Arial" pitchFamily="34" charset="-122"/>
                <a:cs typeface="Arial" pitchFamily="34" charset="-120"/>
              </a:rPr>
              <a:t>EV charging integrated with the BESS room — buy cheap overnight grid power, sell fast charging during the day. The junction that never stops traffic becomes the charging stop people choose to make.</a:t>
            </a:r>
            <a:endParaRPr lang="en-US" sz="950" dirty="0"/>
          </a:p>
        </p:txBody>
      </p:sp>
      <p:sp>
        <p:nvSpPr>
          <p:cNvPr id="36" name="Shape 34"/>
          <p:cNvSpPr/>
          <p:nvPr/>
        </p:nvSpPr>
        <p:spPr>
          <a:xfrm>
            <a:off x="411480" y="4433833"/>
            <a:ext cx="8321040" cy="382706"/>
          </a:xfrm>
          <a:prstGeom prst="rect">
            <a:avLst/>
          </a:prstGeom>
          <a:solidFill>
            <a:srgbClr val="0D1B2E"/>
          </a:solidFill>
          <a:ln w="12700">
            <a:solidFill>
              <a:srgbClr val="F0B429"/>
            </a:solidFill>
            <a:prstDash val="solid"/>
          </a:ln>
        </p:spPr>
        <p:txBody>
          <a:bodyPr/>
          <a:lstStyle/>
          <a:p>
            <a:endParaRPr lang="en-GB"/>
          </a:p>
        </p:txBody>
      </p:sp>
      <p:sp>
        <p:nvSpPr>
          <p:cNvPr id="37" name="Text 35"/>
          <p:cNvSpPr/>
          <p:nvPr/>
        </p:nvSpPr>
        <p:spPr>
          <a:xfrm>
            <a:off x="566928" y="4485677"/>
            <a:ext cx="8046720" cy="330862"/>
          </a:xfrm>
          <a:prstGeom prst="rect">
            <a:avLst/>
          </a:prstGeom>
          <a:noFill/>
          <a:ln/>
        </p:spPr>
        <p:txBody>
          <a:bodyPr wrap="square" rtlCol="0" anchor="ctr"/>
          <a:lstStyle/>
          <a:p>
            <a:pPr marL="0" indent="0">
              <a:buNone/>
            </a:pPr>
            <a:r>
              <a:rPr lang="en-US" sz="1000" b="1" dirty="0">
                <a:solidFill>
                  <a:srgbClr val="F0B429"/>
                </a:solidFill>
                <a:latin typeface="Arial" pitchFamily="34" charset="0"/>
                <a:ea typeface="Arial" pitchFamily="34" charset="-122"/>
                <a:cs typeface="Arial" pitchFamily="34" charset="-120"/>
              </a:rPr>
              <a:t>The node scales with demand.  </a:t>
            </a:r>
            <a:r>
              <a:rPr lang="en-US" sz="1000" dirty="0">
                <a:solidFill>
                  <a:srgbClr val="9CA3AF"/>
                </a:solidFill>
                <a:latin typeface="Arial" pitchFamily="34" charset="0"/>
                <a:ea typeface="Arial" pitchFamily="34" charset="-122"/>
                <a:cs typeface="Arial" pitchFamily="34" charset="-120"/>
              </a:rPr>
              <a:t>Basic 5 rooms = 350 m².  Each additional room adds ~€230K capex and opens another commercial use.  Longer nodes (10, 15, 20+ rooms) accommodate full commercial frontage including drive-through restaurants — as shown in the render.</a:t>
            </a:r>
            <a:endParaRPr lang="en-US" sz="1000" dirty="0"/>
          </a:p>
        </p:txBody>
      </p:sp>
      <p:sp>
        <p:nvSpPr>
          <p:cNvPr id="38" name="Shape 36"/>
          <p:cNvSpPr/>
          <p:nvPr/>
        </p:nvSpPr>
        <p:spPr>
          <a:xfrm>
            <a:off x="0" y="4892040"/>
            <a:ext cx="9144000" cy="251460"/>
          </a:xfrm>
          <a:prstGeom prst="rect">
            <a:avLst/>
          </a:prstGeom>
          <a:solidFill>
            <a:srgbClr val="0D1B2E"/>
          </a:solidFill>
          <a:ln w="12700">
            <a:solidFill>
              <a:srgbClr val="0D1B2E"/>
            </a:solidFill>
            <a:prstDash val="solid"/>
          </a:ln>
        </p:spPr>
        <p:txBody>
          <a:bodyPr/>
          <a:lstStyle/>
          <a:p>
            <a:endParaRPr lang="en-GB"/>
          </a:p>
        </p:txBody>
      </p:sp>
      <p:sp>
        <p:nvSpPr>
          <p:cNvPr id="39" name="Shape 37"/>
          <p:cNvSpPr/>
          <p:nvPr/>
        </p:nvSpPr>
        <p:spPr>
          <a:xfrm>
            <a:off x="0" y="4892040"/>
            <a:ext cx="9144000" cy="27432"/>
          </a:xfrm>
          <a:prstGeom prst="rect">
            <a:avLst/>
          </a:prstGeom>
          <a:solidFill>
            <a:srgbClr val="B87333"/>
          </a:solidFill>
          <a:ln w="12700">
            <a:solidFill>
              <a:srgbClr val="B87333"/>
            </a:solidFill>
            <a:prstDash val="solid"/>
          </a:ln>
        </p:spPr>
        <p:txBody>
          <a:bodyPr/>
          <a:lstStyle/>
          <a:p>
            <a:endParaRPr lang="en-GB"/>
          </a:p>
        </p:txBody>
      </p:sp>
      <p:sp>
        <p:nvSpPr>
          <p:cNvPr id="40" name="Text 38"/>
          <p:cNvSpPr/>
          <p:nvPr/>
        </p:nvSpPr>
        <p:spPr>
          <a:xfrm>
            <a:off x="320040" y="4901184"/>
            <a:ext cx="4572000" cy="228600"/>
          </a:xfrm>
          <a:prstGeom prst="rect">
            <a:avLst/>
          </a:prstGeom>
          <a:noFill/>
          <a:ln/>
        </p:spPr>
        <p:txBody>
          <a:bodyPr wrap="square" rtlCol="0" anchor="ctr"/>
          <a:lstStyle/>
          <a:p>
            <a:pPr marL="0" indent="0">
              <a:buNone/>
            </a:pPr>
            <a:r>
              <a:rPr lang="en-US" sz="800" dirty="0">
                <a:solidFill>
                  <a:srgbClr val="B87333"/>
                </a:solidFill>
                <a:latin typeface="Arial" pitchFamily="34" charset="0"/>
                <a:ea typeface="Arial" pitchFamily="34" charset="-122"/>
                <a:cs typeface="Arial" pitchFamily="34" charset="-120"/>
              </a:rPr>
              <a:t>UMPIREAL  ·  CONFIDENTIAL</a:t>
            </a:r>
            <a:endParaRPr lang="en-US" sz="800" dirty="0"/>
          </a:p>
        </p:txBody>
      </p:sp>
      <p:sp>
        <p:nvSpPr>
          <p:cNvPr id="41" name="Text 39"/>
          <p:cNvSpPr/>
          <p:nvPr/>
        </p:nvSpPr>
        <p:spPr>
          <a:xfrm>
            <a:off x="4572000" y="4901184"/>
            <a:ext cx="4251960" cy="228600"/>
          </a:xfrm>
          <a:prstGeom prst="rect">
            <a:avLst/>
          </a:prstGeom>
          <a:noFill/>
          <a:ln/>
        </p:spPr>
        <p:txBody>
          <a:bodyPr wrap="square" rtlCol="0" anchor="ctr"/>
          <a:lstStyle/>
          <a:p>
            <a:pPr marL="0" indent="0" algn="r">
              <a:buNone/>
            </a:pPr>
            <a:r>
              <a:rPr lang="en-US" sz="800" dirty="0">
                <a:solidFill>
                  <a:srgbClr val="9CA3AF"/>
                </a:solidFill>
                <a:latin typeface="Arial" pitchFamily="34" charset="0"/>
                <a:ea typeface="Arial" pitchFamily="34" charset="-122"/>
                <a:cs typeface="Arial" pitchFamily="34" charset="-120"/>
              </a:rPr>
              <a:t>12 — Commercial Uses</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8389-3DAC-AB3D-3889-33CA173BDC41}"/>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EF9027F5-E782-FE82-D26B-6E26BE06BCC9}"/>
              </a:ext>
            </a:extLst>
          </p:cNvPr>
          <p:cNvSpPr>
            <a:spLocks noGrp="1"/>
          </p:cNvSpPr>
          <p:nvPr>
            <p:ph type="subTitle" idx="1"/>
          </p:nvPr>
        </p:nvSpPr>
        <p:spPr/>
        <p:txBody>
          <a:bodyPr/>
          <a:lstStyle/>
          <a:p>
            <a:endParaRPr lang="en-GB"/>
          </a:p>
        </p:txBody>
      </p:sp>
      <p:graphicFrame>
        <p:nvGraphicFramePr>
          <p:cNvPr id="4" name="Table 3">
            <a:extLst>
              <a:ext uri="{FF2B5EF4-FFF2-40B4-BE49-F238E27FC236}">
                <a16:creationId xmlns:a16="http://schemas.microsoft.com/office/drawing/2014/main" id="{2F726675-967B-2B09-2C74-6AE1B07F1F59}"/>
              </a:ext>
            </a:extLst>
          </p:cNvPr>
          <p:cNvGraphicFramePr>
            <a:graphicFrameLocks noGrp="1"/>
          </p:cNvGraphicFramePr>
          <p:nvPr>
            <p:extLst>
              <p:ext uri="{D42A27DB-BD31-4B8C-83A1-F6EECF244321}">
                <p14:modId xmlns:p14="http://schemas.microsoft.com/office/powerpoint/2010/main" val="2493550212"/>
              </p:ext>
            </p:extLst>
          </p:nvPr>
        </p:nvGraphicFramePr>
        <p:xfrm>
          <a:off x="498022" y="1737122"/>
          <a:ext cx="7886700" cy="2194560"/>
        </p:xfrm>
        <a:graphic>
          <a:graphicData uri="http://schemas.openxmlformats.org/drawingml/2006/table">
            <a:tbl>
              <a:tblPr/>
              <a:tblGrid>
                <a:gridCol w="2628900">
                  <a:extLst>
                    <a:ext uri="{9D8B030D-6E8A-4147-A177-3AD203B41FA5}">
                      <a16:colId xmlns:a16="http://schemas.microsoft.com/office/drawing/2014/main" val="3118504233"/>
                    </a:ext>
                  </a:extLst>
                </a:gridCol>
                <a:gridCol w="2628900">
                  <a:extLst>
                    <a:ext uri="{9D8B030D-6E8A-4147-A177-3AD203B41FA5}">
                      <a16:colId xmlns:a16="http://schemas.microsoft.com/office/drawing/2014/main" val="1572506809"/>
                    </a:ext>
                  </a:extLst>
                </a:gridCol>
                <a:gridCol w="2628900">
                  <a:extLst>
                    <a:ext uri="{9D8B030D-6E8A-4147-A177-3AD203B41FA5}">
                      <a16:colId xmlns:a16="http://schemas.microsoft.com/office/drawing/2014/main" val="2829727116"/>
                    </a:ext>
                  </a:extLst>
                </a:gridCol>
              </a:tblGrid>
              <a:tr h="0">
                <a:tc>
                  <a:txBody>
                    <a:bodyPr/>
                    <a:lstStyle/>
                    <a:p>
                      <a:pPr>
                        <a:buNone/>
                      </a:pPr>
                      <a:r>
                        <a:rPr lang="en-GB" b="1">
                          <a:solidFill>
                            <a:srgbClr val="FDCC9C"/>
                          </a:solidFill>
                          <a:effectLst/>
                          <a:latin typeface="Google Sans Text"/>
                        </a:rPr>
                        <a:t>Offset Category</a:t>
                      </a:r>
                      <a:endParaRPr lang="en-GB">
                        <a:solidFill>
                          <a:srgbClr val="FDCC9C"/>
                        </a:solidFill>
                        <a:effectLst/>
                        <a:latin typeface="Google Sans Text"/>
                      </a:endParaRPr>
                    </a:p>
                  </a:txBody>
                  <a:tcPr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lnT w="12700" cap="flat" cmpd="sng" algn="ctr">
                      <a:solidFill>
                        <a:srgbClr val="FDCC9C"/>
                      </a:solidFill>
                      <a:prstDash val="solid"/>
                      <a:round/>
                      <a:headEnd type="none" w="med" len="med"/>
                      <a:tailEnd type="none" w="med" len="med"/>
                    </a:lnT>
                    <a:lnB w="12700" cap="flat" cmpd="sng" algn="ctr">
                      <a:solidFill>
                        <a:srgbClr val="FDCC9C"/>
                      </a:solidFill>
                      <a:prstDash val="solid"/>
                      <a:round/>
                      <a:headEnd type="none" w="med" len="med"/>
                      <a:tailEnd type="none" w="med" len="med"/>
                    </a:lnB>
                    <a:noFill/>
                  </a:tcPr>
                </a:tc>
                <a:tc>
                  <a:txBody>
                    <a:bodyPr/>
                    <a:lstStyle/>
                    <a:p>
                      <a:pPr>
                        <a:buNone/>
                      </a:pPr>
                      <a:r>
                        <a:rPr lang="en-GB" b="1">
                          <a:solidFill>
                            <a:srgbClr val="FDCC9C"/>
                          </a:solidFill>
                          <a:effectLst/>
                          <a:latin typeface="Google Sans Text"/>
                        </a:rPr>
                        <a:t>Metric</a:t>
                      </a:r>
                      <a:endParaRPr lang="en-GB">
                        <a:solidFill>
                          <a:srgbClr val="FDCC9C"/>
                        </a:solidFill>
                        <a:effectLst/>
                        <a:latin typeface="Google Sans Text"/>
                      </a:endParaRPr>
                    </a:p>
                  </a:txBody>
                  <a:tcPr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lnT w="12700" cap="flat" cmpd="sng" algn="ctr">
                      <a:solidFill>
                        <a:srgbClr val="FDCC9C"/>
                      </a:solidFill>
                      <a:prstDash val="solid"/>
                      <a:round/>
                      <a:headEnd type="none" w="med" len="med"/>
                      <a:tailEnd type="none" w="med" len="med"/>
                    </a:lnT>
                    <a:lnB w="12700" cap="flat" cmpd="sng" algn="ctr">
                      <a:solidFill>
                        <a:srgbClr val="FDCC9C"/>
                      </a:solidFill>
                      <a:prstDash val="solid"/>
                      <a:round/>
                      <a:headEnd type="none" w="med" len="med"/>
                      <a:tailEnd type="none" w="med" len="med"/>
                    </a:lnB>
                    <a:noFill/>
                  </a:tcPr>
                </a:tc>
                <a:tc>
                  <a:txBody>
                    <a:bodyPr/>
                    <a:lstStyle/>
                    <a:p>
                      <a:pPr>
                        <a:buNone/>
                      </a:pPr>
                      <a:r>
                        <a:rPr lang="en-GB" b="1" dirty="0">
                          <a:solidFill>
                            <a:srgbClr val="FDCC9C"/>
                          </a:solidFill>
                          <a:effectLst/>
                          <a:latin typeface="Google Sans Text"/>
                        </a:rPr>
                        <a:t>Trees Equivalent</a:t>
                      </a:r>
                      <a:endParaRPr lang="en-GB" dirty="0">
                        <a:solidFill>
                          <a:srgbClr val="FDCC9C"/>
                        </a:solidFill>
                        <a:effectLst/>
                        <a:latin typeface="Google Sans Text"/>
                      </a:endParaRPr>
                    </a:p>
                  </a:txBody>
                  <a:tcPr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lnT w="12700" cap="flat" cmpd="sng" algn="ctr">
                      <a:solidFill>
                        <a:srgbClr val="FDCC9C"/>
                      </a:solidFill>
                      <a:prstDash val="solid"/>
                      <a:round/>
                      <a:headEnd type="none" w="med" len="med"/>
                      <a:tailEnd type="none" w="med" len="med"/>
                    </a:lnT>
                    <a:lnB w="12700" cap="flat" cmpd="sng" algn="ctr">
                      <a:solidFill>
                        <a:srgbClr val="FDCC9C"/>
                      </a:solidFill>
                      <a:prstDash val="solid"/>
                      <a:round/>
                      <a:headEnd type="none" w="med" len="med"/>
                      <a:tailEnd type="none" w="med" len="med"/>
                    </a:lnB>
                    <a:noFill/>
                  </a:tcPr>
                </a:tc>
                <a:extLst>
                  <a:ext uri="{0D108BD9-81ED-4DB2-BD59-A6C34878D82A}">
                    <a16:rowId xmlns:a16="http://schemas.microsoft.com/office/drawing/2014/main" val="3504267520"/>
                  </a:ext>
                </a:extLst>
              </a:tr>
              <a:tr h="0">
                <a:tc>
                  <a:txBody>
                    <a:bodyPr/>
                    <a:lstStyle/>
                    <a:p>
                      <a:pPr>
                        <a:buNone/>
                      </a:pPr>
                      <a:r>
                        <a:rPr lang="en-GB" b="0">
                          <a:solidFill>
                            <a:srgbClr val="BD84FC"/>
                          </a:solidFill>
                          <a:effectLst/>
                          <a:latin typeface="Google Sans Text"/>
                        </a:rPr>
                        <a:t>Traffic Momentum</a:t>
                      </a:r>
                    </a:p>
                  </a:txBody>
                  <a:tcPr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lnT w="12700" cap="flat" cmpd="sng" algn="ctr">
                      <a:solidFill>
                        <a:srgbClr val="FDCC9C"/>
                      </a:solidFill>
                      <a:prstDash val="solid"/>
                      <a:round/>
                      <a:headEnd type="none" w="med" len="med"/>
                      <a:tailEnd type="none" w="med" len="med"/>
                    </a:lnT>
                    <a:lnB w="12700" cap="flat" cmpd="sng" algn="ctr">
                      <a:solidFill>
                        <a:srgbClr val="FDCC9C"/>
                      </a:solidFill>
                      <a:prstDash val="solid"/>
                      <a:round/>
                      <a:headEnd type="none" w="med" len="med"/>
                      <a:tailEnd type="none" w="med" len="med"/>
                    </a:lnB>
                    <a:noFill/>
                  </a:tcPr>
                </a:tc>
                <a:tc>
                  <a:txBody>
                    <a:bodyPr/>
                    <a:lstStyle/>
                    <a:p>
                      <a:pPr>
                        <a:buNone/>
                      </a:pPr>
                      <a:r>
                        <a:rPr lang="en-GB" b="0" dirty="0">
                          <a:solidFill>
                            <a:srgbClr val="BD84FC"/>
                          </a:solidFill>
                          <a:effectLst/>
                          <a:latin typeface="Google Sans Text"/>
                        </a:rPr>
                        <a:t>1,952 Tonnes CO2</a:t>
                      </a:r>
                    </a:p>
                  </a:txBody>
                  <a:tcPr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lnT w="12700" cap="flat" cmpd="sng" algn="ctr">
                      <a:solidFill>
                        <a:srgbClr val="FDCC9C"/>
                      </a:solidFill>
                      <a:prstDash val="solid"/>
                      <a:round/>
                      <a:headEnd type="none" w="med" len="med"/>
                      <a:tailEnd type="none" w="med" len="med"/>
                    </a:lnT>
                    <a:lnB w="12700" cap="flat" cmpd="sng" algn="ctr">
                      <a:solidFill>
                        <a:srgbClr val="FDCC9C"/>
                      </a:solidFill>
                      <a:prstDash val="solid"/>
                      <a:round/>
                      <a:headEnd type="none" w="med" len="med"/>
                      <a:tailEnd type="none" w="med" len="med"/>
                    </a:lnB>
                    <a:noFill/>
                  </a:tcPr>
                </a:tc>
                <a:tc>
                  <a:txBody>
                    <a:bodyPr/>
                    <a:lstStyle/>
                    <a:p>
                      <a:pPr>
                        <a:buNone/>
                      </a:pPr>
                      <a:r>
                        <a:rPr lang="en-GB" b="0" dirty="0">
                          <a:solidFill>
                            <a:srgbClr val="BD84FC"/>
                          </a:solidFill>
                          <a:effectLst/>
                          <a:latin typeface="Google Sans Text"/>
                        </a:rPr>
                        <a:t>88,746 Trees</a:t>
                      </a:r>
                    </a:p>
                  </a:txBody>
                  <a:tcPr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lnT w="12700" cap="flat" cmpd="sng" algn="ctr">
                      <a:solidFill>
                        <a:srgbClr val="FDCC9C"/>
                      </a:solidFill>
                      <a:prstDash val="solid"/>
                      <a:round/>
                      <a:headEnd type="none" w="med" len="med"/>
                      <a:tailEnd type="none" w="med" len="med"/>
                    </a:lnT>
                    <a:lnB w="12700" cap="flat" cmpd="sng" algn="ctr">
                      <a:solidFill>
                        <a:srgbClr val="FDCC9C"/>
                      </a:solidFill>
                      <a:prstDash val="solid"/>
                      <a:round/>
                      <a:headEnd type="none" w="med" len="med"/>
                      <a:tailEnd type="none" w="med" len="med"/>
                    </a:lnB>
                    <a:noFill/>
                  </a:tcPr>
                </a:tc>
                <a:extLst>
                  <a:ext uri="{0D108BD9-81ED-4DB2-BD59-A6C34878D82A}">
                    <a16:rowId xmlns:a16="http://schemas.microsoft.com/office/drawing/2014/main" val="1585252650"/>
                  </a:ext>
                </a:extLst>
              </a:tr>
              <a:tr h="0">
                <a:tc>
                  <a:txBody>
                    <a:bodyPr/>
                    <a:lstStyle/>
                    <a:p>
                      <a:pPr>
                        <a:buNone/>
                      </a:pPr>
                      <a:r>
                        <a:rPr lang="en-GB" b="0">
                          <a:solidFill>
                            <a:srgbClr val="BD84FC"/>
                          </a:solidFill>
                          <a:effectLst/>
                          <a:latin typeface="Google Sans Text"/>
                        </a:rPr>
                        <a:t>District Heating</a:t>
                      </a:r>
                    </a:p>
                  </a:txBody>
                  <a:tcPr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lnT w="12700" cap="flat" cmpd="sng" algn="ctr">
                      <a:solidFill>
                        <a:srgbClr val="FDCC9C"/>
                      </a:solidFill>
                      <a:prstDash val="solid"/>
                      <a:round/>
                      <a:headEnd type="none" w="med" len="med"/>
                      <a:tailEnd type="none" w="med" len="med"/>
                    </a:lnT>
                    <a:lnB w="12700" cap="flat" cmpd="sng" algn="ctr">
                      <a:solidFill>
                        <a:srgbClr val="FDCC9C"/>
                      </a:solidFill>
                      <a:prstDash val="solid"/>
                      <a:round/>
                      <a:headEnd type="none" w="med" len="med"/>
                      <a:tailEnd type="none" w="med" len="med"/>
                    </a:lnB>
                    <a:noFill/>
                  </a:tcPr>
                </a:tc>
                <a:tc>
                  <a:txBody>
                    <a:bodyPr/>
                    <a:lstStyle/>
                    <a:p>
                      <a:pPr>
                        <a:buNone/>
                      </a:pPr>
                      <a:r>
                        <a:rPr lang="en-GB" b="0" dirty="0">
                          <a:solidFill>
                            <a:srgbClr val="BD84FC"/>
                          </a:solidFill>
                          <a:effectLst/>
                          <a:latin typeface="Google Sans Text"/>
                        </a:rPr>
                        <a:t>1,500 Tonnes CO2</a:t>
                      </a:r>
                    </a:p>
                  </a:txBody>
                  <a:tcPr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lnT w="12700" cap="flat" cmpd="sng" algn="ctr">
                      <a:solidFill>
                        <a:srgbClr val="FDCC9C"/>
                      </a:solidFill>
                      <a:prstDash val="solid"/>
                      <a:round/>
                      <a:headEnd type="none" w="med" len="med"/>
                      <a:tailEnd type="none" w="med" len="med"/>
                    </a:lnT>
                    <a:lnB w="12700" cap="flat" cmpd="sng" algn="ctr">
                      <a:solidFill>
                        <a:srgbClr val="FDCC9C"/>
                      </a:solidFill>
                      <a:prstDash val="solid"/>
                      <a:round/>
                      <a:headEnd type="none" w="med" len="med"/>
                      <a:tailEnd type="none" w="med" len="med"/>
                    </a:lnB>
                    <a:noFill/>
                  </a:tcPr>
                </a:tc>
                <a:tc>
                  <a:txBody>
                    <a:bodyPr/>
                    <a:lstStyle/>
                    <a:p>
                      <a:pPr>
                        <a:buNone/>
                      </a:pPr>
                      <a:r>
                        <a:rPr lang="en-GB" b="0" dirty="0">
                          <a:solidFill>
                            <a:srgbClr val="BD84FC"/>
                          </a:solidFill>
                          <a:effectLst/>
                          <a:latin typeface="Google Sans Text"/>
                        </a:rPr>
                        <a:t>68,181 Trees</a:t>
                      </a:r>
                    </a:p>
                  </a:txBody>
                  <a:tcPr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lnT w="12700" cap="flat" cmpd="sng" algn="ctr">
                      <a:solidFill>
                        <a:srgbClr val="FDCC9C"/>
                      </a:solidFill>
                      <a:prstDash val="solid"/>
                      <a:round/>
                      <a:headEnd type="none" w="med" len="med"/>
                      <a:tailEnd type="none" w="med" len="med"/>
                    </a:lnT>
                    <a:lnB w="12700" cap="flat" cmpd="sng" algn="ctr">
                      <a:solidFill>
                        <a:srgbClr val="FDCC9C"/>
                      </a:solidFill>
                      <a:prstDash val="solid"/>
                      <a:round/>
                      <a:headEnd type="none" w="med" len="med"/>
                      <a:tailEnd type="none" w="med" len="med"/>
                    </a:lnB>
                    <a:noFill/>
                  </a:tcPr>
                </a:tc>
                <a:extLst>
                  <a:ext uri="{0D108BD9-81ED-4DB2-BD59-A6C34878D82A}">
                    <a16:rowId xmlns:a16="http://schemas.microsoft.com/office/drawing/2014/main" val="46935587"/>
                  </a:ext>
                </a:extLst>
              </a:tr>
              <a:tr h="0">
                <a:tc>
                  <a:txBody>
                    <a:bodyPr/>
                    <a:lstStyle/>
                    <a:p>
                      <a:pPr>
                        <a:buNone/>
                      </a:pPr>
                      <a:r>
                        <a:rPr lang="en-GB" b="0">
                          <a:solidFill>
                            <a:srgbClr val="BD84FC"/>
                          </a:solidFill>
                          <a:effectLst/>
                          <a:latin typeface="Google Sans Text"/>
                        </a:rPr>
                        <a:t>BESS Grid Balancing</a:t>
                      </a:r>
                    </a:p>
                  </a:txBody>
                  <a:tcPr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lnT w="12700" cap="flat" cmpd="sng" algn="ctr">
                      <a:solidFill>
                        <a:srgbClr val="FDCC9C"/>
                      </a:solidFill>
                      <a:prstDash val="solid"/>
                      <a:round/>
                      <a:headEnd type="none" w="med" len="med"/>
                      <a:tailEnd type="none" w="med" len="med"/>
                    </a:lnT>
                    <a:lnB w="12700" cap="flat" cmpd="sng" algn="ctr">
                      <a:solidFill>
                        <a:srgbClr val="FDCC9C"/>
                      </a:solidFill>
                      <a:prstDash val="solid"/>
                      <a:round/>
                      <a:headEnd type="none" w="med" len="med"/>
                      <a:tailEnd type="none" w="med" len="med"/>
                    </a:lnB>
                    <a:noFill/>
                  </a:tcPr>
                </a:tc>
                <a:tc>
                  <a:txBody>
                    <a:bodyPr/>
                    <a:lstStyle/>
                    <a:p>
                      <a:pPr>
                        <a:buNone/>
                      </a:pPr>
                      <a:r>
                        <a:rPr lang="en-GB" b="0" dirty="0">
                          <a:solidFill>
                            <a:srgbClr val="BD84FC"/>
                          </a:solidFill>
                          <a:effectLst/>
                          <a:latin typeface="Google Sans Text"/>
                        </a:rPr>
                        <a:t>250 Tonnes CO2</a:t>
                      </a:r>
                    </a:p>
                  </a:txBody>
                  <a:tcPr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lnT w="12700" cap="flat" cmpd="sng" algn="ctr">
                      <a:solidFill>
                        <a:srgbClr val="FDCC9C"/>
                      </a:solidFill>
                      <a:prstDash val="solid"/>
                      <a:round/>
                      <a:headEnd type="none" w="med" len="med"/>
                      <a:tailEnd type="none" w="med" len="med"/>
                    </a:lnT>
                    <a:lnB w="12700" cap="flat" cmpd="sng" algn="ctr">
                      <a:solidFill>
                        <a:srgbClr val="FDCC9C"/>
                      </a:solidFill>
                      <a:prstDash val="solid"/>
                      <a:round/>
                      <a:headEnd type="none" w="med" len="med"/>
                      <a:tailEnd type="none" w="med" len="med"/>
                    </a:lnB>
                    <a:noFill/>
                  </a:tcPr>
                </a:tc>
                <a:tc>
                  <a:txBody>
                    <a:bodyPr/>
                    <a:lstStyle/>
                    <a:p>
                      <a:pPr>
                        <a:buNone/>
                      </a:pPr>
                      <a:r>
                        <a:rPr lang="en-GB" b="0" dirty="0">
                          <a:solidFill>
                            <a:srgbClr val="BD84FC"/>
                          </a:solidFill>
                          <a:effectLst/>
                          <a:latin typeface="Google Sans Text"/>
                        </a:rPr>
                        <a:t>11,363 Trees</a:t>
                      </a:r>
                    </a:p>
                  </a:txBody>
                  <a:tcPr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lnT w="12700" cap="flat" cmpd="sng" algn="ctr">
                      <a:solidFill>
                        <a:srgbClr val="FDCC9C"/>
                      </a:solidFill>
                      <a:prstDash val="solid"/>
                      <a:round/>
                      <a:headEnd type="none" w="med" len="med"/>
                      <a:tailEnd type="none" w="med" len="med"/>
                    </a:lnT>
                    <a:lnB w="12700" cap="flat" cmpd="sng" algn="ctr">
                      <a:solidFill>
                        <a:srgbClr val="FDCC9C"/>
                      </a:solidFill>
                      <a:prstDash val="solid"/>
                      <a:round/>
                      <a:headEnd type="none" w="med" len="med"/>
                      <a:tailEnd type="none" w="med" len="med"/>
                    </a:lnB>
                    <a:noFill/>
                  </a:tcPr>
                </a:tc>
                <a:extLst>
                  <a:ext uri="{0D108BD9-81ED-4DB2-BD59-A6C34878D82A}">
                    <a16:rowId xmlns:a16="http://schemas.microsoft.com/office/drawing/2014/main" val="880601418"/>
                  </a:ext>
                </a:extLst>
              </a:tr>
              <a:tr h="0">
                <a:tc>
                  <a:txBody>
                    <a:bodyPr/>
                    <a:lstStyle/>
                    <a:p>
                      <a:pPr>
                        <a:buNone/>
                      </a:pPr>
                      <a:r>
                        <a:rPr lang="en-GB" b="1">
                          <a:solidFill>
                            <a:srgbClr val="22F6AF"/>
                          </a:solidFill>
                          <a:effectLst/>
                          <a:latin typeface="Google Sans Text"/>
                        </a:rPr>
                        <a:t>TOTAL ANNUAL IMPACT</a:t>
                      </a:r>
                      <a:endParaRPr lang="en-GB">
                        <a:solidFill>
                          <a:srgbClr val="22F6AF"/>
                        </a:solidFill>
                        <a:effectLst/>
                        <a:latin typeface="Google Sans Text"/>
                      </a:endParaRPr>
                    </a:p>
                  </a:txBody>
                  <a:tcPr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lnT w="12700" cap="flat" cmpd="sng" algn="ctr">
                      <a:solidFill>
                        <a:srgbClr val="FDCC9C"/>
                      </a:solidFill>
                      <a:prstDash val="solid"/>
                      <a:round/>
                      <a:headEnd type="none" w="med" len="med"/>
                      <a:tailEnd type="none" w="med" len="med"/>
                    </a:lnT>
                    <a:lnB w="12700" cap="flat" cmpd="sng" algn="ctr">
                      <a:solidFill>
                        <a:srgbClr val="FDCC9C"/>
                      </a:solidFill>
                      <a:prstDash val="solid"/>
                      <a:round/>
                      <a:headEnd type="none" w="med" len="med"/>
                      <a:tailEnd type="none" w="med" len="med"/>
                    </a:lnB>
                    <a:noFill/>
                  </a:tcPr>
                </a:tc>
                <a:tc>
                  <a:txBody>
                    <a:bodyPr/>
                    <a:lstStyle/>
                    <a:p>
                      <a:pPr>
                        <a:buNone/>
                      </a:pPr>
                      <a:r>
                        <a:rPr lang="en-GB" b="1" dirty="0">
                          <a:solidFill>
                            <a:srgbClr val="22F6AF"/>
                          </a:solidFill>
                          <a:effectLst/>
                          <a:latin typeface="Google Sans Text"/>
                        </a:rPr>
                        <a:t>3,702 Tonnes CO2</a:t>
                      </a:r>
                      <a:endParaRPr lang="en-GB" dirty="0">
                        <a:solidFill>
                          <a:srgbClr val="22F6AF"/>
                        </a:solidFill>
                        <a:effectLst/>
                        <a:latin typeface="Google Sans Text"/>
                      </a:endParaRPr>
                    </a:p>
                  </a:txBody>
                  <a:tcPr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lnT w="12700" cap="flat" cmpd="sng" algn="ctr">
                      <a:solidFill>
                        <a:srgbClr val="FDCC9C"/>
                      </a:solidFill>
                      <a:prstDash val="solid"/>
                      <a:round/>
                      <a:headEnd type="none" w="med" len="med"/>
                      <a:tailEnd type="none" w="med" len="med"/>
                    </a:lnT>
                    <a:lnB w="12700" cap="flat" cmpd="sng" algn="ctr">
                      <a:solidFill>
                        <a:srgbClr val="FDCC9C"/>
                      </a:solidFill>
                      <a:prstDash val="solid"/>
                      <a:round/>
                      <a:headEnd type="none" w="med" len="med"/>
                      <a:tailEnd type="none" w="med" len="med"/>
                    </a:lnB>
                    <a:noFill/>
                  </a:tcPr>
                </a:tc>
                <a:tc>
                  <a:txBody>
                    <a:bodyPr/>
                    <a:lstStyle/>
                    <a:p>
                      <a:pPr>
                        <a:buNone/>
                      </a:pPr>
                      <a:r>
                        <a:rPr lang="en-GB" b="1">
                          <a:solidFill>
                            <a:srgbClr val="22F6AF"/>
                          </a:solidFill>
                          <a:effectLst/>
                          <a:latin typeface="Google Sans Text"/>
                        </a:rPr>
                        <a:t>168,290 Trees</a:t>
                      </a:r>
                      <a:endParaRPr lang="en-GB">
                        <a:solidFill>
                          <a:srgbClr val="22F6AF"/>
                        </a:solidFill>
                        <a:effectLst/>
                        <a:latin typeface="Google Sans Text"/>
                      </a:endParaRPr>
                    </a:p>
                  </a:txBody>
                  <a:tcPr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lnT w="12700" cap="flat" cmpd="sng" algn="ctr">
                      <a:solidFill>
                        <a:srgbClr val="FDCC9C"/>
                      </a:solidFill>
                      <a:prstDash val="solid"/>
                      <a:round/>
                      <a:headEnd type="none" w="med" len="med"/>
                      <a:tailEnd type="none" w="med" len="med"/>
                    </a:lnT>
                    <a:lnB w="12700" cap="flat" cmpd="sng" algn="ctr">
                      <a:solidFill>
                        <a:srgbClr val="FDCC9C"/>
                      </a:solidFill>
                      <a:prstDash val="solid"/>
                      <a:round/>
                      <a:headEnd type="none" w="med" len="med"/>
                      <a:tailEnd type="none" w="med" len="med"/>
                    </a:lnB>
                    <a:noFill/>
                  </a:tcPr>
                </a:tc>
                <a:extLst>
                  <a:ext uri="{0D108BD9-81ED-4DB2-BD59-A6C34878D82A}">
                    <a16:rowId xmlns:a16="http://schemas.microsoft.com/office/drawing/2014/main" val="1395382635"/>
                  </a:ext>
                </a:extLst>
              </a:tr>
              <a:tr h="0">
                <a:tc gridSpan="3">
                  <a:txBody>
                    <a:bodyPr/>
                    <a:lstStyle/>
                    <a:p>
                      <a:pPr algn="ctr">
                        <a:buNone/>
                      </a:pPr>
                      <a:r>
                        <a:rPr lang="en-GB" i="1" dirty="0">
                          <a:solidFill>
                            <a:srgbClr val="22F6AF"/>
                          </a:solidFill>
                          <a:effectLst/>
                          <a:latin typeface="Google Sans Text"/>
                        </a:rPr>
                        <a:t>*Estimated based on displacement of peak fossil-fuel "Peaker" plants.</a:t>
                      </a:r>
                      <a:endParaRPr lang="en-GB" dirty="0">
                        <a:solidFill>
                          <a:srgbClr val="22F6AF"/>
                        </a:solidFill>
                        <a:effectLst/>
                        <a:latin typeface="Google Sans Text"/>
                      </a:endParaRPr>
                    </a:p>
                  </a:txBody>
                  <a:tcPr anchor="ctr">
                    <a:lnL w="12700" cap="flat" cmpd="sng" algn="ctr">
                      <a:solidFill>
                        <a:srgbClr val="FDCC9C"/>
                      </a:solidFill>
                      <a:prstDash val="solid"/>
                      <a:round/>
                      <a:headEnd type="none" w="med" len="med"/>
                      <a:tailEnd type="none" w="med" len="med"/>
                    </a:lnL>
                    <a:lnR w="12700" cap="flat" cmpd="sng" algn="ctr">
                      <a:solidFill>
                        <a:srgbClr val="FDCC9C"/>
                      </a:solidFill>
                      <a:prstDash val="solid"/>
                      <a:round/>
                      <a:headEnd type="none" w="med" len="med"/>
                      <a:tailEnd type="none" w="med" len="med"/>
                    </a:lnR>
                    <a:lnT w="12700" cap="flat" cmpd="sng" algn="ctr">
                      <a:solidFill>
                        <a:srgbClr val="FDCC9C"/>
                      </a:solidFill>
                      <a:prstDash val="solid"/>
                      <a:round/>
                      <a:headEnd type="none" w="med" len="med"/>
                      <a:tailEnd type="none" w="med" len="med"/>
                    </a:lnT>
                    <a:lnB w="12700" cap="flat" cmpd="sng" algn="ctr">
                      <a:solidFill>
                        <a:srgbClr val="FDCC9C"/>
                      </a:solidFill>
                      <a:prstDash val="solid"/>
                      <a:round/>
                      <a:headEnd type="none" w="med" len="med"/>
                      <a:tailEnd type="none" w="med" len="med"/>
                    </a:lnB>
                    <a:noFill/>
                  </a:tcPr>
                </a:tc>
                <a:tc hMerge="1">
                  <a:txBody>
                    <a:bodyPr/>
                    <a:lstStyle/>
                    <a:p>
                      <a:pPr>
                        <a:buNone/>
                      </a:pPr>
                      <a:endParaRPr lang="en-GB">
                        <a:solidFill>
                          <a:srgbClr val="22F6AF"/>
                        </a:solidFill>
                        <a:effectLst/>
                        <a:latin typeface="Google Sans Tex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hMerge="1">
                  <a:txBody>
                    <a:bodyPr/>
                    <a:lstStyle/>
                    <a:p>
                      <a:pPr>
                        <a:buNone/>
                      </a:pPr>
                      <a:endParaRPr lang="en-GB" dirty="0">
                        <a:solidFill>
                          <a:srgbClr val="22F6AF"/>
                        </a:solidFill>
                        <a:effectLst/>
                        <a:latin typeface="Google Sans Tex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44102214"/>
                  </a:ext>
                </a:extLst>
              </a:tr>
            </a:tbl>
          </a:graphicData>
        </a:graphic>
      </p:graphicFrame>
      <p:sp>
        <p:nvSpPr>
          <p:cNvPr id="5" name="Rectangle 1">
            <a:extLst>
              <a:ext uri="{FF2B5EF4-FFF2-40B4-BE49-F238E27FC236}">
                <a16:creationId xmlns:a16="http://schemas.microsoft.com/office/drawing/2014/main" id="{A9DE183F-294C-78D0-6DA6-4D6EE410C31E}"/>
              </a:ext>
            </a:extLst>
          </p:cNvPr>
          <p:cNvSpPr>
            <a:spLocks noChangeArrowheads="1"/>
          </p:cNvSpPr>
          <p:nvPr/>
        </p:nvSpPr>
        <p:spPr bwMode="auto">
          <a:xfrm>
            <a:off x="414046" y="622562"/>
            <a:ext cx="693645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DCC9C"/>
                </a:solidFill>
                <a:effectLst/>
                <a:latin typeface="Google Sans Text"/>
              </a:rPr>
              <a:t>The Total Carbon Dividend</a:t>
            </a:r>
            <a:endParaRPr kumimoji="0" lang="en-US" altLang="en-US" b="1" i="0" u="none" strike="noStrike" cap="none" normalizeH="0" baseline="0" dirty="0">
              <a:ln>
                <a:noFill/>
              </a:ln>
              <a:solidFill>
                <a:srgbClr val="FDCC9C"/>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Google Sans Text"/>
              </a:rPr>
              <a:t>Heading: Beyond Net-Zero: The Carbon-Negative Infrastructure Anchor</a:t>
            </a:r>
            <a:endParaRPr kumimoji="0" lang="en-US" altLang="en-US"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chemeClr val="bg1"/>
                </a:solidFill>
                <a:effectLst/>
                <a:latin typeface="Google Sans Text"/>
              </a:rPr>
              <a:t>Total Annual Carbon Impact per Node:</a:t>
            </a:r>
            <a:endParaRPr kumimoji="0" lang="en-US" altLang="en-US" b="0" i="0" u="none" strike="noStrike" cap="none" normalizeH="0" baseline="0" dirty="0">
              <a:ln>
                <a:noFill/>
              </a:ln>
              <a:solidFill>
                <a:schemeClr val="bg1"/>
              </a:solidFill>
              <a:effectLst/>
              <a:latin typeface="Arial" panose="020B0604020202020204" pitchFamily="34" charset="0"/>
            </a:endParaRPr>
          </a:p>
        </p:txBody>
      </p:sp>
      <p:pic>
        <p:nvPicPr>
          <p:cNvPr id="6" name="Image 0" descr="preencoded.png">
            <a:extLst>
              <a:ext uri="{FF2B5EF4-FFF2-40B4-BE49-F238E27FC236}">
                <a16:creationId xmlns:a16="http://schemas.microsoft.com/office/drawing/2014/main" id="{6D6EB8FB-80CC-0764-6BB1-BB81CCC6846C}"/>
              </a:ext>
            </a:extLst>
          </p:cNvPr>
          <p:cNvPicPr>
            <a:picLocks noChangeAspect="1"/>
          </p:cNvPicPr>
          <p:nvPr/>
        </p:nvPicPr>
        <p:blipFill>
          <a:blip r:embed="rId2">
            <a:duotone>
              <a:prstClr val="black"/>
              <a:srgbClr val="22F6AF">
                <a:tint val="45000"/>
                <a:satMod val="400000"/>
              </a:srgbClr>
            </a:duotone>
          </a:blip>
          <a:stretch>
            <a:fillRect/>
          </a:stretch>
        </p:blipFill>
        <p:spPr>
          <a:xfrm>
            <a:off x="8143059" y="160236"/>
            <a:ext cx="1005840" cy="877824"/>
          </a:xfrm>
          <a:prstGeom prst="rect">
            <a:avLst/>
          </a:prstGeom>
        </p:spPr>
      </p:pic>
    </p:spTree>
    <p:extLst>
      <p:ext uri="{BB962C8B-B14F-4D97-AF65-F5344CB8AC3E}">
        <p14:creationId xmlns:p14="http://schemas.microsoft.com/office/powerpoint/2010/main" val="6277439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11480" y="164592"/>
            <a:ext cx="54864" cy="384048"/>
          </a:xfrm>
          <a:prstGeom prst="rect">
            <a:avLst/>
          </a:prstGeom>
          <a:solidFill>
            <a:srgbClr val="B87333"/>
          </a:solidFill>
          <a:ln w="12700">
            <a:solidFill>
              <a:srgbClr val="B87333"/>
            </a:solidFill>
            <a:prstDash val="solid"/>
          </a:ln>
        </p:spPr>
        <p:txBody>
          <a:bodyPr/>
          <a:lstStyle/>
          <a:p>
            <a:endParaRPr lang="en-GB"/>
          </a:p>
        </p:txBody>
      </p:sp>
      <p:sp>
        <p:nvSpPr>
          <p:cNvPr id="3" name="Text 1"/>
          <p:cNvSpPr/>
          <p:nvPr/>
        </p:nvSpPr>
        <p:spPr>
          <a:xfrm>
            <a:off x="548640" y="155448"/>
            <a:ext cx="8229600" cy="411480"/>
          </a:xfrm>
          <a:prstGeom prst="rect">
            <a:avLst/>
          </a:prstGeom>
          <a:noFill/>
          <a:ln/>
        </p:spPr>
        <p:txBody>
          <a:bodyPr wrap="square" rtlCol="0" anchor="ctr"/>
          <a:lstStyle/>
          <a:p>
            <a:pPr marL="0" indent="0">
              <a:buNone/>
            </a:pPr>
            <a:r>
              <a:rPr lang="en-US" sz="1100" b="1" kern="0" spc="300" dirty="0">
                <a:solidFill>
                  <a:srgbClr val="B87333"/>
                </a:solidFill>
                <a:latin typeface="Arial" pitchFamily="34" charset="0"/>
                <a:ea typeface="Arial" pitchFamily="34" charset="-122"/>
                <a:cs typeface="Arial" pitchFamily="34" charset="-120"/>
              </a:rPr>
              <a:t>INVESTMENT</a:t>
            </a:r>
            <a:endParaRPr lang="en-US" sz="1100" dirty="0"/>
          </a:p>
        </p:txBody>
      </p:sp>
      <p:sp>
        <p:nvSpPr>
          <p:cNvPr id="4" name="Text 2"/>
          <p:cNvSpPr/>
          <p:nvPr/>
        </p:nvSpPr>
        <p:spPr>
          <a:xfrm>
            <a:off x="411480" y="535637"/>
            <a:ext cx="8321040" cy="457200"/>
          </a:xfrm>
          <a:prstGeom prst="rect">
            <a:avLst/>
          </a:prstGeom>
          <a:noFill/>
          <a:ln/>
        </p:spPr>
        <p:txBody>
          <a:bodyPr wrap="square" rtlCol="0" anchor="ctr"/>
          <a:lstStyle/>
          <a:p>
            <a:pPr marL="0" indent="0">
              <a:buNone/>
            </a:pPr>
            <a:r>
              <a:rPr lang="en-US" sz="2000" b="1" dirty="0">
                <a:solidFill>
                  <a:srgbClr val="E5E0D8"/>
                </a:solidFill>
                <a:latin typeface="Arial" pitchFamily="34" charset="0"/>
                <a:ea typeface="Arial" pitchFamily="34" charset="-122"/>
                <a:cs typeface="Arial" pitchFamily="34" charset="-120"/>
              </a:rPr>
              <a:t>€20M Seed Round — First Colocation Node. Then Scale.</a:t>
            </a:r>
            <a:endParaRPr lang="en-US" sz="2000" dirty="0"/>
          </a:p>
        </p:txBody>
      </p:sp>
      <p:sp>
        <p:nvSpPr>
          <p:cNvPr id="5" name="Shape 3"/>
          <p:cNvSpPr/>
          <p:nvPr/>
        </p:nvSpPr>
        <p:spPr>
          <a:xfrm>
            <a:off x="411480" y="1017165"/>
            <a:ext cx="8321040" cy="1005840"/>
          </a:xfrm>
          <a:prstGeom prst="rect">
            <a:avLst/>
          </a:prstGeom>
          <a:solidFill>
            <a:srgbClr val="08111E"/>
          </a:solidFill>
          <a:ln w="12700">
            <a:solidFill>
              <a:srgbClr val="B87333"/>
            </a:solidFill>
            <a:prstDash val="solid"/>
          </a:ln>
        </p:spPr>
        <p:txBody>
          <a:bodyPr/>
          <a:lstStyle/>
          <a:p>
            <a:endParaRPr lang="en-GB"/>
          </a:p>
        </p:txBody>
      </p:sp>
      <p:pic>
        <p:nvPicPr>
          <p:cNvPr id="6" name="Image 0" descr="preencoded.png"/>
          <p:cNvPicPr>
            <a:picLocks noChangeAspect="1"/>
          </p:cNvPicPr>
          <p:nvPr/>
        </p:nvPicPr>
        <p:blipFill>
          <a:blip r:embed="rId3"/>
          <a:stretch>
            <a:fillRect/>
          </a:stretch>
        </p:blipFill>
        <p:spPr>
          <a:xfrm>
            <a:off x="566928" y="1081173"/>
            <a:ext cx="768096" cy="667512"/>
          </a:xfrm>
          <a:prstGeom prst="rect">
            <a:avLst/>
          </a:prstGeom>
          <a:solidFill>
            <a:srgbClr val="08111E"/>
          </a:solidFill>
        </p:spPr>
      </p:pic>
      <p:sp>
        <p:nvSpPr>
          <p:cNvPr id="7" name="Text 4"/>
          <p:cNvSpPr/>
          <p:nvPr/>
        </p:nvSpPr>
        <p:spPr>
          <a:xfrm>
            <a:off x="1481328" y="1062885"/>
            <a:ext cx="3657600" cy="292608"/>
          </a:xfrm>
          <a:prstGeom prst="rect">
            <a:avLst/>
          </a:prstGeom>
          <a:solidFill>
            <a:srgbClr val="08111E"/>
          </a:solidFill>
          <a:ln/>
        </p:spPr>
        <p:txBody>
          <a:bodyPr wrap="square" rtlCol="0" anchor="ctr"/>
          <a:lstStyle/>
          <a:p>
            <a:pPr marL="0" indent="0">
              <a:buNone/>
            </a:pPr>
            <a:r>
              <a:rPr lang="en-US" sz="1400" b="1" dirty="0">
                <a:solidFill>
                  <a:srgbClr val="D4956A"/>
                </a:solidFill>
                <a:latin typeface="Arial" pitchFamily="34" charset="0"/>
                <a:ea typeface="Arial" pitchFamily="34" charset="-122"/>
                <a:cs typeface="Arial" pitchFamily="34" charset="-120"/>
              </a:rPr>
              <a:t>Alan Ledwith</a:t>
            </a:r>
            <a:endParaRPr lang="en-US" sz="1400" dirty="0"/>
          </a:p>
        </p:txBody>
      </p:sp>
      <p:sp>
        <p:nvSpPr>
          <p:cNvPr id="8" name="Text 5"/>
          <p:cNvSpPr/>
          <p:nvPr/>
        </p:nvSpPr>
        <p:spPr>
          <a:xfrm>
            <a:off x="1481328" y="1355493"/>
            <a:ext cx="3657600" cy="219456"/>
          </a:xfrm>
          <a:prstGeom prst="rect">
            <a:avLst/>
          </a:prstGeom>
          <a:solidFill>
            <a:srgbClr val="08111E"/>
          </a:solidFill>
          <a:ln/>
        </p:spPr>
        <p:txBody>
          <a:bodyPr wrap="square" rtlCol="0" anchor="ctr"/>
          <a:lstStyle/>
          <a:p>
            <a:pPr marL="0" indent="0">
              <a:buNone/>
            </a:pPr>
            <a:r>
              <a:rPr lang="en-US" sz="1000" dirty="0">
                <a:solidFill>
                  <a:srgbClr val="9CA3AF"/>
                </a:solidFill>
                <a:latin typeface="Arial" pitchFamily="34" charset="0"/>
                <a:ea typeface="Arial" pitchFamily="34" charset="-122"/>
                <a:cs typeface="Arial" pitchFamily="34" charset="-120"/>
              </a:rPr>
              <a:t>Founder &amp; Inventor, Umpireal</a:t>
            </a:r>
            <a:endParaRPr lang="en-US" sz="1000" dirty="0"/>
          </a:p>
        </p:txBody>
      </p:sp>
      <p:sp>
        <p:nvSpPr>
          <p:cNvPr id="9" name="Text 6"/>
          <p:cNvSpPr/>
          <p:nvPr/>
        </p:nvSpPr>
        <p:spPr>
          <a:xfrm>
            <a:off x="1481328" y="1593237"/>
            <a:ext cx="7132320" cy="347472"/>
          </a:xfrm>
          <a:prstGeom prst="rect">
            <a:avLst/>
          </a:prstGeom>
          <a:solidFill>
            <a:srgbClr val="08111E"/>
          </a:solidFill>
          <a:ln/>
        </p:spPr>
        <p:txBody>
          <a:bodyPr wrap="square" rtlCol="0" anchor="ctr"/>
          <a:lstStyle/>
          <a:p>
            <a:pPr marL="0" indent="0">
              <a:buNone/>
            </a:pPr>
            <a:r>
              <a:rPr lang="en-US" sz="950" dirty="0">
                <a:solidFill>
                  <a:srgbClr val="9CA3AF"/>
                </a:solidFill>
                <a:latin typeface="Arial" pitchFamily="34" charset="0"/>
                <a:ea typeface="Arial" pitchFamily="34" charset="-122"/>
                <a:cs typeface="Arial" pitchFamily="34" charset="-120"/>
              </a:rPr>
              <a:t>Civil engineering · Construction management · Renewable energy · Serial founder</a:t>
            </a:r>
            <a:endParaRPr lang="en-US" sz="950" dirty="0"/>
          </a:p>
          <a:p>
            <a:pPr marL="0" indent="0">
              <a:buNone/>
            </a:pPr>
            <a:r>
              <a:rPr lang="en-US" sz="950" dirty="0">
                <a:solidFill>
                  <a:srgbClr val="9CA3AF"/>
                </a:solidFill>
                <a:latin typeface="Arial" pitchFamily="34" charset="0"/>
                <a:ea typeface="Arial" pitchFamily="34" charset="-122"/>
                <a:cs typeface="Arial" pitchFamily="34" charset="-120"/>
              </a:rPr>
              <a:t>Bootstrapped €950K since April 2022. All IP, financial models, product design, market development. Solo.</a:t>
            </a:r>
            <a:endParaRPr lang="en-US" sz="950" dirty="0"/>
          </a:p>
        </p:txBody>
      </p:sp>
      <p:sp>
        <p:nvSpPr>
          <p:cNvPr id="10" name="Shape 7"/>
          <p:cNvSpPr/>
          <p:nvPr/>
        </p:nvSpPr>
        <p:spPr>
          <a:xfrm>
            <a:off x="411480" y="2114445"/>
            <a:ext cx="4069080" cy="2176272"/>
          </a:xfrm>
          <a:prstGeom prst="rect">
            <a:avLst/>
          </a:prstGeom>
          <a:solidFill>
            <a:srgbClr val="08111E"/>
          </a:solidFill>
          <a:ln w="12700">
            <a:solidFill>
              <a:srgbClr val="10B981"/>
            </a:solidFill>
            <a:prstDash val="solid"/>
          </a:ln>
        </p:spPr>
        <p:txBody>
          <a:bodyPr/>
          <a:lstStyle/>
          <a:p>
            <a:endParaRPr lang="en-GB"/>
          </a:p>
        </p:txBody>
      </p:sp>
      <p:sp>
        <p:nvSpPr>
          <p:cNvPr id="11" name="Text 8"/>
          <p:cNvSpPr/>
          <p:nvPr/>
        </p:nvSpPr>
        <p:spPr>
          <a:xfrm>
            <a:off x="566928" y="2178453"/>
            <a:ext cx="3749040" cy="228600"/>
          </a:xfrm>
          <a:prstGeom prst="rect">
            <a:avLst/>
          </a:prstGeom>
          <a:solidFill>
            <a:srgbClr val="08111E"/>
          </a:solidFill>
          <a:ln/>
        </p:spPr>
        <p:txBody>
          <a:bodyPr wrap="square" rtlCol="0" anchor="ctr"/>
          <a:lstStyle/>
          <a:p>
            <a:pPr marL="0" indent="0">
              <a:buNone/>
            </a:pPr>
            <a:r>
              <a:rPr lang="en-US" sz="900" kern="0" spc="200" dirty="0">
                <a:solidFill>
                  <a:srgbClr val="10B981"/>
                </a:solidFill>
                <a:latin typeface="Arial" pitchFamily="34" charset="0"/>
                <a:ea typeface="Arial" pitchFamily="34" charset="-122"/>
                <a:cs typeface="Arial" pitchFamily="34" charset="-120"/>
              </a:rPr>
              <a:t>WHAT IS DONE</a:t>
            </a:r>
            <a:endParaRPr lang="en-US" sz="900" dirty="0"/>
          </a:p>
        </p:txBody>
      </p:sp>
      <p:sp>
        <p:nvSpPr>
          <p:cNvPr id="12" name="Text 9"/>
          <p:cNvSpPr/>
          <p:nvPr/>
        </p:nvSpPr>
        <p:spPr>
          <a:xfrm>
            <a:off x="566928" y="2452773"/>
            <a:ext cx="3749040" cy="219456"/>
          </a:xfrm>
          <a:prstGeom prst="rect">
            <a:avLst/>
          </a:prstGeom>
          <a:solidFill>
            <a:srgbClr val="08111E"/>
          </a:solidFill>
          <a:ln/>
        </p:spPr>
        <p:txBody>
          <a:bodyPr wrap="square" rtlCol="0" anchor="ctr"/>
          <a:lstStyle/>
          <a:p>
            <a:pPr marL="0" indent="0">
              <a:buNone/>
            </a:pPr>
            <a:r>
              <a:rPr lang="en-US" sz="950" dirty="0">
                <a:solidFill>
                  <a:srgbClr val="E5E0D8"/>
                </a:solidFill>
                <a:latin typeface="Arial" pitchFamily="34" charset="0"/>
                <a:ea typeface="Arial" pitchFamily="34" charset="-122"/>
                <a:cs typeface="Arial" pitchFamily="34" charset="-120"/>
              </a:rPr>
              <a:t>✓  Geometry invented, IP filed (Application 2025/0540)</a:t>
            </a:r>
            <a:endParaRPr lang="en-US" sz="950" dirty="0"/>
          </a:p>
        </p:txBody>
      </p:sp>
      <p:sp>
        <p:nvSpPr>
          <p:cNvPr id="13" name="Text 10"/>
          <p:cNvSpPr/>
          <p:nvPr/>
        </p:nvSpPr>
        <p:spPr>
          <a:xfrm>
            <a:off x="566928" y="2699661"/>
            <a:ext cx="3749040" cy="219456"/>
          </a:xfrm>
          <a:prstGeom prst="rect">
            <a:avLst/>
          </a:prstGeom>
          <a:solidFill>
            <a:srgbClr val="08111E"/>
          </a:solidFill>
          <a:ln/>
        </p:spPr>
        <p:txBody>
          <a:bodyPr wrap="square" rtlCol="0" anchor="ctr"/>
          <a:lstStyle/>
          <a:p>
            <a:pPr marL="0" indent="0">
              <a:buNone/>
            </a:pPr>
            <a:r>
              <a:rPr lang="en-US" sz="950" dirty="0">
                <a:solidFill>
                  <a:srgbClr val="E5E0D8"/>
                </a:solidFill>
                <a:latin typeface="Arial" pitchFamily="34" charset="0"/>
                <a:ea typeface="Arial" pitchFamily="34" charset="-122"/>
                <a:cs typeface="Arial" pitchFamily="34" charset="-120"/>
              </a:rPr>
              <a:t>✓  Full node specification — all three embodiments</a:t>
            </a:r>
            <a:endParaRPr lang="en-US" sz="950" dirty="0"/>
          </a:p>
        </p:txBody>
      </p:sp>
      <p:sp>
        <p:nvSpPr>
          <p:cNvPr id="14" name="Text 11"/>
          <p:cNvSpPr/>
          <p:nvPr/>
        </p:nvSpPr>
        <p:spPr>
          <a:xfrm>
            <a:off x="566928" y="2946549"/>
            <a:ext cx="3749040" cy="219456"/>
          </a:xfrm>
          <a:prstGeom prst="rect">
            <a:avLst/>
          </a:prstGeom>
          <a:solidFill>
            <a:srgbClr val="08111E"/>
          </a:solidFill>
          <a:ln/>
        </p:spPr>
        <p:txBody>
          <a:bodyPr wrap="square" rtlCol="0" anchor="ctr"/>
          <a:lstStyle/>
          <a:p>
            <a:pPr marL="0" indent="0">
              <a:buNone/>
            </a:pPr>
            <a:r>
              <a:rPr lang="en-US" sz="950" dirty="0">
                <a:solidFill>
                  <a:srgbClr val="E5E0D8"/>
                </a:solidFill>
                <a:latin typeface="Arial" pitchFamily="34" charset="0"/>
                <a:ea typeface="Arial" pitchFamily="34" charset="-122"/>
                <a:cs typeface="Arial" pitchFamily="34" charset="-120"/>
              </a:rPr>
              <a:t>✓  Complete capex model from real supplier quotes</a:t>
            </a:r>
            <a:endParaRPr lang="en-US" sz="950" dirty="0"/>
          </a:p>
        </p:txBody>
      </p:sp>
      <p:sp>
        <p:nvSpPr>
          <p:cNvPr id="15" name="Text 12"/>
          <p:cNvSpPr/>
          <p:nvPr/>
        </p:nvSpPr>
        <p:spPr>
          <a:xfrm>
            <a:off x="566928" y="3193437"/>
            <a:ext cx="3749040" cy="219456"/>
          </a:xfrm>
          <a:prstGeom prst="rect">
            <a:avLst/>
          </a:prstGeom>
          <a:solidFill>
            <a:srgbClr val="08111E"/>
          </a:solidFill>
          <a:ln/>
        </p:spPr>
        <p:txBody>
          <a:bodyPr wrap="square" rtlCol="0" anchor="ctr"/>
          <a:lstStyle/>
          <a:p>
            <a:pPr marL="0" indent="0">
              <a:buNone/>
            </a:pPr>
            <a:r>
              <a:rPr lang="en-US" sz="950" dirty="0">
                <a:solidFill>
                  <a:srgbClr val="E5E0D8"/>
                </a:solidFill>
                <a:latin typeface="Arial" pitchFamily="34" charset="0"/>
                <a:ea typeface="Arial" pitchFamily="34" charset="-122"/>
                <a:cs typeface="Arial" pitchFamily="34" charset="-120"/>
              </a:rPr>
              <a:t>✓  Revenue model verified against Savills benchmarks</a:t>
            </a:r>
            <a:endParaRPr lang="en-US" sz="950" dirty="0"/>
          </a:p>
        </p:txBody>
      </p:sp>
      <p:sp>
        <p:nvSpPr>
          <p:cNvPr id="16" name="Text 13"/>
          <p:cNvSpPr/>
          <p:nvPr/>
        </p:nvSpPr>
        <p:spPr>
          <a:xfrm>
            <a:off x="566928" y="3440325"/>
            <a:ext cx="3749040" cy="219456"/>
          </a:xfrm>
          <a:prstGeom prst="rect">
            <a:avLst/>
          </a:prstGeom>
          <a:solidFill>
            <a:srgbClr val="08111E"/>
          </a:solidFill>
          <a:ln/>
        </p:spPr>
        <p:txBody>
          <a:bodyPr wrap="square" rtlCol="0" anchor="ctr"/>
          <a:lstStyle/>
          <a:p>
            <a:pPr marL="0" indent="0">
              <a:buNone/>
            </a:pPr>
            <a:r>
              <a:rPr lang="en-US" sz="950" dirty="0">
                <a:solidFill>
                  <a:srgbClr val="E5E0D8"/>
                </a:solidFill>
                <a:latin typeface="Arial" pitchFamily="34" charset="0"/>
                <a:ea typeface="Arial" pitchFamily="34" charset="-122"/>
                <a:cs typeface="Arial" pitchFamily="34" charset="-120"/>
              </a:rPr>
              <a:t>✓  20-year financial model with upgrade cycles</a:t>
            </a:r>
            <a:endParaRPr lang="en-US" sz="950" dirty="0"/>
          </a:p>
        </p:txBody>
      </p:sp>
      <p:sp>
        <p:nvSpPr>
          <p:cNvPr id="17" name="Text 14"/>
          <p:cNvSpPr/>
          <p:nvPr/>
        </p:nvSpPr>
        <p:spPr>
          <a:xfrm>
            <a:off x="566928" y="3687213"/>
            <a:ext cx="3749040" cy="219456"/>
          </a:xfrm>
          <a:prstGeom prst="rect">
            <a:avLst/>
          </a:prstGeom>
          <a:solidFill>
            <a:srgbClr val="08111E"/>
          </a:solidFill>
          <a:ln/>
        </p:spPr>
        <p:txBody>
          <a:bodyPr wrap="square" rtlCol="0" anchor="ctr"/>
          <a:lstStyle/>
          <a:p>
            <a:pPr marL="0" indent="0">
              <a:buNone/>
            </a:pPr>
            <a:r>
              <a:rPr lang="en-US" sz="950" dirty="0">
                <a:solidFill>
                  <a:srgbClr val="E5E0D8"/>
                </a:solidFill>
                <a:latin typeface="Arial" pitchFamily="34" charset="0"/>
                <a:ea typeface="Arial" pitchFamily="34" charset="-122"/>
                <a:cs typeface="Arial" pitchFamily="34" charset="-120"/>
              </a:rPr>
              <a:t>✓  Strategic partner analysis — NVIDIA, BYD, Microsoft</a:t>
            </a:r>
            <a:endParaRPr lang="en-US" sz="950" dirty="0"/>
          </a:p>
        </p:txBody>
      </p:sp>
      <p:sp>
        <p:nvSpPr>
          <p:cNvPr id="18" name="Text 15"/>
          <p:cNvSpPr/>
          <p:nvPr/>
        </p:nvSpPr>
        <p:spPr>
          <a:xfrm>
            <a:off x="566928" y="3934101"/>
            <a:ext cx="3749040" cy="219456"/>
          </a:xfrm>
          <a:prstGeom prst="rect">
            <a:avLst/>
          </a:prstGeom>
          <a:solidFill>
            <a:srgbClr val="08111E"/>
          </a:solidFill>
          <a:ln/>
        </p:spPr>
        <p:txBody>
          <a:bodyPr wrap="square" rtlCol="0" anchor="ctr"/>
          <a:lstStyle/>
          <a:p>
            <a:pPr marL="0" indent="0">
              <a:buNone/>
            </a:pPr>
            <a:r>
              <a:rPr lang="en-US" sz="950" dirty="0">
                <a:solidFill>
                  <a:srgbClr val="E5E0D8"/>
                </a:solidFill>
                <a:latin typeface="Arial" pitchFamily="34" charset="0"/>
                <a:ea typeface="Arial" pitchFamily="34" charset="-122"/>
                <a:cs typeface="Arial" pitchFamily="34" charset="-120"/>
              </a:rPr>
              <a:t>✓  All components TRL 9 — innovation is in configuration</a:t>
            </a:r>
            <a:endParaRPr lang="en-US" sz="950" dirty="0"/>
          </a:p>
        </p:txBody>
      </p:sp>
      <p:sp>
        <p:nvSpPr>
          <p:cNvPr id="19" name="Shape 16"/>
          <p:cNvSpPr/>
          <p:nvPr/>
        </p:nvSpPr>
        <p:spPr>
          <a:xfrm>
            <a:off x="4663440" y="2114445"/>
            <a:ext cx="4069080" cy="2176272"/>
          </a:xfrm>
          <a:prstGeom prst="rect">
            <a:avLst/>
          </a:prstGeom>
          <a:solidFill>
            <a:srgbClr val="08111E"/>
          </a:solidFill>
          <a:ln w="12700">
            <a:solidFill>
              <a:srgbClr val="F0B429"/>
            </a:solidFill>
            <a:prstDash val="solid"/>
          </a:ln>
        </p:spPr>
        <p:txBody>
          <a:bodyPr/>
          <a:lstStyle/>
          <a:p>
            <a:endParaRPr lang="en-GB"/>
          </a:p>
        </p:txBody>
      </p:sp>
      <p:sp>
        <p:nvSpPr>
          <p:cNvPr id="20" name="Text 17"/>
          <p:cNvSpPr/>
          <p:nvPr/>
        </p:nvSpPr>
        <p:spPr>
          <a:xfrm>
            <a:off x="4818888" y="2178453"/>
            <a:ext cx="3749040" cy="228600"/>
          </a:xfrm>
          <a:prstGeom prst="rect">
            <a:avLst/>
          </a:prstGeom>
          <a:solidFill>
            <a:srgbClr val="08111E"/>
          </a:solidFill>
          <a:ln/>
        </p:spPr>
        <p:txBody>
          <a:bodyPr wrap="square" rtlCol="0" anchor="ctr"/>
          <a:lstStyle/>
          <a:p>
            <a:pPr marL="0" indent="0">
              <a:buNone/>
            </a:pPr>
            <a:r>
              <a:rPr lang="en-US" sz="900" kern="0" spc="100" dirty="0">
                <a:solidFill>
                  <a:srgbClr val="F0B429"/>
                </a:solidFill>
                <a:latin typeface="Arial" pitchFamily="34" charset="0"/>
                <a:ea typeface="Arial" pitchFamily="34" charset="-122"/>
                <a:cs typeface="Arial" pitchFamily="34" charset="-120"/>
              </a:rPr>
              <a:t>USE OF FUNDS — €20M SEED  ·  17–20% EQUITY</a:t>
            </a:r>
            <a:endParaRPr lang="en-US" sz="900" dirty="0"/>
          </a:p>
        </p:txBody>
      </p:sp>
      <p:sp>
        <p:nvSpPr>
          <p:cNvPr id="21" name="Text 18"/>
          <p:cNvSpPr/>
          <p:nvPr/>
        </p:nvSpPr>
        <p:spPr>
          <a:xfrm>
            <a:off x="4818888" y="2348500"/>
            <a:ext cx="3749040" cy="292608"/>
          </a:xfrm>
          <a:prstGeom prst="rect">
            <a:avLst/>
          </a:prstGeom>
          <a:solidFill>
            <a:srgbClr val="08111E"/>
          </a:solidFill>
          <a:ln/>
        </p:spPr>
        <p:txBody>
          <a:bodyPr wrap="square" rtlCol="0" anchor="ctr"/>
          <a:lstStyle/>
          <a:p>
            <a:pPr marL="0" indent="0">
              <a:buNone/>
            </a:pPr>
            <a:r>
              <a:rPr lang="en-US" sz="950" dirty="0">
                <a:solidFill>
                  <a:srgbClr val="E5E0D8"/>
                </a:solidFill>
                <a:latin typeface="Arial" pitchFamily="34" charset="0"/>
                <a:ea typeface="Arial" pitchFamily="34" charset="-122"/>
                <a:cs typeface="Arial" pitchFamily="34" charset="-120"/>
              </a:rPr>
              <a:t>First node — pilot + site contingency
</a:t>
            </a:r>
            <a:r>
              <a:rPr lang="en-US" sz="900" i="1" dirty="0">
                <a:solidFill>
                  <a:srgbClr val="F0B429"/>
                </a:solidFill>
                <a:latin typeface="Arial" pitchFamily="34" charset="0"/>
                <a:ea typeface="Arial" pitchFamily="34" charset="-122"/>
                <a:cs typeface="Arial" pitchFamily="34" charset="-120"/>
              </a:rPr>
              <a:t>€7.29M · €5.79M build + €1.5M learning, delays &amp; site contingency</a:t>
            </a:r>
            <a:endParaRPr lang="en-US" sz="950" dirty="0"/>
          </a:p>
        </p:txBody>
      </p:sp>
      <p:sp>
        <p:nvSpPr>
          <p:cNvPr id="22" name="Text 19"/>
          <p:cNvSpPr/>
          <p:nvPr/>
        </p:nvSpPr>
        <p:spPr>
          <a:xfrm>
            <a:off x="4818888" y="2668540"/>
            <a:ext cx="3749040" cy="292608"/>
          </a:xfrm>
          <a:prstGeom prst="rect">
            <a:avLst/>
          </a:prstGeom>
          <a:solidFill>
            <a:srgbClr val="08111E"/>
          </a:solidFill>
          <a:ln/>
        </p:spPr>
        <p:txBody>
          <a:bodyPr wrap="square" rtlCol="0" anchor="ctr"/>
          <a:lstStyle/>
          <a:p>
            <a:pPr marL="0" indent="0">
              <a:buNone/>
            </a:pPr>
            <a:r>
              <a:rPr lang="en-US" sz="950" dirty="0">
                <a:solidFill>
                  <a:srgbClr val="E5E0D8"/>
                </a:solidFill>
                <a:latin typeface="Arial" pitchFamily="34" charset="0"/>
                <a:ea typeface="Arial" pitchFamily="34" charset="-122"/>
                <a:cs typeface="Arial" pitchFamily="34" charset="-120"/>
              </a:rPr>
              <a:t>HQ office + engineering lab + R&amp;D
</a:t>
            </a:r>
            <a:r>
              <a:rPr lang="en-US" sz="900" i="1" dirty="0">
                <a:solidFill>
                  <a:srgbClr val="F0B429"/>
                </a:solidFill>
                <a:latin typeface="Arial" pitchFamily="34" charset="0"/>
                <a:ea typeface="Arial" pitchFamily="34" charset="-122"/>
                <a:cs typeface="Arial" pitchFamily="34" charset="-120"/>
              </a:rPr>
              <a:t>€1.50M · fit-out, equipment, node variant &amp; turbogenerator R&amp;D</a:t>
            </a:r>
            <a:endParaRPr lang="en-US" sz="950" dirty="0"/>
          </a:p>
        </p:txBody>
      </p:sp>
      <p:sp>
        <p:nvSpPr>
          <p:cNvPr id="23" name="Text 20"/>
          <p:cNvSpPr/>
          <p:nvPr/>
        </p:nvSpPr>
        <p:spPr>
          <a:xfrm>
            <a:off x="4818888" y="2988580"/>
            <a:ext cx="3749040" cy="292608"/>
          </a:xfrm>
          <a:prstGeom prst="rect">
            <a:avLst/>
          </a:prstGeom>
          <a:solidFill>
            <a:srgbClr val="08111E"/>
          </a:solidFill>
          <a:ln/>
        </p:spPr>
        <p:txBody>
          <a:bodyPr wrap="square" rtlCol="0" anchor="ctr"/>
          <a:lstStyle/>
          <a:p>
            <a:pPr marL="0" indent="0">
              <a:buNone/>
            </a:pPr>
            <a:r>
              <a:rPr lang="en-US" sz="950" dirty="0">
                <a:solidFill>
                  <a:srgbClr val="E5E0D8"/>
                </a:solidFill>
                <a:latin typeface="Arial" pitchFamily="34" charset="0"/>
                <a:ea typeface="Arial" pitchFamily="34" charset="-122"/>
                <a:cs typeface="Arial" pitchFamily="34" charset="-120"/>
              </a:rPr>
              <a:t>Team — engineering, commercial, finance, operations
</a:t>
            </a:r>
            <a:r>
              <a:rPr lang="en-US" sz="900" i="1" dirty="0">
                <a:solidFill>
                  <a:srgbClr val="F0B429"/>
                </a:solidFill>
                <a:latin typeface="Arial" pitchFamily="34" charset="0"/>
                <a:ea typeface="Arial" pitchFamily="34" charset="-122"/>
                <a:cs typeface="Arial" pitchFamily="34" charset="-120"/>
              </a:rPr>
              <a:t>€3.00M · 15–20 technical and commercial hires</a:t>
            </a:r>
            <a:endParaRPr lang="en-US" sz="950" dirty="0"/>
          </a:p>
        </p:txBody>
      </p:sp>
      <p:sp>
        <p:nvSpPr>
          <p:cNvPr id="24" name="Text 21"/>
          <p:cNvSpPr/>
          <p:nvPr/>
        </p:nvSpPr>
        <p:spPr>
          <a:xfrm>
            <a:off x="4818888" y="3308620"/>
            <a:ext cx="3749040" cy="292608"/>
          </a:xfrm>
          <a:prstGeom prst="rect">
            <a:avLst/>
          </a:prstGeom>
          <a:solidFill>
            <a:srgbClr val="08111E"/>
          </a:solidFill>
          <a:ln/>
        </p:spPr>
        <p:txBody>
          <a:bodyPr wrap="square" rtlCol="0" anchor="ctr"/>
          <a:lstStyle/>
          <a:p>
            <a:pPr marL="0" indent="0">
              <a:buNone/>
            </a:pPr>
            <a:r>
              <a:rPr lang="en-US" sz="950" dirty="0">
                <a:solidFill>
                  <a:srgbClr val="E5E0D8"/>
                </a:solidFill>
                <a:latin typeface="Arial" pitchFamily="34" charset="0"/>
                <a:ea typeface="Arial" pitchFamily="34" charset="-122"/>
                <a:cs typeface="Arial" pitchFamily="34" charset="-120"/>
              </a:rPr>
              <a:t>Global rollout — 3 jurisdictions, legal &amp; IP
</a:t>
            </a:r>
            <a:r>
              <a:rPr lang="en-US" sz="900" i="1" dirty="0">
                <a:solidFill>
                  <a:srgbClr val="F0B429"/>
                </a:solidFill>
                <a:latin typeface="Arial" pitchFamily="34" charset="0"/>
                <a:ea typeface="Arial" pitchFamily="34" charset="-122"/>
                <a:cs typeface="Arial" pitchFamily="34" charset="-120"/>
              </a:rPr>
              <a:t>€2.75M · UK/EU/US pipeline · PCT filing · partner engagement</a:t>
            </a:r>
            <a:endParaRPr lang="en-US" sz="950" dirty="0"/>
          </a:p>
        </p:txBody>
      </p:sp>
      <p:sp>
        <p:nvSpPr>
          <p:cNvPr id="25" name="Text 22"/>
          <p:cNvSpPr/>
          <p:nvPr/>
        </p:nvSpPr>
        <p:spPr>
          <a:xfrm>
            <a:off x="4818888" y="3628660"/>
            <a:ext cx="3749040" cy="292608"/>
          </a:xfrm>
          <a:prstGeom prst="rect">
            <a:avLst/>
          </a:prstGeom>
          <a:solidFill>
            <a:srgbClr val="08111E"/>
          </a:solidFill>
          <a:ln/>
        </p:spPr>
        <p:txBody>
          <a:bodyPr wrap="square" rtlCol="0" anchor="ctr"/>
          <a:lstStyle/>
          <a:p>
            <a:pPr marL="0" indent="0">
              <a:buNone/>
            </a:pPr>
            <a:r>
              <a:rPr lang="en-US" sz="950" dirty="0">
                <a:solidFill>
                  <a:srgbClr val="E5E0D8"/>
                </a:solidFill>
                <a:latin typeface="Arial" pitchFamily="34" charset="0"/>
                <a:ea typeface="Arial" pitchFamily="34" charset="-122"/>
                <a:cs typeface="Arial" pitchFamily="34" charset="-120"/>
              </a:rPr>
              <a:t>Sales, BD, exhibitions, advertising &amp; brand
</a:t>
            </a:r>
            <a:r>
              <a:rPr lang="en-US" sz="900" i="1" dirty="0">
                <a:solidFill>
                  <a:srgbClr val="F0B429"/>
                </a:solidFill>
                <a:latin typeface="Arial" pitchFamily="34" charset="0"/>
                <a:ea typeface="Arial" pitchFamily="34" charset="-122"/>
                <a:cs typeface="Arial" pitchFamily="34" charset="-120"/>
              </a:rPr>
              <a:t>€1.50M · trade shows, events, digital media, branding</a:t>
            </a:r>
            <a:endParaRPr lang="en-US" sz="950" dirty="0"/>
          </a:p>
        </p:txBody>
      </p:sp>
      <p:sp>
        <p:nvSpPr>
          <p:cNvPr id="26" name="Text 23"/>
          <p:cNvSpPr/>
          <p:nvPr/>
        </p:nvSpPr>
        <p:spPr>
          <a:xfrm>
            <a:off x="4818888" y="3948700"/>
            <a:ext cx="3749040" cy="292608"/>
          </a:xfrm>
          <a:prstGeom prst="rect">
            <a:avLst/>
          </a:prstGeom>
          <a:solidFill>
            <a:srgbClr val="08111E"/>
          </a:solidFill>
          <a:ln/>
        </p:spPr>
        <p:txBody>
          <a:bodyPr wrap="square" rtlCol="0" anchor="ctr"/>
          <a:lstStyle/>
          <a:p>
            <a:pPr marL="0" indent="0">
              <a:buNone/>
            </a:pPr>
            <a:r>
              <a:rPr lang="en-US" sz="950" dirty="0">
                <a:solidFill>
                  <a:srgbClr val="E5E0D8"/>
                </a:solidFill>
                <a:latin typeface="Arial" pitchFamily="34" charset="0"/>
                <a:ea typeface="Arial" pitchFamily="34" charset="-122"/>
                <a:cs typeface="Arial" pitchFamily="34" charset="-120"/>
              </a:rPr>
              <a:t>Founder salary + opex + working capital + contingency
</a:t>
            </a:r>
            <a:r>
              <a:rPr lang="en-US" sz="900" i="1" dirty="0">
                <a:solidFill>
                  <a:srgbClr val="F0B429"/>
                </a:solidFill>
                <a:latin typeface="Arial" pitchFamily="34" charset="0"/>
                <a:ea typeface="Arial" pitchFamily="34" charset="-122"/>
                <a:cs typeface="Arial" pitchFamily="34" charset="-120"/>
              </a:rPr>
              <a:t>€3.96M · €230K/yr founder · 24-month runway · working capital</a:t>
            </a:r>
            <a:endParaRPr lang="en-US" sz="950" dirty="0"/>
          </a:p>
        </p:txBody>
      </p:sp>
      <p:sp>
        <p:nvSpPr>
          <p:cNvPr id="27" name="Shape 24"/>
          <p:cNvSpPr/>
          <p:nvPr/>
        </p:nvSpPr>
        <p:spPr>
          <a:xfrm>
            <a:off x="411480" y="4373013"/>
            <a:ext cx="8321040" cy="411480"/>
          </a:xfrm>
          <a:prstGeom prst="rect">
            <a:avLst/>
          </a:prstGeom>
          <a:solidFill>
            <a:srgbClr val="0D1B2E"/>
          </a:solidFill>
          <a:ln w="12700">
            <a:solidFill>
              <a:srgbClr val="22D3EE"/>
            </a:solidFill>
            <a:prstDash val="solid"/>
          </a:ln>
        </p:spPr>
        <p:txBody>
          <a:bodyPr/>
          <a:lstStyle/>
          <a:p>
            <a:endParaRPr lang="en-GB"/>
          </a:p>
        </p:txBody>
      </p:sp>
      <p:sp>
        <p:nvSpPr>
          <p:cNvPr id="28" name="Text 25"/>
          <p:cNvSpPr/>
          <p:nvPr/>
        </p:nvSpPr>
        <p:spPr>
          <a:xfrm>
            <a:off x="594360" y="4409589"/>
            <a:ext cx="8046720" cy="347472"/>
          </a:xfrm>
          <a:prstGeom prst="rect">
            <a:avLst/>
          </a:prstGeom>
          <a:noFill/>
          <a:ln/>
        </p:spPr>
        <p:txBody>
          <a:bodyPr wrap="square" rtlCol="0" anchor="ctr"/>
          <a:lstStyle/>
          <a:p>
            <a:pPr marL="0" indent="0">
              <a:buNone/>
            </a:pPr>
            <a:r>
              <a:rPr lang="en-US" sz="1200" b="1" dirty="0">
                <a:solidFill>
                  <a:srgbClr val="22D3EE"/>
                </a:solidFill>
                <a:latin typeface="Arial" pitchFamily="34" charset="0"/>
                <a:ea typeface="Arial" pitchFamily="34" charset="-122"/>
                <a:cs typeface="Arial" pitchFamily="34" charset="-120"/>
              </a:rPr>
              <a:t>This is not a proof of concept raise. </a:t>
            </a:r>
            <a:r>
              <a:rPr lang="en-US" sz="1200" dirty="0">
                <a:solidFill>
                  <a:srgbClr val="E5E0D8"/>
                </a:solidFill>
                <a:latin typeface="Arial" pitchFamily="34" charset="0"/>
                <a:ea typeface="Arial" pitchFamily="34" charset="-122"/>
                <a:cs typeface="Arial" pitchFamily="34" charset="-120"/>
              </a:rPr>
              <a:t>The concept is proven. The components exist. The first node is a commercial asset. The raise builds the team and deploys the first node — then replicates.</a:t>
            </a:r>
            <a:endParaRPr lang="en-US" sz="1200" dirty="0"/>
          </a:p>
        </p:txBody>
      </p:sp>
      <p:sp>
        <p:nvSpPr>
          <p:cNvPr id="29" name="Shape 26"/>
          <p:cNvSpPr/>
          <p:nvPr/>
        </p:nvSpPr>
        <p:spPr>
          <a:xfrm>
            <a:off x="0" y="4892040"/>
            <a:ext cx="9144000" cy="251460"/>
          </a:xfrm>
          <a:prstGeom prst="rect">
            <a:avLst/>
          </a:prstGeom>
          <a:solidFill>
            <a:srgbClr val="0D1B2E"/>
          </a:solidFill>
          <a:ln w="12700">
            <a:solidFill>
              <a:srgbClr val="0D1B2E"/>
            </a:solidFill>
            <a:prstDash val="solid"/>
          </a:ln>
        </p:spPr>
        <p:txBody>
          <a:bodyPr/>
          <a:lstStyle/>
          <a:p>
            <a:endParaRPr lang="en-GB"/>
          </a:p>
        </p:txBody>
      </p:sp>
      <p:sp>
        <p:nvSpPr>
          <p:cNvPr id="30" name="Shape 27"/>
          <p:cNvSpPr/>
          <p:nvPr/>
        </p:nvSpPr>
        <p:spPr>
          <a:xfrm>
            <a:off x="0" y="4892040"/>
            <a:ext cx="9144000" cy="27432"/>
          </a:xfrm>
          <a:prstGeom prst="rect">
            <a:avLst/>
          </a:prstGeom>
          <a:solidFill>
            <a:srgbClr val="B87333"/>
          </a:solidFill>
          <a:ln w="12700">
            <a:solidFill>
              <a:srgbClr val="B87333"/>
            </a:solidFill>
            <a:prstDash val="solid"/>
          </a:ln>
        </p:spPr>
        <p:txBody>
          <a:bodyPr/>
          <a:lstStyle/>
          <a:p>
            <a:endParaRPr lang="en-GB"/>
          </a:p>
        </p:txBody>
      </p:sp>
      <p:sp>
        <p:nvSpPr>
          <p:cNvPr id="31" name="Text 28"/>
          <p:cNvSpPr/>
          <p:nvPr/>
        </p:nvSpPr>
        <p:spPr>
          <a:xfrm>
            <a:off x="320040" y="4901184"/>
            <a:ext cx="4572000" cy="228600"/>
          </a:xfrm>
          <a:prstGeom prst="rect">
            <a:avLst/>
          </a:prstGeom>
          <a:noFill/>
          <a:ln/>
        </p:spPr>
        <p:txBody>
          <a:bodyPr wrap="square" rtlCol="0" anchor="ctr"/>
          <a:lstStyle/>
          <a:p>
            <a:pPr marL="0" indent="0">
              <a:buNone/>
            </a:pPr>
            <a:r>
              <a:rPr lang="en-US" sz="800" dirty="0">
                <a:solidFill>
                  <a:srgbClr val="B87333"/>
                </a:solidFill>
                <a:latin typeface="Arial" pitchFamily="34" charset="0"/>
                <a:ea typeface="Arial" pitchFamily="34" charset="-122"/>
                <a:cs typeface="Arial" pitchFamily="34" charset="-120"/>
              </a:rPr>
              <a:t>UMPIREAL  ·  CONFIDENTIAL</a:t>
            </a:r>
            <a:endParaRPr lang="en-US" sz="800" dirty="0"/>
          </a:p>
        </p:txBody>
      </p:sp>
      <p:sp>
        <p:nvSpPr>
          <p:cNvPr id="32" name="Text 29"/>
          <p:cNvSpPr/>
          <p:nvPr/>
        </p:nvSpPr>
        <p:spPr>
          <a:xfrm>
            <a:off x="4572000" y="4901184"/>
            <a:ext cx="4251960" cy="228600"/>
          </a:xfrm>
          <a:prstGeom prst="rect">
            <a:avLst/>
          </a:prstGeom>
          <a:noFill/>
          <a:ln/>
        </p:spPr>
        <p:txBody>
          <a:bodyPr wrap="square" rtlCol="0" anchor="ctr"/>
          <a:lstStyle/>
          <a:p>
            <a:pPr marL="0" indent="0" algn="r">
              <a:buNone/>
            </a:pPr>
            <a:r>
              <a:rPr lang="en-US" sz="800" dirty="0">
                <a:solidFill>
                  <a:srgbClr val="9CA3AF"/>
                </a:solidFill>
                <a:latin typeface="Arial" pitchFamily="34" charset="0"/>
                <a:ea typeface="Arial" pitchFamily="34" charset="-122"/>
                <a:cs typeface="Arial" pitchFamily="34" charset="-120"/>
              </a:rPr>
              <a:t>13 — Investment</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B87333"/>
          </a:solidFill>
          <a:ln w="12700">
            <a:solidFill>
              <a:srgbClr val="B87333"/>
            </a:solidFill>
            <a:prstDash val="solid"/>
          </a:ln>
        </p:spPr>
        <p:txBody>
          <a:bodyPr/>
          <a:lstStyle/>
          <a:p>
            <a:endParaRPr lang="en-GB"/>
          </a:p>
        </p:txBody>
      </p:sp>
      <p:pic>
        <p:nvPicPr>
          <p:cNvPr id="3" name="Image 0" descr="preencoded.png"/>
          <p:cNvPicPr>
            <a:picLocks noChangeAspect="1"/>
          </p:cNvPicPr>
          <p:nvPr/>
        </p:nvPicPr>
        <p:blipFill>
          <a:blip r:embed="rId3"/>
          <a:stretch>
            <a:fillRect/>
          </a:stretch>
        </p:blipFill>
        <p:spPr>
          <a:xfrm>
            <a:off x="502920" y="402252"/>
            <a:ext cx="822960" cy="722376"/>
          </a:xfrm>
          <a:prstGeom prst="rect">
            <a:avLst/>
          </a:prstGeom>
        </p:spPr>
      </p:pic>
      <p:sp>
        <p:nvSpPr>
          <p:cNvPr id="4" name="Text 1"/>
          <p:cNvSpPr/>
          <p:nvPr/>
        </p:nvSpPr>
        <p:spPr>
          <a:xfrm>
            <a:off x="1481328" y="402252"/>
            <a:ext cx="7315200" cy="594360"/>
          </a:xfrm>
          <a:prstGeom prst="rect">
            <a:avLst/>
          </a:prstGeom>
          <a:noFill/>
          <a:ln/>
        </p:spPr>
        <p:txBody>
          <a:bodyPr wrap="square" rtlCol="0" anchor="ctr"/>
          <a:lstStyle/>
          <a:p>
            <a:pPr marL="0" indent="0">
              <a:buNone/>
            </a:pPr>
            <a:r>
              <a:rPr lang="en-US" sz="3800" b="1" kern="0" spc="500" dirty="0">
                <a:solidFill>
                  <a:srgbClr val="D4956A"/>
                </a:solidFill>
                <a:latin typeface="Arial" pitchFamily="34" charset="0"/>
                <a:ea typeface="Arial" pitchFamily="34" charset="-122"/>
                <a:cs typeface="Arial" pitchFamily="34" charset="-120"/>
              </a:rPr>
              <a:t>UMPIREAL</a:t>
            </a:r>
            <a:endParaRPr lang="en-US" sz="3800" dirty="0"/>
          </a:p>
        </p:txBody>
      </p:sp>
      <p:sp>
        <p:nvSpPr>
          <p:cNvPr id="5" name="Shape 2"/>
          <p:cNvSpPr/>
          <p:nvPr/>
        </p:nvSpPr>
        <p:spPr>
          <a:xfrm>
            <a:off x="1481328" y="1069764"/>
            <a:ext cx="7223760" cy="27432"/>
          </a:xfrm>
          <a:prstGeom prst="rect">
            <a:avLst/>
          </a:prstGeom>
          <a:solidFill>
            <a:srgbClr val="E0B394"/>
          </a:solidFill>
          <a:ln w="12700">
            <a:noFill/>
            <a:prstDash val="solid"/>
          </a:ln>
        </p:spPr>
        <p:txBody>
          <a:bodyPr/>
          <a:lstStyle/>
          <a:p>
            <a:endParaRPr lang="en-GB"/>
          </a:p>
        </p:txBody>
      </p:sp>
      <p:sp>
        <p:nvSpPr>
          <p:cNvPr id="6" name="Text 3"/>
          <p:cNvSpPr/>
          <p:nvPr/>
        </p:nvSpPr>
        <p:spPr>
          <a:xfrm>
            <a:off x="1481328" y="1161204"/>
            <a:ext cx="7223760" cy="365760"/>
          </a:xfrm>
          <a:prstGeom prst="rect">
            <a:avLst/>
          </a:prstGeom>
          <a:noFill/>
          <a:ln/>
        </p:spPr>
        <p:txBody>
          <a:bodyPr wrap="square" rtlCol="0" anchor="ctr"/>
          <a:lstStyle/>
          <a:p>
            <a:pPr marL="0" indent="0">
              <a:buNone/>
            </a:pPr>
            <a:r>
              <a:rPr lang="en-US" sz="1400" i="1" dirty="0">
                <a:solidFill>
                  <a:srgbClr val="E5E0D8"/>
                </a:solidFill>
                <a:latin typeface="Arial" pitchFamily="34" charset="0"/>
                <a:ea typeface="Arial" pitchFamily="34" charset="-122"/>
                <a:cs typeface="Arial" pitchFamily="34" charset="-120"/>
              </a:rPr>
              <a:t>Transport Infrastructure That Pays For Itself</a:t>
            </a:r>
            <a:endParaRPr lang="en-US" sz="1400" dirty="0"/>
          </a:p>
        </p:txBody>
      </p:sp>
      <p:sp>
        <p:nvSpPr>
          <p:cNvPr id="7" name="Shape 4"/>
          <p:cNvSpPr/>
          <p:nvPr/>
        </p:nvSpPr>
        <p:spPr>
          <a:xfrm>
            <a:off x="502920" y="1636692"/>
            <a:ext cx="8138160" cy="1417320"/>
          </a:xfrm>
          <a:prstGeom prst="rect">
            <a:avLst/>
          </a:prstGeom>
          <a:solidFill>
            <a:srgbClr val="08111E"/>
          </a:solidFill>
          <a:ln w="12700">
            <a:solidFill>
              <a:srgbClr val="B87333"/>
            </a:solidFill>
            <a:prstDash val="solid"/>
          </a:ln>
        </p:spPr>
        <p:txBody>
          <a:bodyPr/>
          <a:lstStyle/>
          <a:p>
            <a:endParaRPr lang="en-GB"/>
          </a:p>
        </p:txBody>
      </p:sp>
      <p:sp>
        <p:nvSpPr>
          <p:cNvPr id="8" name="Text 5"/>
          <p:cNvSpPr/>
          <p:nvPr/>
        </p:nvSpPr>
        <p:spPr>
          <a:xfrm>
            <a:off x="685799" y="1728132"/>
            <a:ext cx="7861501" cy="1261872"/>
          </a:xfrm>
          <a:prstGeom prst="rect">
            <a:avLst/>
          </a:prstGeom>
          <a:solidFill>
            <a:srgbClr val="08111E"/>
          </a:solidFill>
          <a:ln/>
        </p:spPr>
        <p:txBody>
          <a:bodyPr wrap="square" rtlCol="0" anchor="ctr"/>
          <a:lstStyle/>
          <a:p>
            <a:pPr marL="0" indent="0">
              <a:buNone/>
            </a:pPr>
            <a:r>
              <a:rPr lang="en-US" sz="1300" dirty="0">
                <a:solidFill>
                  <a:srgbClr val="E5E0D8"/>
                </a:solidFill>
                <a:latin typeface="Arial" pitchFamily="34" charset="0"/>
                <a:ea typeface="Arial" pitchFamily="34" charset="-122"/>
                <a:cs typeface="Arial" pitchFamily="34" charset="-120"/>
              </a:rPr>
              <a:t>Stop-start driving forces cars and HGVs to burn </a:t>
            </a:r>
            <a:r>
              <a:rPr lang="en-US" sz="1300" b="1" dirty="0">
                <a:solidFill>
                  <a:srgbClr val="F0B429"/>
                </a:solidFill>
                <a:latin typeface="Arial" pitchFamily="34" charset="0"/>
                <a:ea typeface="Arial" pitchFamily="34" charset="-122"/>
                <a:cs typeface="Arial" pitchFamily="34" charset="-120"/>
              </a:rPr>
              <a:t>67% and 87% more fuel </a:t>
            </a:r>
            <a:r>
              <a:rPr lang="en-US" sz="1300" dirty="0">
                <a:solidFill>
                  <a:srgbClr val="E5E0D8"/>
                </a:solidFill>
                <a:latin typeface="Arial" pitchFamily="34" charset="0"/>
                <a:ea typeface="Arial" pitchFamily="34" charset="-122"/>
                <a:cs typeface="Arial" pitchFamily="34" charset="-120"/>
              </a:rPr>
              <a:t>at every road junction compared to cruising. Decarbonising transport isn't just about the engine anymore. </a:t>
            </a:r>
            <a:r>
              <a:rPr lang="en-US" sz="1300" b="1" i="1" dirty="0">
                <a:solidFill>
                  <a:srgbClr val="22D3EE"/>
                </a:solidFill>
                <a:latin typeface="Arial" pitchFamily="34" charset="0"/>
                <a:ea typeface="Arial" pitchFamily="34" charset="-122"/>
                <a:cs typeface="Arial" pitchFamily="34" charset="-120"/>
              </a:rPr>
              <a:t>It's now about the road.
</a:t>
            </a:r>
            <a:endParaRPr lang="en-US" sz="1300" dirty="0"/>
          </a:p>
          <a:p>
            <a:pPr marL="0" indent="0">
              <a:buNone/>
            </a:pPr>
            <a:r>
              <a:rPr lang="en-US" sz="1200" dirty="0">
                <a:solidFill>
                  <a:srgbClr val="E5E0D8"/>
                </a:solidFill>
                <a:latin typeface="Arial" pitchFamily="34" charset="0"/>
                <a:ea typeface="Arial" pitchFamily="34" charset="-122"/>
                <a:cs typeface="Arial" pitchFamily="34" charset="-120"/>
              </a:rPr>
              <a:t>Umpireal is the world's first Net-Positive Infrastructure Anchor — preserving </a:t>
            </a:r>
            <a:r>
              <a:rPr lang="en-US" sz="1200" b="1" dirty="0">
                <a:solidFill>
                  <a:srgbClr val="F0B429"/>
                </a:solidFill>
                <a:latin typeface="Arial" pitchFamily="34" charset="0"/>
                <a:ea typeface="Arial" pitchFamily="34" charset="-122"/>
                <a:cs typeface="Arial" pitchFamily="34" charset="-120"/>
              </a:rPr>
              <a:t>8 GWh </a:t>
            </a:r>
            <a:r>
              <a:rPr lang="en-US" sz="1200" dirty="0">
                <a:solidFill>
                  <a:srgbClr val="E5E0D8"/>
                </a:solidFill>
                <a:latin typeface="Arial" pitchFamily="34" charset="0"/>
                <a:ea typeface="Arial" pitchFamily="34" charset="-122"/>
                <a:cs typeface="Arial" pitchFamily="34" charset="-120"/>
              </a:rPr>
              <a:t>of energy and avoiding </a:t>
            </a:r>
            <a:r>
              <a:rPr lang="en-US" sz="1200" b="1" dirty="0">
                <a:solidFill>
                  <a:srgbClr val="F0B429"/>
                </a:solidFill>
                <a:latin typeface="Arial" pitchFamily="34" charset="0"/>
                <a:ea typeface="Arial" pitchFamily="34" charset="-122"/>
                <a:cs typeface="Arial" pitchFamily="34" charset="-120"/>
              </a:rPr>
              <a:t>2,000 tonnes of CO₂ </a:t>
            </a:r>
            <a:r>
              <a:rPr lang="en-US" sz="1200" dirty="0">
                <a:solidFill>
                  <a:srgbClr val="E5E0D8"/>
                </a:solidFill>
                <a:latin typeface="Arial" pitchFamily="34" charset="0"/>
                <a:ea typeface="Arial" pitchFamily="34" charset="-122"/>
                <a:cs typeface="Arial" pitchFamily="34" charset="-120"/>
              </a:rPr>
              <a:t>per junction per year — then generating </a:t>
            </a:r>
            <a:r>
              <a:rPr lang="en-US" sz="1200" b="1" dirty="0">
                <a:solidFill>
                  <a:srgbClr val="22D3EE"/>
                </a:solidFill>
                <a:latin typeface="Arial" pitchFamily="34" charset="0"/>
                <a:ea typeface="Arial" pitchFamily="34" charset="-122"/>
                <a:cs typeface="Arial" pitchFamily="34" charset="-120"/>
              </a:rPr>
              <a:t>€2.58M EBITDA in year one </a:t>
            </a:r>
            <a:r>
              <a:rPr lang="en-US" sz="1200" dirty="0">
                <a:solidFill>
                  <a:srgbClr val="E5E0D8"/>
                </a:solidFill>
                <a:latin typeface="Arial" pitchFamily="34" charset="0"/>
                <a:ea typeface="Arial" pitchFamily="34" charset="-122"/>
                <a:cs typeface="Arial" pitchFamily="34" charset="-120"/>
              </a:rPr>
              <a:t>from the space it creates beneath the road.</a:t>
            </a:r>
            <a:endParaRPr lang="en-US" sz="1300" dirty="0"/>
          </a:p>
        </p:txBody>
      </p:sp>
      <p:sp>
        <p:nvSpPr>
          <p:cNvPr id="9" name="Shape 6"/>
          <p:cNvSpPr/>
          <p:nvPr/>
        </p:nvSpPr>
        <p:spPr>
          <a:xfrm>
            <a:off x="502920" y="3191172"/>
            <a:ext cx="1828800" cy="640080"/>
          </a:xfrm>
          <a:prstGeom prst="rect">
            <a:avLst/>
          </a:prstGeom>
          <a:solidFill>
            <a:srgbClr val="08111E"/>
          </a:solidFill>
          <a:ln w="12700">
            <a:solidFill>
              <a:srgbClr val="22F6AF"/>
            </a:solidFill>
            <a:prstDash val="solid"/>
          </a:ln>
        </p:spPr>
        <p:txBody>
          <a:bodyPr/>
          <a:lstStyle/>
          <a:p>
            <a:endParaRPr lang="en-GB">
              <a:solidFill>
                <a:srgbClr val="22F6AF"/>
              </a:solidFill>
            </a:endParaRPr>
          </a:p>
        </p:txBody>
      </p:sp>
      <p:sp>
        <p:nvSpPr>
          <p:cNvPr id="10" name="Text 7"/>
          <p:cNvSpPr/>
          <p:nvPr/>
        </p:nvSpPr>
        <p:spPr>
          <a:xfrm>
            <a:off x="621792" y="3236892"/>
            <a:ext cx="1616149" cy="182880"/>
          </a:xfrm>
          <a:prstGeom prst="rect">
            <a:avLst/>
          </a:prstGeom>
          <a:solidFill>
            <a:srgbClr val="08111E"/>
          </a:solidFill>
          <a:ln/>
        </p:spPr>
        <p:txBody>
          <a:bodyPr wrap="square" rtlCol="0" anchor="ctr"/>
          <a:lstStyle/>
          <a:p>
            <a:pPr marL="0" indent="0">
              <a:buNone/>
            </a:pPr>
            <a:r>
              <a:rPr lang="en-US" sz="800" kern="0" spc="100" dirty="0">
                <a:solidFill>
                  <a:schemeClr val="bg1">
                    <a:lumMod val="85000"/>
                  </a:schemeClr>
                </a:solidFill>
                <a:latin typeface="Arial" pitchFamily="34" charset="0"/>
                <a:ea typeface="Arial" pitchFamily="34" charset="-122"/>
                <a:cs typeface="Arial" pitchFamily="34" charset="-120"/>
              </a:rPr>
              <a:t>SEED RAISE</a:t>
            </a:r>
            <a:endParaRPr lang="en-US" sz="800" dirty="0">
              <a:solidFill>
                <a:schemeClr val="bg1">
                  <a:lumMod val="85000"/>
                </a:schemeClr>
              </a:solidFill>
            </a:endParaRPr>
          </a:p>
        </p:txBody>
      </p:sp>
      <p:sp>
        <p:nvSpPr>
          <p:cNvPr id="11" name="Text 8"/>
          <p:cNvSpPr/>
          <p:nvPr/>
        </p:nvSpPr>
        <p:spPr>
          <a:xfrm>
            <a:off x="621792" y="3410628"/>
            <a:ext cx="1616149" cy="274320"/>
          </a:xfrm>
          <a:prstGeom prst="rect">
            <a:avLst/>
          </a:prstGeom>
          <a:solidFill>
            <a:srgbClr val="08111E"/>
          </a:solidFill>
          <a:ln/>
        </p:spPr>
        <p:txBody>
          <a:bodyPr wrap="square" rtlCol="0" anchor="ctr"/>
          <a:lstStyle/>
          <a:p>
            <a:pPr marL="0" indent="0">
              <a:buNone/>
            </a:pPr>
            <a:r>
              <a:rPr lang="en-US" sz="1200" b="1" dirty="0">
                <a:solidFill>
                  <a:srgbClr val="22F6AF"/>
                </a:solidFill>
                <a:latin typeface="Arial" pitchFamily="34" charset="0"/>
                <a:ea typeface="Arial" pitchFamily="34" charset="-122"/>
                <a:cs typeface="Arial" pitchFamily="34" charset="-120"/>
              </a:rPr>
              <a:t>€20M</a:t>
            </a:r>
            <a:endParaRPr lang="en-US" sz="1200" dirty="0">
              <a:solidFill>
                <a:srgbClr val="22F6AF"/>
              </a:solidFill>
            </a:endParaRPr>
          </a:p>
        </p:txBody>
      </p:sp>
      <p:sp>
        <p:nvSpPr>
          <p:cNvPr id="12" name="Shape 9"/>
          <p:cNvSpPr/>
          <p:nvPr/>
        </p:nvSpPr>
        <p:spPr>
          <a:xfrm>
            <a:off x="2606040" y="3191172"/>
            <a:ext cx="1828800" cy="640080"/>
          </a:xfrm>
          <a:prstGeom prst="rect">
            <a:avLst/>
          </a:prstGeom>
          <a:solidFill>
            <a:srgbClr val="08111E"/>
          </a:solidFill>
          <a:ln w="12700">
            <a:solidFill>
              <a:srgbClr val="D4956A"/>
            </a:solidFill>
            <a:prstDash val="solid"/>
          </a:ln>
        </p:spPr>
        <p:txBody>
          <a:bodyPr/>
          <a:lstStyle/>
          <a:p>
            <a:endParaRPr lang="en-GB"/>
          </a:p>
        </p:txBody>
      </p:sp>
      <p:sp>
        <p:nvSpPr>
          <p:cNvPr id="13" name="Text 10"/>
          <p:cNvSpPr/>
          <p:nvPr/>
        </p:nvSpPr>
        <p:spPr>
          <a:xfrm>
            <a:off x="2724912" y="3236892"/>
            <a:ext cx="1616149" cy="182880"/>
          </a:xfrm>
          <a:prstGeom prst="rect">
            <a:avLst/>
          </a:prstGeom>
          <a:solidFill>
            <a:srgbClr val="08111E"/>
          </a:solidFill>
          <a:ln/>
        </p:spPr>
        <p:txBody>
          <a:bodyPr wrap="square" rtlCol="0" anchor="ctr"/>
          <a:lstStyle/>
          <a:p>
            <a:pPr marL="0" indent="0">
              <a:buNone/>
            </a:pPr>
            <a:r>
              <a:rPr lang="en-US" sz="800" kern="0" spc="100" dirty="0">
                <a:solidFill>
                  <a:schemeClr val="bg1">
                    <a:lumMod val="85000"/>
                  </a:schemeClr>
                </a:solidFill>
                <a:latin typeface="Arial" pitchFamily="34" charset="0"/>
                <a:ea typeface="Arial" pitchFamily="34" charset="-122"/>
                <a:cs typeface="Arial" pitchFamily="34" charset="-120"/>
              </a:rPr>
              <a:t>CONTACT</a:t>
            </a:r>
            <a:endParaRPr lang="en-US" sz="800" dirty="0">
              <a:solidFill>
                <a:schemeClr val="bg1">
                  <a:lumMod val="85000"/>
                </a:schemeClr>
              </a:solidFill>
            </a:endParaRPr>
          </a:p>
        </p:txBody>
      </p:sp>
      <p:sp>
        <p:nvSpPr>
          <p:cNvPr id="14" name="Text 11"/>
          <p:cNvSpPr/>
          <p:nvPr/>
        </p:nvSpPr>
        <p:spPr>
          <a:xfrm>
            <a:off x="2724912" y="3410628"/>
            <a:ext cx="1616149" cy="274320"/>
          </a:xfrm>
          <a:prstGeom prst="rect">
            <a:avLst/>
          </a:prstGeom>
          <a:solidFill>
            <a:srgbClr val="08111E"/>
          </a:solidFill>
          <a:ln/>
        </p:spPr>
        <p:txBody>
          <a:bodyPr wrap="square" rtlCol="0" anchor="ctr"/>
          <a:lstStyle/>
          <a:p>
            <a:pPr marL="0" indent="0">
              <a:buNone/>
            </a:pPr>
            <a:r>
              <a:rPr lang="en-US" sz="1200" b="1" dirty="0">
                <a:solidFill>
                  <a:srgbClr val="D4956A"/>
                </a:solidFill>
                <a:latin typeface="Arial" pitchFamily="34" charset="0"/>
                <a:ea typeface="Arial" pitchFamily="34" charset="-122"/>
                <a:cs typeface="Arial" pitchFamily="34" charset="-120"/>
              </a:rPr>
              <a:t>Alan Ledwith</a:t>
            </a:r>
          </a:p>
          <a:p>
            <a:pPr marL="0" indent="0">
              <a:buNone/>
            </a:pPr>
            <a:r>
              <a:rPr lang="en-US" sz="800" b="1" dirty="0">
                <a:solidFill>
                  <a:schemeClr val="bg1">
                    <a:lumMod val="85000"/>
                  </a:schemeClr>
                </a:solidFill>
                <a:latin typeface="Arial" pitchFamily="34" charset="0"/>
                <a:cs typeface="Arial" pitchFamily="34" charset="-120"/>
              </a:rPr>
              <a:t>alanledwith@umpireal.com</a:t>
            </a:r>
            <a:endParaRPr lang="en-US" sz="800" dirty="0">
              <a:solidFill>
                <a:schemeClr val="bg1">
                  <a:lumMod val="85000"/>
                </a:schemeClr>
              </a:solidFill>
            </a:endParaRPr>
          </a:p>
        </p:txBody>
      </p:sp>
      <p:sp>
        <p:nvSpPr>
          <p:cNvPr id="15" name="Shape 12"/>
          <p:cNvSpPr/>
          <p:nvPr/>
        </p:nvSpPr>
        <p:spPr>
          <a:xfrm>
            <a:off x="4709160" y="3191172"/>
            <a:ext cx="1828800" cy="640080"/>
          </a:xfrm>
          <a:prstGeom prst="rect">
            <a:avLst/>
          </a:prstGeom>
          <a:solidFill>
            <a:srgbClr val="08111E"/>
          </a:solidFill>
          <a:ln w="12700">
            <a:solidFill>
              <a:srgbClr val="22D3EE"/>
            </a:solidFill>
            <a:prstDash val="solid"/>
          </a:ln>
        </p:spPr>
        <p:txBody>
          <a:bodyPr/>
          <a:lstStyle/>
          <a:p>
            <a:endParaRPr lang="en-GB"/>
          </a:p>
        </p:txBody>
      </p:sp>
      <p:sp>
        <p:nvSpPr>
          <p:cNvPr id="16" name="Text 13"/>
          <p:cNvSpPr/>
          <p:nvPr/>
        </p:nvSpPr>
        <p:spPr>
          <a:xfrm>
            <a:off x="4828032" y="3236892"/>
            <a:ext cx="1616149" cy="182880"/>
          </a:xfrm>
          <a:prstGeom prst="rect">
            <a:avLst/>
          </a:prstGeom>
          <a:solidFill>
            <a:srgbClr val="08111E"/>
          </a:solidFill>
          <a:ln/>
        </p:spPr>
        <p:txBody>
          <a:bodyPr wrap="square" rtlCol="0" anchor="ctr"/>
          <a:lstStyle/>
          <a:p>
            <a:pPr marL="0" indent="0">
              <a:buNone/>
            </a:pPr>
            <a:r>
              <a:rPr lang="en-US" sz="800" kern="0" spc="100" dirty="0">
                <a:solidFill>
                  <a:schemeClr val="bg1">
                    <a:lumMod val="85000"/>
                  </a:schemeClr>
                </a:solidFill>
                <a:latin typeface="Arial" pitchFamily="34" charset="0"/>
                <a:ea typeface="Arial" pitchFamily="34" charset="-122"/>
                <a:cs typeface="Arial" pitchFamily="34" charset="-120"/>
              </a:rPr>
              <a:t>WEB</a:t>
            </a:r>
            <a:endParaRPr lang="en-US" sz="800" dirty="0">
              <a:solidFill>
                <a:schemeClr val="bg1">
                  <a:lumMod val="85000"/>
                </a:schemeClr>
              </a:solidFill>
            </a:endParaRPr>
          </a:p>
        </p:txBody>
      </p:sp>
      <p:sp>
        <p:nvSpPr>
          <p:cNvPr id="17" name="Text 14"/>
          <p:cNvSpPr/>
          <p:nvPr/>
        </p:nvSpPr>
        <p:spPr>
          <a:xfrm>
            <a:off x="4828032" y="3410628"/>
            <a:ext cx="1616149" cy="274320"/>
          </a:xfrm>
          <a:prstGeom prst="rect">
            <a:avLst/>
          </a:prstGeom>
          <a:solidFill>
            <a:srgbClr val="08111E"/>
          </a:solidFill>
          <a:ln/>
        </p:spPr>
        <p:txBody>
          <a:bodyPr wrap="square" rtlCol="0" anchor="ctr"/>
          <a:lstStyle/>
          <a:p>
            <a:pPr marL="0" indent="0">
              <a:buNone/>
            </a:pPr>
            <a:r>
              <a:rPr lang="en-US" sz="1200" b="1" dirty="0">
                <a:solidFill>
                  <a:srgbClr val="22D3EE"/>
                </a:solidFill>
                <a:latin typeface="Arial" pitchFamily="34" charset="0"/>
                <a:ea typeface="Arial" pitchFamily="34" charset="-122"/>
                <a:cs typeface="Arial" pitchFamily="34" charset="-120"/>
              </a:rPr>
              <a:t>www.umpireal.com</a:t>
            </a:r>
            <a:endParaRPr lang="en-US" sz="1200" dirty="0"/>
          </a:p>
        </p:txBody>
      </p:sp>
      <p:sp>
        <p:nvSpPr>
          <p:cNvPr id="18" name="Shape 15"/>
          <p:cNvSpPr/>
          <p:nvPr/>
        </p:nvSpPr>
        <p:spPr>
          <a:xfrm>
            <a:off x="6812280" y="3191172"/>
            <a:ext cx="1828800" cy="640080"/>
          </a:xfrm>
          <a:prstGeom prst="rect">
            <a:avLst/>
          </a:prstGeom>
          <a:solidFill>
            <a:srgbClr val="08111E"/>
          </a:solidFill>
          <a:ln w="12700">
            <a:solidFill>
              <a:srgbClr val="E24B4A"/>
            </a:solidFill>
            <a:prstDash val="solid"/>
          </a:ln>
        </p:spPr>
        <p:txBody>
          <a:bodyPr/>
          <a:lstStyle/>
          <a:p>
            <a:endParaRPr lang="en-GB"/>
          </a:p>
        </p:txBody>
      </p:sp>
      <p:sp>
        <p:nvSpPr>
          <p:cNvPr id="19" name="Text 16"/>
          <p:cNvSpPr/>
          <p:nvPr/>
        </p:nvSpPr>
        <p:spPr>
          <a:xfrm>
            <a:off x="6931152" y="3236892"/>
            <a:ext cx="1616149" cy="182880"/>
          </a:xfrm>
          <a:prstGeom prst="rect">
            <a:avLst/>
          </a:prstGeom>
          <a:solidFill>
            <a:srgbClr val="08111E"/>
          </a:solidFill>
          <a:ln/>
        </p:spPr>
        <p:txBody>
          <a:bodyPr wrap="square" rtlCol="0" anchor="ctr"/>
          <a:lstStyle/>
          <a:p>
            <a:pPr marL="0" indent="0">
              <a:buNone/>
            </a:pPr>
            <a:r>
              <a:rPr lang="en-US" sz="800" kern="0" spc="100" dirty="0">
                <a:solidFill>
                  <a:schemeClr val="bg1">
                    <a:lumMod val="85000"/>
                  </a:schemeClr>
                </a:solidFill>
                <a:latin typeface="Arial" pitchFamily="34" charset="0"/>
                <a:ea typeface="Arial" pitchFamily="34" charset="-122"/>
                <a:cs typeface="Arial" pitchFamily="34" charset="-120"/>
              </a:rPr>
              <a:t>IP FILING</a:t>
            </a:r>
            <a:endParaRPr lang="en-US" sz="800" dirty="0">
              <a:solidFill>
                <a:schemeClr val="bg1">
                  <a:lumMod val="85000"/>
                </a:schemeClr>
              </a:solidFill>
            </a:endParaRPr>
          </a:p>
        </p:txBody>
      </p:sp>
      <p:sp>
        <p:nvSpPr>
          <p:cNvPr id="20" name="Text 17"/>
          <p:cNvSpPr/>
          <p:nvPr/>
        </p:nvSpPr>
        <p:spPr>
          <a:xfrm>
            <a:off x="6931152" y="3410628"/>
            <a:ext cx="1616149" cy="274320"/>
          </a:xfrm>
          <a:prstGeom prst="rect">
            <a:avLst/>
          </a:prstGeom>
          <a:solidFill>
            <a:srgbClr val="08111E"/>
          </a:solidFill>
          <a:ln/>
        </p:spPr>
        <p:txBody>
          <a:bodyPr wrap="square" rtlCol="0" anchor="ctr"/>
          <a:lstStyle/>
          <a:p>
            <a:pPr marL="0" indent="0">
              <a:buNone/>
            </a:pPr>
            <a:r>
              <a:rPr lang="en-US" sz="1200" b="1" dirty="0">
                <a:solidFill>
                  <a:srgbClr val="E24B4A"/>
                </a:solidFill>
                <a:latin typeface="Arial" pitchFamily="34" charset="0"/>
                <a:ea typeface="Arial" pitchFamily="34" charset="-122"/>
                <a:cs typeface="Arial" pitchFamily="34" charset="-120"/>
              </a:rPr>
              <a:t>2025/0540</a:t>
            </a:r>
            <a:endParaRPr lang="en-US" sz="1200" dirty="0">
              <a:solidFill>
                <a:srgbClr val="E24B4A"/>
              </a:solidFill>
            </a:endParaRPr>
          </a:p>
        </p:txBody>
      </p:sp>
      <p:sp>
        <p:nvSpPr>
          <p:cNvPr id="21" name="Shape 18"/>
          <p:cNvSpPr/>
          <p:nvPr/>
        </p:nvSpPr>
        <p:spPr>
          <a:xfrm>
            <a:off x="502920" y="3968412"/>
            <a:ext cx="8138160" cy="548640"/>
          </a:xfrm>
          <a:prstGeom prst="rect">
            <a:avLst/>
          </a:prstGeom>
          <a:solidFill>
            <a:srgbClr val="0D1B2E"/>
          </a:solidFill>
          <a:ln w="12700">
            <a:solidFill>
              <a:srgbClr val="F0B429"/>
            </a:solidFill>
            <a:prstDash val="solid"/>
          </a:ln>
        </p:spPr>
        <p:txBody>
          <a:bodyPr/>
          <a:lstStyle/>
          <a:p>
            <a:endParaRPr lang="en-GB"/>
          </a:p>
        </p:txBody>
      </p:sp>
      <p:sp>
        <p:nvSpPr>
          <p:cNvPr id="22" name="Text 19"/>
          <p:cNvSpPr/>
          <p:nvPr/>
        </p:nvSpPr>
        <p:spPr>
          <a:xfrm>
            <a:off x="685800" y="4032420"/>
            <a:ext cx="7772400" cy="438912"/>
          </a:xfrm>
          <a:prstGeom prst="rect">
            <a:avLst/>
          </a:prstGeom>
          <a:noFill/>
          <a:ln/>
        </p:spPr>
        <p:txBody>
          <a:bodyPr wrap="square" rtlCol="0" anchor="ctr"/>
          <a:lstStyle/>
          <a:p>
            <a:r>
              <a:rPr lang="en-GB" dirty="0">
                <a:solidFill>
                  <a:schemeClr val="accent4">
                    <a:lumMod val="60000"/>
                    <a:lumOff val="40000"/>
                  </a:schemeClr>
                </a:solidFill>
              </a:rPr>
              <a:t>"Umpireal — One Golden Goose. Infinite Golden Eggs. At Every Busy Crossing."</a:t>
            </a:r>
            <a:endParaRPr lang="en-US" dirty="0">
              <a:solidFill>
                <a:schemeClr val="accent4">
                  <a:lumMod val="60000"/>
                  <a:lumOff val="40000"/>
                </a:schemeClr>
              </a:solidFill>
            </a:endParaRPr>
          </a:p>
        </p:txBody>
      </p:sp>
      <p:sp>
        <p:nvSpPr>
          <p:cNvPr id="23" name="Shape 20"/>
          <p:cNvSpPr/>
          <p:nvPr/>
        </p:nvSpPr>
        <p:spPr>
          <a:xfrm>
            <a:off x="0" y="4892040"/>
            <a:ext cx="9144000" cy="251460"/>
          </a:xfrm>
          <a:prstGeom prst="rect">
            <a:avLst/>
          </a:prstGeom>
          <a:solidFill>
            <a:srgbClr val="0D1B2E"/>
          </a:solidFill>
          <a:ln w="12700">
            <a:solidFill>
              <a:srgbClr val="0D1B2E"/>
            </a:solidFill>
            <a:prstDash val="solid"/>
          </a:ln>
        </p:spPr>
        <p:txBody>
          <a:bodyPr/>
          <a:lstStyle/>
          <a:p>
            <a:endParaRPr lang="en-GB"/>
          </a:p>
        </p:txBody>
      </p:sp>
      <p:sp>
        <p:nvSpPr>
          <p:cNvPr id="24" name="Shape 21"/>
          <p:cNvSpPr/>
          <p:nvPr/>
        </p:nvSpPr>
        <p:spPr>
          <a:xfrm>
            <a:off x="0" y="4892040"/>
            <a:ext cx="9144000" cy="27432"/>
          </a:xfrm>
          <a:prstGeom prst="rect">
            <a:avLst/>
          </a:prstGeom>
          <a:solidFill>
            <a:srgbClr val="B87333"/>
          </a:solidFill>
          <a:ln w="12700">
            <a:solidFill>
              <a:srgbClr val="B87333"/>
            </a:solidFill>
            <a:prstDash val="solid"/>
          </a:ln>
        </p:spPr>
        <p:txBody>
          <a:bodyPr/>
          <a:lstStyle/>
          <a:p>
            <a:endParaRPr lang="en-GB"/>
          </a:p>
        </p:txBody>
      </p:sp>
      <p:sp>
        <p:nvSpPr>
          <p:cNvPr id="25" name="Text 22"/>
          <p:cNvSpPr/>
          <p:nvPr/>
        </p:nvSpPr>
        <p:spPr>
          <a:xfrm>
            <a:off x="320040" y="4901184"/>
            <a:ext cx="4572000" cy="228600"/>
          </a:xfrm>
          <a:prstGeom prst="rect">
            <a:avLst/>
          </a:prstGeom>
          <a:noFill/>
          <a:ln/>
        </p:spPr>
        <p:txBody>
          <a:bodyPr wrap="square" rtlCol="0" anchor="ctr"/>
          <a:lstStyle/>
          <a:p>
            <a:pPr marL="0" indent="0">
              <a:buNone/>
            </a:pPr>
            <a:r>
              <a:rPr lang="en-US" sz="800" dirty="0">
                <a:solidFill>
                  <a:srgbClr val="B87333"/>
                </a:solidFill>
                <a:latin typeface="Arial" pitchFamily="34" charset="0"/>
                <a:ea typeface="Arial" pitchFamily="34" charset="-122"/>
                <a:cs typeface="Arial" pitchFamily="34" charset="-120"/>
              </a:rPr>
              <a:t>UMPIREAL  ·  CONFIDENTIAL</a:t>
            </a:r>
            <a:endParaRPr lang="en-US" sz="800" dirty="0"/>
          </a:p>
        </p:txBody>
      </p:sp>
      <p:sp>
        <p:nvSpPr>
          <p:cNvPr id="26" name="Text 23"/>
          <p:cNvSpPr/>
          <p:nvPr/>
        </p:nvSpPr>
        <p:spPr>
          <a:xfrm>
            <a:off x="4572000" y="4901184"/>
            <a:ext cx="4251960" cy="228600"/>
          </a:xfrm>
          <a:prstGeom prst="rect">
            <a:avLst/>
          </a:prstGeom>
          <a:noFill/>
          <a:ln/>
        </p:spPr>
        <p:txBody>
          <a:bodyPr wrap="square" rtlCol="0" anchor="ctr"/>
          <a:lstStyle/>
          <a:p>
            <a:pPr marL="0" indent="0" algn="r">
              <a:buNone/>
            </a:pPr>
            <a:r>
              <a:rPr lang="en-US" sz="800" dirty="0">
                <a:solidFill>
                  <a:srgbClr val="9CA3AF"/>
                </a:solidFill>
                <a:latin typeface="Arial" pitchFamily="34" charset="0"/>
                <a:ea typeface="Arial" pitchFamily="34" charset="-122"/>
                <a:cs typeface="Arial" pitchFamily="34" charset="-120"/>
              </a:rPr>
              <a:t>www.umpireal.com  ·  Confidential  ·  Alan Ledwith, Founder &amp; Inventor</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AED23-B4C8-7268-0FF9-707091CCF39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4A06A9D-0947-3876-DF80-5B6FC764CAAE}"/>
              </a:ext>
            </a:extLst>
          </p:cNvPr>
          <p:cNvSpPr txBox="1"/>
          <p:nvPr/>
        </p:nvSpPr>
        <p:spPr>
          <a:xfrm>
            <a:off x="354563" y="2254408"/>
            <a:ext cx="8434873" cy="923330"/>
          </a:xfrm>
          <a:prstGeom prst="rect">
            <a:avLst/>
          </a:prstGeom>
          <a:noFill/>
        </p:spPr>
        <p:txBody>
          <a:bodyPr wrap="square">
            <a:spAutoFit/>
          </a:bodyPr>
          <a:lstStyle/>
          <a:p>
            <a:pPr algn="ctr"/>
            <a:r>
              <a:rPr lang="en-GB" b="1" spc="450" dirty="0">
                <a:solidFill>
                  <a:schemeClr val="bg1">
                    <a:lumMod val="85000"/>
                  </a:schemeClr>
                </a:solidFill>
              </a:rPr>
              <a:t>Urban Traffic Momentum Preservation </a:t>
            </a:r>
          </a:p>
          <a:p>
            <a:pPr algn="ctr"/>
            <a:r>
              <a:rPr lang="en-GB" b="1" spc="450" dirty="0">
                <a:solidFill>
                  <a:schemeClr val="bg1">
                    <a:lumMod val="85000"/>
                  </a:schemeClr>
                </a:solidFill>
              </a:rPr>
              <a:t>With Combined  </a:t>
            </a:r>
          </a:p>
          <a:p>
            <a:pPr algn="ctr"/>
            <a:r>
              <a:rPr lang="en-GB" b="1" spc="450" dirty="0">
                <a:solidFill>
                  <a:schemeClr val="bg1">
                    <a:lumMod val="85000"/>
                  </a:schemeClr>
                </a:solidFill>
              </a:rPr>
              <a:t>Infrastructure Derived Real Estate</a:t>
            </a:r>
            <a:endParaRPr lang="en-GB" spc="450" dirty="0">
              <a:solidFill>
                <a:schemeClr val="bg1">
                  <a:lumMod val="85000"/>
                </a:schemeClr>
              </a:solidFill>
            </a:endParaRPr>
          </a:p>
        </p:txBody>
      </p:sp>
      <p:sp>
        <p:nvSpPr>
          <p:cNvPr id="10" name="TextBox 9">
            <a:extLst>
              <a:ext uri="{FF2B5EF4-FFF2-40B4-BE49-F238E27FC236}">
                <a16:creationId xmlns:a16="http://schemas.microsoft.com/office/drawing/2014/main" id="{586A90C2-4D96-EED7-AF1C-A9415E52F17E}"/>
              </a:ext>
            </a:extLst>
          </p:cNvPr>
          <p:cNvSpPr txBox="1"/>
          <p:nvPr/>
        </p:nvSpPr>
        <p:spPr>
          <a:xfrm>
            <a:off x="1823779" y="3653723"/>
            <a:ext cx="5449329" cy="584775"/>
          </a:xfrm>
          <a:prstGeom prst="rect">
            <a:avLst/>
          </a:prstGeom>
          <a:noFill/>
        </p:spPr>
        <p:txBody>
          <a:bodyPr wrap="square">
            <a:spAutoFit/>
          </a:bodyPr>
          <a:lstStyle/>
          <a:p>
            <a:pPr algn="ctr"/>
            <a:r>
              <a:rPr lang="en-GB" sz="3200" spc="450" dirty="0">
                <a:solidFill>
                  <a:srgbClr val="22F6AF"/>
                </a:solidFill>
              </a:rPr>
              <a:t>THANK YOU</a:t>
            </a:r>
          </a:p>
        </p:txBody>
      </p:sp>
      <p:sp>
        <p:nvSpPr>
          <p:cNvPr id="12" name="Footer Placeholder 11">
            <a:extLst>
              <a:ext uri="{FF2B5EF4-FFF2-40B4-BE49-F238E27FC236}">
                <a16:creationId xmlns:a16="http://schemas.microsoft.com/office/drawing/2014/main" id="{F717E268-ED46-32DC-7C63-0F151001439A}"/>
              </a:ext>
            </a:extLst>
          </p:cNvPr>
          <p:cNvSpPr>
            <a:spLocks noGrp="1"/>
          </p:cNvSpPr>
          <p:nvPr>
            <p:ph type="ftr" sz="quarter" idx="11"/>
          </p:nvPr>
        </p:nvSpPr>
        <p:spPr>
          <a:xfrm>
            <a:off x="0" y="4423890"/>
            <a:ext cx="9144000" cy="516955"/>
          </a:xfrm>
        </p:spPr>
        <p:txBody>
          <a:bodyPr/>
          <a:lstStyle/>
          <a:p>
            <a:pPr algn="ctr"/>
            <a:r>
              <a:rPr lang="en-GB" sz="1400" dirty="0">
                <a:solidFill>
                  <a:schemeClr val="bg1">
                    <a:lumMod val="85000"/>
                  </a:schemeClr>
                </a:solidFill>
              </a:rPr>
              <a:t>This document is confidential and remains the intellectual property of the author, Alan Ledwith &amp; Umpireal. No part may be reproduced, disclosed or used for any purpose other than evaluation without prior written permission.</a:t>
            </a:r>
            <a:endParaRPr lang="en-US" sz="1400" dirty="0">
              <a:solidFill>
                <a:schemeClr val="bg1">
                  <a:lumMod val="85000"/>
                </a:schemeClr>
              </a:solidFill>
            </a:endParaRPr>
          </a:p>
        </p:txBody>
      </p:sp>
      <p:pic>
        <p:nvPicPr>
          <p:cNvPr id="2" name="Image 0" descr="preencoded.png">
            <a:extLst>
              <a:ext uri="{FF2B5EF4-FFF2-40B4-BE49-F238E27FC236}">
                <a16:creationId xmlns:a16="http://schemas.microsoft.com/office/drawing/2014/main" id="{39574EFA-2ADC-7793-59AD-1BDC32F8593C}"/>
              </a:ext>
            </a:extLst>
          </p:cNvPr>
          <p:cNvPicPr>
            <a:picLocks noChangeAspect="1"/>
          </p:cNvPicPr>
          <p:nvPr/>
        </p:nvPicPr>
        <p:blipFill>
          <a:blip r:embed="rId3"/>
          <a:stretch>
            <a:fillRect/>
          </a:stretch>
        </p:blipFill>
        <p:spPr>
          <a:xfrm>
            <a:off x="7057870" y="1250838"/>
            <a:ext cx="560144" cy="488853"/>
          </a:xfrm>
          <a:prstGeom prst="rect">
            <a:avLst/>
          </a:prstGeom>
        </p:spPr>
      </p:pic>
      <p:sp>
        <p:nvSpPr>
          <p:cNvPr id="3" name="Text 1">
            <a:extLst>
              <a:ext uri="{FF2B5EF4-FFF2-40B4-BE49-F238E27FC236}">
                <a16:creationId xmlns:a16="http://schemas.microsoft.com/office/drawing/2014/main" id="{4EDE9EDB-2B52-A038-5401-85274C46649F}"/>
              </a:ext>
            </a:extLst>
          </p:cNvPr>
          <p:cNvSpPr/>
          <p:nvPr/>
        </p:nvSpPr>
        <p:spPr>
          <a:xfrm>
            <a:off x="1203159" y="957879"/>
            <a:ext cx="5909375" cy="967204"/>
          </a:xfrm>
          <a:prstGeom prst="rect">
            <a:avLst/>
          </a:prstGeom>
          <a:noFill/>
          <a:ln/>
        </p:spPr>
        <p:txBody>
          <a:bodyPr wrap="square" rtlCol="0" anchor="ctr"/>
          <a:lstStyle/>
          <a:p>
            <a:pPr marL="0" indent="0" algn="ctr">
              <a:buNone/>
            </a:pPr>
            <a:r>
              <a:rPr lang="en-US" sz="5400" b="1" kern="0" spc="600" dirty="0">
                <a:ln w="3175">
                  <a:solidFill>
                    <a:srgbClr val="FDCC9C"/>
                  </a:solidFill>
                </a:ln>
                <a:gradFill>
                  <a:gsLst>
                    <a:gs pos="5000">
                      <a:srgbClr val="FDCC9C">
                        <a:lumMod val="36000"/>
                      </a:srgbClr>
                    </a:gs>
                    <a:gs pos="36373">
                      <a:srgbClr val="8F5229"/>
                    </a:gs>
                    <a:gs pos="26000">
                      <a:srgbClr val="B36733">
                        <a:lumMod val="40000"/>
                      </a:srgbClr>
                    </a:gs>
                    <a:gs pos="49000">
                      <a:srgbClr val="FDCC9C">
                        <a:shade val="67500"/>
                        <a:satMod val="115000"/>
                      </a:srgbClr>
                    </a:gs>
                    <a:gs pos="95804">
                      <a:srgbClr val="FDCC9C"/>
                    </a:gs>
                    <a:gs pos="77000">
                      <a:srgbClr val="543018"/>
                    </a:gs>
                    <a:gs pos="74000">
                      <a:srgbClr val="8F5229"/>
                    </a:gs>
                    <a:gs pos="56000">
                      <a:srgbClr val="FFE1C1">
                        <a:lumMod val="96000"/>
                      </a:srgbClr>
                    </a:gs>
                  </a:gsLst>
                  <a:lin ang="16800000" scaled="0"/>
                </a:gradFill>
                <a:latin typeface="911 Porscha Bold" pitchFamily="2" charset="0"/>
                <a:ea typeface="Arial" pitchFamily="34" charset="-122"/>
                <a:cs typeface="Arial" pitchFamily="34" charset="-120"/>
              </a:rPr>
              <a:t>umpireal</a:t>
            </a:r>
            <a:endParaRPr lang="en-US" sz="5400" dirty="0">
              <a:ln w="3175">
                <a:solidFill>
                  <a:srgbClr val="FDCC9C"/>
                </a:solidFill>
              </a:ln>
              <a:gradFill>
                <a:gsLst>
                  <a:gs pos="5000">
                    <a:srgbClr val="FDCC9C">
                      <a:lumMod val="36000"/>
                    </a:srgbClr>
                  </a:gs>
                  <a:gs pos="36373">
                    <a:srgbClr val="8F5229"/>
                  </a:gs>
                  <a:gs pos="26000">
                    <a:srgbClr val="B36733">
                      <a:lumMod val="40000"/>
                    </a:srgbClr>
                  </a:gs>
                  <a:gs pos="49000">
                    <a:srgbClr val="FDCC9C">
                      <a:shade val="67500"/>
                      <a:satMod val="115000"/>
                    </a:srgbClr>
                  </a:gs>
                  <a:gs pos="95804">
                    <a:srgbClr val="FDCC9C"/>
                  </a:gs>
                  <a:gs pos="77000">
                    <a:srgbClr val="543018"/>
                  </a:gs>
                  <a:gs pos="74000">
                    <a:srgbClr val="8F5229"/>
                  </a:gs>
                  <a:gs pos="56000">
                    <a:srgbClr val="FFE1C1">
                      <a:lumMod val="96000"/>
                    </a:srgbClr>
                  </a:gs>
                </a:gsLst>
                <a:lin ang="16800000" scaled="0"/>
              </a:gradFill>
              <a:latin typeface="911 Porscha Bold" pitchFamily="2" charset="0"/>
            </a:endParaRPr>
          </a:p>
        </p:txBody>
      </p:sp>
      <p:sp>
        <p:nvSpPr>
          <p:cNvPr id="4" name="Rectangle 3">
            <a:extLst>
              <a:ext uri="{FF2B5EF4-FFF2-40B4-BE49-F238E27FC236}">
                <a16:creationId xmlns:a16="http://schemas.microsoft.com/office/drawing/2014/main" id="{48AA9947-4870-56CB-5C1B-37C8B4C4AF00}"/>
              </a:ext>
            </a:extLst>
          </p:cNvPr>
          <p:cNvSpPr/>
          <p:nvPr/>
        </p:nvSpPr>
        <p:spPr>
          <a:xfrm>
            <a:off x="1403686" y="1925083"/>
            <a:ext cx="6079958" cy="53625"/>
          </a:xfrm>
          <a:prstGeom prst="rect">
            <a:avLst/>
          </a:prstGeom>
          <a:gradFill flip="none" rotWithShape="1">
            <a:gsLst>
              <a:gs pos="0">
                <a:srgbClr val="B36733">
                  <a:lumMod val="36000"/>
                </a:srgbClr>
              </a:gs>
              <a:gs pos="50000">
                <a:srgbClr val="FDCC9C">
                  <a:shade val="67500"/>
                  <a:satMod val="115000"/>
                </a:srgbClr>
              </a:gs>
              <a:gs pos="95804">
                <a:srgbClr val="543018"/>
              </a:gs>
              <a:gs pos="70000">
                <a:srgbClr val="FFE1C1">
                  <a:lumMod val="96000"/>
                </a:srgbClr>
              </a:gs>
            </a:gsLst>
            <a:lin ang="21594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29155898"/>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2166</TotalTime>
  <Words>3865</Words>
  <Application>Microsoft Office PowerPoint</Application>
  <PresentationFormat>On-screen Show (16:9)</PresentationFormat>
  <Paragraphs>602</Paragraphs>
  <Slides>19</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911 Porscha Bold</vt:lpstr>
      <vt:lpstr>Aptos</vt:lpstr>
      <vt:lpstr>Arial</vt:lpstr>
      <vt:lpstr>Google Sans</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Umpireal — Investor Deck 2025</dc:title>
  <dc:subject>PptxGenJS Presentation</dc:subject>
  <dc:creator>Alan Ledwith</dc:creator>
  <cp:lastModifiedBy>Alan Ledwith</cp:lastModifiedBy>
  <cp:revision>22</cp:revision>
  <dcterms:created xsi:type="dcterms:W3CDTF">2026-03-25T13:22:59Z</dcterms:created>
  <dcterms:modified xsi:type="dcterms:W3CDTF">2026-04-07T17:53:41Z</dcterms:modified>
</cp:coreProperties>
</file>